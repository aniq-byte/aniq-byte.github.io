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56" r:id="rId5"/>
    <p:sldId id="276" r:id="rId6"/>
    <p:sldId id="282" r:id="rId7"/>
    <p:sldId id="278" r:id="rId8"/>
    <p:sldId id="301" r:id="rId9"/>
    <p:sldId id="303" r:id="rId10"/>
    <p:sldId id="280" r:id="rId11"/>
    <p:sldId id="304" r:id="rId12"/>
    <p:sldId id="296" r:id="rId13"/>
    <p:sldId id="283" r:id="rId14"/>
    <p:sldId id="277" r:id="rId15"/>
    <p:sldId id="2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6793" autoAdjust="0"/>
  </p:normalViewPr>
  <p:slideViewPr>
    <p:cSldViewPr snapToGrid="0" showGuides="1">
      <p:cViewPr varScale="1">
        <p:scale>
          <a:sx n="85" d="100"/>
          <a:sy n="85" d="100"/>
        </p:scale>
        <p:origin x="542" y="53"/>
      </p:cViewPr>
      <p:guideLst>
        <p:guide orient="horz" pos="2328"/>
        <p:guide pos="3864"/>
        <p:guide pos="7512"/>
        <p:guide pos="144"/>
        <p:guide orient="horz" pos="624"/>
        <p:guide orient="horz" pos="4056"/>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title>
    <c:autoTitleDeleted val="0"/>
    <c:plotArea>
      <c:layout/>
      <c:pieChart>
        <c:varyColors val="1"/>
        <c:ser>
          <c:idx val="0"/>
          <c:order val="0"/>
          <c:tx>
            <c:strRef>
              <c:f>Sheet1!$B$1</c:f>
              <c:strCache>
                <c:ptCount val="1"/>
                <c:pt idx="0">
                  <c:v>Number of Rides</c:v>
                </c:pt>
              </c:strCache>
            </c:strRef>
          </c:tx>
          <c:dPt>
            <c:idx val="0"/>
            <c:bubble3D val="0"/>
            <c:spPr>
              <a:solidFill>
                <a:schemeClr val="accent3">
                  <a:shade val="76000"/>
                </a:schemeClr>
              </a:solidFill>
              <a:ln w="19050">
                <a:solidFill>
                  <a:schemeClr val="lt1"/>
                </a:solidFill>
              </a:ln>
              <a:effectLst/>
            </c:spPr>
          </c:dPt>
          <c:dPt>
            <c:idx val="1"/>
            <c:bubble3D val="0"/>
            <c:spPr>
              <a:solidFill>
                <a:schemeClr val="accent4">
                  <a:lumMod val="75000"/>
                </a:schemeClr>
              </a:solidFill>
              <a:ln w="19050">
                <a:solidFill>
                  <a:schemeClr val="lt1"/>
                </a:solidFill>
              </a:ln>
              <a:effectLst/>
            </c:spPr>
          </c:dPt>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Sheet1!$A$2:$A$3</c:f>
              <c:strCache>
                <c:ptCount val="2"/>
                <c:pt idx="0">
                  <c:v>casual</c:v>
                </c:pt>
                <c:pt idx="1">
                  <c:v>member</c:v>
                </c:pt>
              </c:strCache>
            </c:strRef>
          </c:cat>
          <c:val>
            <c:numRef>
              <c:f>Sheet1!$B$2:$B$3</c:f>
              <c:numCache>
                <c:formatCode>General</c:formatCode>
                <c:ptCount val="2"/>
                <c:pt idx="0">
                  <c:v>900675</c:v>
                </c:pt>
                <c:pt idx="1">
                  <c:v>2973420</c:v>
                </c:pt>
              </c:numCache>
            </c:numRef>
          </c:val>
        </c:ser>
        <c:dLbls>
          <c:dLblPos val="inEnd"/>
          <c:showLegendKey val="0"/>
          <c:showVal val="0"/>
          <c:showCatName val="1"/>
          <c:showSerName val="0"/>
          <c:showPercent val="1"/>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chart>
  <c:spPr>
    <a:noFill/>
    <a:ln>
      <a:noFill/>
    </a:ln>
    <a:effectLst/>
  </c:spPr>
  <c:txPr>
    <a:bodyPr/>
    <a:lstStyle/>
    <a:p>
      <a:pPr>
        <a:defRPr>
          <a:latin typeface="Calibri" panose="020F0502020204030204" pitchFamily="34" charset="0"/>
          <a:cs typeface="Calibri" panose="020F050202020403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9/21/2022</a:t>
            </a:fld>
            <a:endParaRPr lang="en-US" dirty="0"/>
          </a:p>
        </p:txBody>
      </p:sp>
      <p:sp>
        <p:nvSpPr>
          <p:cNvPr id="4" name="Footer Placeholder 3">
            <a:extLst>
              <a:ext uri="{FF2B5EF4-FFF2-40B4-BE49-F238E27FC236}">
                <a16:creationId xmlns:a16="http://schemas.microsoft.com/office/drawing/2014/main" xmlns=""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9/21/2022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3688625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1772151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2427731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2844201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3728569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1516461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2066031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11</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12</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1FBEFBAF-82E9-49AD-B2CF-7D154E024431}"/>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5" name="Footer Placeholder 4">
            <a:extLst>
              <a:ext uri="{FF2B5EF4-FFF2-40B4-BE49-F238E27FC236}">
                <a16:creationId xmlns:a16="http://schemas.microsoft.com/office/drawing/2014/main" xmlns=""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CB06063-A112-49AB-80C8-504D99ECD771}"/>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5" name="Footer Placeholder 4">
            <a:extLst>
              <a:ext uri="{FF2B5EF4-FFF2-40B4-BE49-F238E27FC236}">
                <a16:creationId xmlns:a16="http://schemas.microsoft.com/office/drawing/2014/main" xmlns=""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D5FF82DB-B518-40FD-8A66-44B874C055FB}"/>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5" name="Footer Placeholder 4">
            <a:extLst>
              <a:ext uri="{FF2B5EF4-FFF2-40B4-BE49-F238E27FC236}">
                <a16:creationId xmlns:a16="http://schemas.microsoft.com/office/drawing/2014/main" xmlns=""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85108EDC-3863-43B9-93C7-37465DC73B28}"/>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6" name="Footer Placeholder 5">
            <a:extLst>
              <a:ext uri="{FF2B5EF4-FFF2-40B4-BE49-F238E27FC236}">
                <a16:creationId xmlns:a16="http://schemas.microsoft.com/office/drawing/2014/main" xmlns=""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6E80206F-8846-425C-A56E-16FFBA442014}"/>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8" name="Footer Placeholder 7">
            <a:extLst>
              <a:ext uri="{FF2B5EF4-FFF2-40B4-BE49-F238E27FC236}">
                <a16:creationId xmlns:a16="http://schemas.microsoft.com/office/drawing/2014/main" xmlns=""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FEF9592-AA3C-4CF8-A5DB-4D010195A438}"/>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4" name="Footer Placeholder 3">
            <a:extLst>
              <a:ext uri="{FF2B5EF4-FFF2-40B4-BE49-F238E27FC236}">
                <a16:creationId xmlns:a16="http://schemas.microsoft.com/office/drawing/2014/main" xmlns=""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EA599B4-6AB2-4190-82B5-7667EE1E922A}"/>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3" name="Footer Placeholder 2">
            <a:extLst>
              <a:ext uri="{FF2B5EF4-FFF2-40B4-BE49-F238E27FC236}">
                <a16:creationId xmlns:a16="http://schemas.microsoft.com/office/drawing/2014/main" xmlns=""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180DD20-7A20-4574-98A4-427795876739}"/>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6" name="Footer Placeholder 5">
            <a:extLst>
              <a:ext uri="{FF2B5EF4-FFF2-40B4-BE49-F238E27FC236}">
                <a16:creationId xmlns:a16="http://schemas.microsoft.com/office/drawing/2014/main" xmlns=""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xmlns=""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C3C3F7B-A4C8-4F9D-8165-BC5186EA0929}"/>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6" name="Footer Placeholder 5">
            <a:extLst>
              <a:ext uri="{FF2B5EF4-FFF2-40B4-BE49-F238E27FC236}">
                <a16:creationId xmlns:a16="http://schemas.microsoft.com/office/drawing/2014/main" xmlns=""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6FFA8DA-0E31-4CA6-BBFC-2467AAD1D30B}"/>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5" name="Footer Placeholder 4">
            <a:extLst>
              <a:ext uri="{FF2B5EF4-FFF2-40B4-BE49-F238E27FC236}">
                <a16:creationId xmlns:a16="http://schemas.microsoft.com/office/drawing/2014/main" xmlns=""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0EEA9C5-552A-48A1-AB54-ED54209B3B48}"/>
              </a:ext>
            </a:extLst>
          </p:cNvPr>
          <p:cNvSpPr>
            <a:spLocks noGrp="1"/>
          </p:cNvSpPr>
          <p:nvPr>
            <p:ph type="dt" sz="half" idx="10"/>
          </p:nvPr>
        </p:nvSpPr>
        <p:spPr/>
        <p:txBody>
          <a:bodyPr/>
          <a:lstStyle/>
          <a:p>
            <a:fld id="{40DA1498-92C7-4E4B-8045-C9195F453964}" type="datetimeFigureOut">
              <a:rPr lang="en-US" smtClean="0"/>
              <a:t>9/21/2022</a:t>
            </a:fld>
            <a:endParaRPr lang="en-US" dirty="0"/>
          </a:p>
        </p:txBody>
      </p:sp>
      <p:sp>
        <p:nvSpPr>
          <p:cNvPr id="5" name="Footer Placeholder 4">
            <a:extLst>
              <a:ext uri="{FF2B5EF4-FFF2-40B4-BE49-F238E27FC236}">
                <a16:creationId xmlns:a16="http://schemas.microsoft.com/office/drawing/2014/main" xmlns=""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9/21/2022</a:t>
            </a:fld>
            <a:endParaRPr lang="en-US" dirty="0"/>
          </a:p>
        </p:txBody>
      </p:sp>
      <p:sp>
        <p:nvSpPr>
          <p:cNvPr id="5" name="Footer Placeholder 4">
            <a:extLst>
              <a:ext uri="{FF2B5EF4-FFF2-40B4-BE49-F238E27FC236}">
                <a16:creationId xmlns:a16="http://schemas.microsoft.com/office/drawing/2014/main" xmlns=""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xmlns=""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300AEF-1595-4419-801B-6E36A33BB8CF}"/>
              </a:ext>
            </a:extLst>
          </p:cNvPr>
          <p:cNvSpPr>
            <a:spLocks noGrp="1"/>
          </p:cNvSpPr>
          <p:nvPr>
            <p:ph type="ctrTitle"/>
          </p:nvPr>
        </p:nvSpPr>
        <p:spPr>
          <a:xfrm>
            <a:off x="1524000" y="2908727"/>
            <a:ext cx="9144000" cy="3877985"/>
          </a:xfrm>
        </p:spPr>
        <p:txBody>
          <a:bodyPr lIns="0" tIns="0" rIns="0" bIns="0" anchor="t">
            <a:spAutoFit/>
          </a:bodyPr>
          <a:lstStyle/>
          <a:p>
            <a:pPr>
              <a:spcBef>
                <a:spcPts val="1200"/>
              </a:spcBef>
            </a:pPr>
            <a:r>
              <a:rPr lang="en-US" b="1" dirty="0">
                <a:solidFill>
                  <a:schemeClr val="bg1"/>
                </a:solidFill>
              </a:rPr>
              <a:t>Difference between casual and annual </a:t>
            </a:r>
            <a:r>
              <a:rPr lang="en-US" b="1" dirty="0" smtClean="0">
                <a:solidFill>
                  <a:schemeClr val="bg1"/>
                </a:solidFill>
              </a:rPr>
              <a:t>Cyclistic bike </a:t>
            </a:r>
            <a:r>
              <a:rPr lang="en-US" b="1" dirty="0" smtClean="0">
                <a:solidFill>
                  <a:schemeClr val="bg1"/>
                </a:solidFill>
              </a:rPr>
              <a:t>riders</a:t>
            </a:r>
            <a:r>
              <a:rPr lang="en-US" dirty="0" smtClean="0">
                <a:solidFill>
                  <a:schemeClr val="bg1"/>
                </a:solidFill>
              </a:rPr>
              <a:t/>
            </a:r>
            <a:br>
              <a:rPr lang="en-US" dirty="0" smtClean="0">
                <a:solidFill>
                  <a:schemeClr val="bg1"/>
                </a:solidFill>
              </a:rPr>
            </a:br>
            <a:r>
              <a:rPr lang="en-US" dirty="0" smtClean="0">
                <a:solidFill>
                  <a:schemeClr val="bg1"/>
                </a:solidFill>
              </a:rPr>
              <a:t/>
            </a:r>
            <a:br>
              <a:rPr lang="en-US" dirty="0" smtClean="0">
                <a:solidFill>
                  <a:schemeClr val="bg1"/>
                </a:solidFill>
              </a:rPr>
            </a:br>
            <a:r>
              <a:rPr lang="en-US" sz="4000" dirty="0" err="1" smtClean="0">
                <a:solidFill>
                  <a:schemeClr val="accent4"/>
                </a:solidFill>
              </a:rPr>
              <a:t>Aniq</a:t>
            </a:r>
            <a:r>
              <a:rPr lang="en-US" sz="4000" dirty="0" smtClean="0">
                <a:solidFill>
                  <a:schemeClr val="accent4"/>
                </a:solidFill>
              </a:rPr>
              <a:t> </a:t>
            </a:r>
            <a:r>
              <a:rPr lang="en-US" sz="4000" dirty="0">
                <a:solidFill>
                  <a:schemeClr val="accent4"/>
                </a:solidFill>
              </a:rPr>
              <a:t>Elahi</a:t>
            </a:r>
            <a:endParaRPr lang="en-US" dirty="0">
              <a:solidFill>
                <a:schemeClr val="accent4"/>
              </a:solidFill>
            </a:endParaRPr>
          </a:p>
        </p:txBody>
      </p:sp>
      <p:sp>
        <p:nvSpPr>
          <p:cNvPr id="4" name="Diamond 3">
            <a:extLst>
              <a:ext uri="{FF2B5EF4-FFF2-40B4-BE49-F238E27FC236}">
                <a16:creationId xmlns:a16="http://schemas.microsoft.com/office/drawing/2014/main" xmlns="" id="{1C59176D-59A8-4C02-B448-EE01232FB3E7}"/>
              </a:ext>
              <a:ext uri="{C183D7F6-B498-43B3-948B-1728B52AA6E4}">
                <adec:decorative xmlns:adec="http://schemas.microsoft.com/office/drawing/2017/decorative" xmlns=""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xmlns="" id="{A50B1817-3C7F-41BC-8557-7A00C928EE16}"/>
              </a:ext>
              <a:ext uri="{C183D7F6-B498-43B3-948B-1728B52AA6E4}">
                <adec:decorative xmlns:adec="http://schemas.microsoft.com/office/drawing/2017/decorative" xmlns=""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xmlns="" id="{B95DF07A-CE7E-4D89-9AA0-25F4FFF3B9C7}"/>
              </a:ext>
            </a:extLst>
          </p:cNvPr>
          <p:cNvGrpSpPr/>
          <p:nvPr/>
        </p:nvGrpSpPr>
        <p:grpSpPr>
          <a:xfrm>
            <a:off x="5851021" y="2044248"/>
            <a:ext cx="489958" cy="492680"/>
            <a:chOff x="2025650" y="4786313"/>
            <a:chExt cx="285750" cy="287338"/>
          </a:xfrm>
          <a:solidFill>
            <a:schemeClr val="bg1"/>
          </a:solidFill>
        </p:grpSpPr>
        <p:sp>
          <p:nvSpPr>
            <p:cNvPr id="8" name="Freeform 565">
              <a:extLst>
                <a:ext uri="{FF2B5EF4-FFF2-40B4-BE49-F238E27FC236}">
                  <a16:creationId xmlns:a16="http://schemas.microsoft.com/office/drawing/2014/main" xmlns=""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xmlns=""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87849042"/>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xmlns=""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Calibri" panose="020F0502020204030204" pitchFamily="34" charset="0"/>
                <a:cs typeface="Calibri" panose="020F0502020204030204" pitchFamily="34" charset="0"/>
              </a:rPr>
              <a:t>Table of Contents</a:t>
            </a:r>
            <a:r>
              <a:rPr lang="en-US" sz="2800" dirty="0">
                <a:solidFill>
                  <a:schemeClr val="tx1">
                    <a:lumMod val="75000"/>
                    <a:lumOff val="25000"/>
                  </a:schemeClr>
                </a:solidFill>
                <a:latin typeface="Calibri" panose="020F0502020204030204" pitchFamily="34" charset="0"/>
                <a:cs typeface="Calibri" panose="020F0502020204030204" pitchFamily="34" charset="0"/>
              </a:rPr>
              <a:t/>
            </a:r>
            <a:br>
              <a:rPr lang="en-US" sz="2800" dirty="0">
                <a:solidFill>
                  <a:schemeClr val="tx1">
                    <a:lumMod val="75000"/>
                    <a:lumOff val="25000"/>
                  </a:schemeClr>
                </a:solidFill>
                <a:latin typeface="Calibri" panose="020F0502020204030204" pitchFamily="34" charset="0"/>
                <a:cs typeface="Calibri" panose="020F0502020204030204" pitchFamily="34" charset="0"/>
              </a:rPr>
            </a:br>
            <a:endParaRPr lang="en-US" sz="2800" dirty="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xmlns="" id="{D6178536-4D8A-4FF2-BBDC-4B3E7E0FCF26}"/>
              </a:ext>
              <a:ext uri="{C183D7F6-B498-43B3-948B-1728B52AA6E4}">
                <adec:decorative xmlns:adec="http://schemas.microsoft.com/office/drawing/2017/decorative" xmlns="" val="1"/>
              </a:ext>
            </a:extLst>
          </p:cNvPr>
          <p:cNvSpPr/>
          <p:nvPr/>
        </p:nvSpPr>
        <p:spPr>
          <a:xfrm>
            <a:off x="612776" y="1082253"/>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latin typeface="Calibri" panose="020F0502020204030204" pitchFamily="34" charset="0"/>
                <a:cs typeface="Calibri" panose="020F0502020204030204" pitchFamily="34" charset="0"/>
              </a:rPr>
              <a:t>Executive </a:t>
            </a:r>
            <a:r>
              <a:rPr lang="en-US" sz="1600" b="1" dirty="0" smtClean="0">
                <a:latin typeface="Calibri" panose="020F0502020204030204" pitchFamily="34" charset="0"/>
                <a:cs typeface="Calibri" panose="020F0502020204030204" pitchFamily="34" charset="0"/>
              </a:rPr>
              <a:t>Summary</a:t>
            </a:r>
            <a:endParaRPr lang="en-US" sz="1600" b="1" dirty="0">
              <a:latin typeface="Calibri" panose="020F0502020204030204" pitchFamily="34" charset="0"/>
              <a:cs typeface="Calibri" panose="020F0502020204030204" pitchFamily="34" charset="0"/>
            </a:endParaRPr>
          </a:p>
        </p:txBody>
      </p:sp>
      <p:sp>
        <p:nvSpPr>
          <p:cNvPr id="15" name="Oval 14">
            <a:extLst>
              <a:ext uri="{FF2B5EF4-FFF2-40B4-BE49-F238E27FC236}">
                <a16:creationId xmlns:a16="http://schemas.microsoft.com/office/drawing/2014/main" xmlns="" id="{416F1356-9015-4B5C-9C64-3C1D963E5F59}"/>
              </a:ext>
              <a:ext uri="{C183D7F6-B498-43B3-948B-1728B52AA6E4}">
                <adec:decorative xmlns:adec="http://schemas.microsoft.com/office/drawing/2017/decorative" xmlns="" val="1"/>
              </a:ext>
            </a:extLst>
          </p:cNvPr>
          <p:cNvSpPr/>
          <p:nvPr/>
        </p:nvSpPr>
        <p:spPr>
          <a:xfrm>
            <a:off x="3448050" y="966193"/>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xmlns="" id="{EB7F2E37-0ACF-4E8A-9C1D-EC5B65BA2906}"/>
              </a:ext>
              <a:ext uri="{C183D7F6-B498-43B3-948B-1728B52AA6E4}">
                <adec:decorative xmlns:adec="http://schemas.microsoft.com/office/drawing/2017/decorative" xmlns="" val="1"/>
              </a:ext>
            </a:extLst>
          </p:cNvPr>
          <p:cNvSpPr/>
          <p:nvPr/>
        </p:nvSpPr>
        <p:spPr>
          <a:xfrm>
            <a:off x="8302624" y="1065535"/>
            <a:ext cx="3657600" cy="740664"/>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600" b="1" dirty="0">
                <a:latin typeface="Calibri" panose="020F0502020204030204" pitchFamily="34" charset="0"/>
                <a:cs typeface="Calibri" panose="020F0502020204030204" pitchFamily="34" charset="0"/>
              </a:rPr>
              <a:t>Business Task</a:t>
            </a:r>
          </a:p>
        </p:txBody>
      </p:sp>
      <p:sp>
        <p:nvSpPr>
          <p:cNvPr id="20" name="Oval 19">
            <a:extLst>
              <a:ext uri="{FF2B5EF4-FFF2-40B4-BE49-F238E27FC236}">
                <a16:creationId xmlns:a16="http://schemas.microsoft.com/office/drawing/2014/main" xmlns="" id="{88F812F5-70AF-4FBD-80D9-D59B3C456D5E}"/>
              </a:ext>
              <a:ext uri="{C183D7F6-B498-43B3-948B-1728B52AA6E4}">
                <adec:decorative xmlns:adec="http://schemas.microsoft.com/office/drawing/2017/decorative" xmlns="" val="1"/>
              </a:ext>
            </a:extLst>
          </p:cNvPr>
          <p:cNvSpPr/>
          <p:nvPr/>
        </p:nvSpPr>
        <p:spPr>
          <a:xfrm>
            <a:off x="8191500" y="964951"/>
            <a:ext cx="941832" cy="941832"/>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Calibri" panose="020F0502020204030204" pitchFamily="34" charset="0"/>
              <a:cs typeface="Calibri" panose="020F0502020204030204" pitchFamily="34" charset="0"/>
            </a:endParaRPr>
          </a:p>
        </p:txBody>
      </p:sp>
      <p:sp>
        <p:nvSpPr>
          <p:cNvPr id="21" name="Rectangle: Rounded Corners 20">
            <a:extLst>
              <a:ext uri="{FF2B5EF4-FFF2-40B4-BE49-F238E27FC236}">
                <a16:creationId xmlns:a16="http://schemas.microsoft.com/office/drawing/2014/main" xmlns="" id="{952C5002-7E64-4069-ACA0-6876E54A9B46}"/>
              </a:ext>
              <a:ext uri="{C183D7F6-B498-43B3-948B-1728B52AA6E4}">
                <adec:decorative xmlns:adec="http://schemas.microsoft.com/office/drawing/2017/decorative" xmlns="" val="1"/>
              </a:ext>
            </a:extLst>
          </p:cNvPr>
          <p:cNvSpPr/>
          <p:nvPr/>
        </p:nvSpPr>
        <p:spPr>
          <a:xfrm>
            <a:off x="8302624" y="3171373"/>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600" b="1" dirty="0" smtClean="0">
                <a:latin typeface="Calibri" panose="020F0502020204030204" pitchFamily="34" charset="0"/>
                <a:cs typeface="Calibri" panose="020F0502020204030204" pitchFamily="34" charset="0"/>
              </a:rPr>
              <a:t>Data Sources</a:t>
            </a:r>
            <a:endParaRPr lang="en-US" sz="1600" b="1" dirty="0">
              <a:latin typeface="Calibri" panose="020F0502020204030204" pitchFamily="34" charset="0"/>
              <a:cs typeface="Calibri" panose="020F0502020204030204" pitchFamily="34" charset="0"/>
            </a:endParaRPr>
          </a:p>
        </p:txBody>
      </p:sp>
      <p:sp>
        <p:nvSpPr>
          <p:cNvPr id="22" name="Oval 21">
            <a:extLst>
              <a:ext uri="{FF2B5EF4-FFF2-40B4-BE49-F238E27FC236}">
                <a16:creationId xmlns:a16="http://schemas.microsoft.com/office/drawing/2014/main" xmlns="" id="{A49C5F3A-6F0D-4A0F-AE6E-92F342C22ACD}"/>
              </a:ext>
              <a:ext uri="{C183D7F6-B498-43B3-948B-1728B52AA6E4}">
                <adec:decorative xmlns:adec="http://schemas.microsoft.com/office/drawing/2017/decorative" xmlns="" val="1"/>
              </a:ext>
            </a:extLst>
          </p:cNvPr>
          <p:cNvSpPr/>
          <p:nvPr/>
        </p:nvSpPr>
        <p:spPr>
          <a:xfrm>
            <a:off x="8191499" y="3071971"/>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xmlns="" id="{94A75A79-A67A-4A23-8588-7FC5EB9A5183}"/>
              </a:ext>
              <a:ext uri="{C183D7F6-B498-43B3-948B-1728B52AA6E4}">
                <adec:decorative xmlns:adec="http://schemas.microsoft.com/office/drawing/2017/decorative" xmlns="" val="1"/>
              </a:ext>
            </a:extLst>
          </p:cNvPr>
          <p:cNvSpPr/>
          <p:nvPr/>
        </p:nvSpPr>
        <p:spPr>
          <a:xfrm>
            <a:off x="612775" y="3154714"/>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smtClean="0">
                <a:latin typeface="Calibri" panose="020F0502020204030204" pitchFamily="34" charset="0"/>
                <a:cs typeface="Calibri" panose="020F0502020204030204" pitchFamily="34" charset="0"/>
              </a:rPr>
              <a:t>Data Cleaning, Analysis &amp;</a:t>
            </a:r>
          </a:p>
          <a:p>
            <a:r>
              <a:rPr lang="en-US" sz="1600" b="1" dirty="0" smtClean="0">
                <a:latin typeface="Calibri" panose="020F0502020204030204" pitchFamily="34" charset="0"/>
                <a:cs typeface="Calibri" panose="020F0502020204030204" pitchFamily="34" charset="0"/>
              </a:rPr>
              <a:t>Findings</a:t>
            </a:r>
            <a:endParaRPr lang="en-US" sz="1600" b="1" dirty="0">
              <a:latin typeface="Calibri" panose="020F0502020204030204" pitchFamily="34" charset="0"/>
              <a:cs typeface="Calibri" panose="020F0502020204030204" pitchFamily="34" charset="0"/>
            </a:endParaRPr>
          </a:p>
        </p:txBody>
      </p:sp>
      <p:sp>
        <p:nvSpPr>
          <p:cNvPr id="26" name="Oval 25">
            <a:extLst>
              <a:ext uri="{FF2B5EF4-FFF2-40B4-BE49-F238E27FC236}">
                <a16:creationId xmlns:a16="http://schemas.microsoft.com/office/drawing/2014/main" xmlns="" id="{BBC62739-FA35-49F8-8929-743B31F55A69}"/>
              </a:ext>
              <a:ext uri="{C183D7F6-B498-43B3-948B-1728B52AA6E4}">
                <adec:decorative xmlns:adec="http://schemas.microsoft.com/office/drawing/2017/decorative" xmlns="" val="1"/>
              </a:ext>
            </a:extLst>
          </p:cNvPr>
          <p:cNvSpPr/>
          <p:nvPr/>
        </p:nvSpPr>
        <p:spPr>
          <a:xfrm>
            <a:off x="3448049" y="3071971"/>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Calibri" panose="020F0502020204030204" pitchFamily="34" charset="0"/>
              <a:cs typeface="Calibri" panose="020F0502020204030204" pitchFamily="34" charset="0"/>
            </a:endParaRPr>
          </a:p>
        </p:txBody>
      </p:sp>
      <p:sp>
        <p:nvSpPr>
          <p:cNvPr id="27" name="Rectangle: Rounded Corners 26">
            <a:extLst>
              <a:ext uri="{FF2B5EF4-FFF2-40B4-BE49-F238E27FC236}">
                <a16:creationId xmlns:a16="http://schemas.microsoft.com/office/drawing/2014/main" xmlns="" id="{71BB375D-5EE6-4428-9817-2C7DB6B94332}"/>
              </a:ext>
              <a:ext uri="{C183D7F6-B498-43B3-948B-1728B52AA6E4}">
                <adec:decorative xmlns:adec="http://schemas.microsoft.com/office/drawing/2017/decorative" xmlns="" val="1"/>
              </a:ext>
            </a:extLst>
          </p:cNvPr>
          <p:cNvSpPr/>
          <p:nvPr/>
        </p:nvSpPr>
        <p:spPr>
          <a:xfrm>
            <a:off x="615950" y="5285149"/>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smtClean="0">
                <a:latin typeface="Calibri" panose="020F0502020204030204" pitchFamily="34" charset="0"/>
                <a:cs typeface="Calibri" panose="020F0502020204030204" pitchFamily="34" charset="0"/>
              </a:rPr>
              <a:t>Dashboard</a:t>
            </a:r>
            <a:endParaRPr lang="en-US" sz="1600" b="1" dirty="0">
              <a:latin typeface="Calibri" panose="020F0502020204030204" pitchFamily="34" charset="0"/>
              <a:cs typeface="Calibri" panose="020F0502020204030204" pitchFamily="34" charset="0"/>
            </a:endParaRPr>
          </a:p>
        </p:txBody>
      </p:sp>
      <p:sp>
        <p:nvSpPr>
          <p:cNvPr id="28" name="Oval 27">
            <a:extLst>
              <a:ext uri="{FF2B5EF4-FFF2-40B4-BE49-F238E27FC236}">
                <a16:creationId xmlns:a16="http://schemas.microsoft.com/office/drawing/2014/main" xmlns="" id="{B3A511B7-C7F3-4107-9962-1E10D2E087DD}"/>
              </a:ext>
              <a:ext uri="{C183D7F6-B498-43B3-948B-1728B52AA6E4}">
                <adec:decorative xmlns:adec="http://schemas.microsoft.com/office/drawing/2017/decorative" xmlns="" val="1"/>
              </a:ext>
            </a:extLst>
          </p:cNvPr>
          <p:cNvSpPr/>
          <p:nvPr/>
        </p:nvSpPr>
        <p:spPr>
          <a:xfrm>
            <a:off x="3442111" y="5185747"/>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Calibri" panose="020F0502020204030204" pitchFamily="34" charset="0"/>
              <a:cs typeface="Calibri" panose="020F0502020204030204" pitchFamily="34" charset="0"/>
            </a:endParaRPr>
          </a:p>
        </p:txBody>
      </p:sp>
      <p:sp>
        <p:nvSpPr>
          <p:cNvPr id="29" name="Rectangle: Rounded Corners 28">
            <a:extLst>
              <a:ext uri="{FF2B5EF4-FFF2-40B4-BE49-F238E27FC236}">
                <a16:creationId xmlns:a16="http://schemas.microsoft.com/office/drawing/2014/main" xmlns="" id="{D4D7D4B6-62C2-45AB-89A5-3A41DA021FD2}"/>
              </a:ext>
              <a:ext uri="{C183D7F6-B498-43B3-948B-1728B52AA6E4}">
                <adec:decorative xmlns:adec="http://schemas.microsoft.com/office/drawing/2017/decorative" xmlns="" val="1"/>
              </a:ext>
            </a:extLst>
          </p:cNvPr>
          <p:cNvSpPr/>
          <p:nvPr/>
        </p:nvSpPr>
        <p:spPr>
          <a:xfrm>
            <a:off x="8302624" y="5285149"/>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600" b="1" dirty="0" smtClean="0">
                <a:latin typeface="Calibri" panose="020F0502020204030204" pitchFamily="34" charset="0"/>
                <a:cs typeface="Calibri" panose="020F0502020204030204" pitchFamily="34" charset="0"/>
              </a:rPr>
              <a:t>         Recommendations</a:t>
            </a:r>
            <a:endParaRPr lang="en-US" sz="1600" b="1" dirty="0">
              <a:latin typeface="Calibri" panose="020F0502020204030204" pitchFamily="34" charset="0"/>
              <a:cs typeface="Calibri" panose="020F0502020204030204" pitchFamily="34" charset="0"/>
            </a:endParaRPr>
          </a:p>
        </p:txBody>
      </p:sp>
      <p:sp>
        <p:nvSpPr>
          <p:cNvPr id="30" name="Oval 29">
            <a:extLst>
              <a:ext uri="{FF2B5EF4-FFF2-40B4-BE49-F238E27FC236}">
                <a16:creationId xmlns:a16="http://schemas.microsoft.com/office/drawing/2014/main" xmlns="" id="{83902602-D4BC-4D44-AC14-BB55A86C5D06}"/>
              </a:ext>
              <a:ext uri="{C183D7F6-B498-43B3-948B-1728B52AA6E4}">
                <adec:decorative xmlns:adec="http://schemas.microsoft.com/office/drawing/2017/decorative" xmlns="" val="1"/>
              </a:ext>
            </a:extLst>
          </p:cNvPr>
          <p:cNvSpPr/>
          <p:nvPr/>
        </p:nvSpPr>
        <p:spPr>
          <a:xfrm>
            <a:off x="8191500" y="5185747"/>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Calibri" panose="020F0502020204030204" pitchFamily="34" charset="0"/>
              <a:cs typeface="Calibri" panose="020F0502020204030204" pitchFamily="34" charset="0"/>
            </a:endParaRPr>
          </a:p>
        </p:txBody>
      </p:sp>
      <p:grpSp>
        <p:nvGrpSpPr>
          <p:cNvPr id="31" name="Group 30" descr="Icons of bar chart and line graph.">
            <a:extLst>
              <a:ext uri="{FF2B5EF4-FFF2-40B4-BE49-F238E27FC236}">
                <a16:creationId xmlns:a16="http://schemas.microsoft.com/office/drawing/2014/main" xmlns="" id="{044C3643-8A0E-47C1-BEB8-C73203B5E58D}"/>
              </a:ext>
            </a:extLst>
          </p:cNvPr>
          <p:cNvGrpSpPr/>
          <p:nvPr/>
        </p:nvGrpSpPr>
        <p:grpSpPr>
          <a:xfrm>
            <a:off x="3751008" y="3375244"/>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xmlns=""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1" dirty="0">
                <a:latin typeface="Calibri" panose="020F0502020204030204" pitchFamily="34" charset="0"/>
                <a:cs typeface="Calibri" panose="020F0502020204030204" pitchFamily="34" charset="0"/>
              </a:endParaRPr>
            </a:p>
          </p:txBody>
        </p:sp>
        <p:sp>
          <p:nvSpPr>
            <p:cNvPr id="33" name="Freeform 373">
              <a:extLst>
                <a:ext uri="{FF2B5EF4-FFF2-40B4-BE49-F238E27FC236}">
                  <a16:creationId xmlns:a16="http://schemas.microsoft.com/office/drawing/2014/main" xmlns=""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1" dirty="0">
                <a:latin typeface="Calibri" panose="020F0502020204030204" pitchFamily="34" charset="0"/>
                <a:cs typeface="Calibri" panose="020F0502020204030204" pitchFamily="34" charset="0"/>
              </a:endParaRPr>
            </a:p>
          </p:txBody>
        </p:sp>
      </p:grpSp>
      <p:sp>
        <p:nvSpPr>
          <p:cNvPr id="34" name="Freeform 1676" descr="Icon of check box. ">
            <a:extLst>
              <a:ext uri="{FF2B5EF4-FFF2-40B4-BE49-F238E27FC236}">
                <a16:creationId xmlns:a16="http://schemas.microsoft.com/office/drawing/2014/main" xmlns="" id="{6FB02354-C73F-4DCF-8004-E9CCA66963EA}"/>
              </a:ext>
            </a:extLst>
          </p:cNvPr>
          <p:cNvSpPr>
            <a:spLocks noEditPoints="1"/>
          </p:cNvSpPr>
          <p:nvPr/>
        </p:nvSpPr>
        <p:spPr bwMode="auto">
          <a:xfrm>
            <a:off x="3751008" y="1255074"/>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b="1" dirty="0">
              <a:latin typeface="Calibri" panose="020F0502020204030204" pitchFamily="34" charset="0"/>
              <a:cs typeface="Calibri" panose="020F0502020204030204" pitchFamily="34" charset="0"/>
            </a:endParaRPr>
          </a:p>
        </p:txBody>
      </p:sp>
      <p:sp>
        <p:nvSpPr>
          <p:cNvPr id="35" name="Freeform 4665" descr="Icon of graph. ">
            <a:extLst>
              <a:ext uri="{FF2B5EF4-FFF2-40B4-BE49-F238E27FC236}">
                <a16:creationId xmlns:a16="http://schemas.microsoft.com/office/drawing/2014/main" xmlns="" id="{557E39B2-E017-4E5C-B53E-DDE3B9D4C92C}"/>
              </a:ext>
            </a:extLst>
          </p:cNvPr>
          <p:cNvSpPr>
            <a:spLocks/>
          </p:cNvSpPr>
          <p:nvPr/>
        </p:nvSpPr>
        <p:spPr bwMode="auto">
          <a:xfrm>
            <a:off x="8486542" y="1278911"/>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b="1" dirty="0">
              <a:latin typeface="Calibri" panose="020F0502020204030204" pitchFamily="34" charset="0"/>
              <a:cs typeface="Calibri" panose="020F0502020204030204" pitchFamily="34" charset="0"/>
            </a:endParaRPr>
          </a:p>
        </p:txBody>
      </p:sp>
      <p:grpSp>
        <p:nvGrpSpPr>
          <p:cNvPr id="36" name="Group 35" descr="Icon of human being and gear. ">
            <a:extLst>
              <a:ext uri="{FF2B5EF4-FFF2-40B4-BE49-F238E27FC236}">
                <a16:creationId xmlns:a16="http://schemas.microsoft.com/office/drawing/2014/main" xmlns="" id="{ECC5F635-1712-4572-A9EC-F94E2199DDBD}"/>
              </a:ext>
            </a:extLst>
          </p:cNvPr>
          <p:cNvGrpSpPr/>
          <p:nvPr/>
        </p:nvGrpSpPr>
        <p:grpSpPr>
          <a:xfrm>
            <a:off x="8491345" y="3382927"/>
            <a:ext cx="338073" cy="339996"/>
            <a:chOff x="6450013" y="5349875"/>
            <a:chExt cx="279399" cy="280988"/>
          </a:xfrm>
          <a:solidFill>
            <a:schemeClr val="bg1"/>
          </a:solidFill>
        </p:grpSpPr>
        <p:sp>
          <p:nvSpPr>
            <p:cNvPr id="37" name="Freeform 3673">
              <a:extLst>
                <a:ext uri="{FF2B5EF4-FFF2-40B4-BE49-F238E27FC236}">
                  <a16:creationId xmlns:a16="http://schemas.microsoft.com/office/drawing/2014/main" xmlns=""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1" dirty="0">
                <a:latin typeface="Calibri" panose="020F0502020204030204" pitchFamily="34" charset="0"/>
                <a:cs typeface="Calibri" panose="020F0502020204030204" pitchFamily="34" charset="0"/>
              </a:endParaRPr>
            </a:p>
          </p:txBody>
        </p:sp>
        <p:sp>
          <p:nvSpPr>
            <p:cNvPr id="38" name="Freeform 3674">
              <a:extLst>
                <a:ext uri="{FF2B5EF4-FFF2-40B4-BE49-F238E27FC236}">
                  <a16:creationId xmlns:a16="http://schemas.microsoft.com/office/drawing/2014/main" xmlns=""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1" dirty="0">
                <a:latin typeface="Calibri" panose="020F0502020204030204" pitchFamily="34" charset="0"/>
                <a:cs typeface="Calibri" panose="020F0502020204030204" pitchFamily="34" charset="0"/>
              </a:endParaRPr>
            </a:p>
          </p:txBody>
        </p:sp>
      </p:grpSp>
      <p:grpSp>
        <p:nvGrpSpPr>
          <p:cNvPr id="39" name="Group 38" descr="Icon of gears. ">
            <a:extLst>
              <a:ext uri="{FF2B5EF4-FFF2-40B4-BE49-F238E27FC236}">
                <a16:creationId xmlns:a16="http://schemas.microsoft.com/office/drawing/2014/main" xmlns="" id="{5BC0E3F0-447D-4721-AB1F-C8243BA36671}"/>
              </a:ext>
            </a:extLst>
          </p:cNvPr>
          <p:cNvGrpSpPr/>
          <p:nvPr/>
        </p:nvGrpSpPr>
        <p:grpSpPr>
          <a:xfrm>
            <a:off x="8489482" y="5483729"/>
            <a:ext cx="343837" cy="343837"/>
            <a:chOff x="7613650" y="1387475"/>
            <a:chExt cx="284163" cy="284163"/>
          </a:xfrm>
          <a:solidFill>
            <a:schemeClr val="bg1"/>
          </a:solidFill>
        </p:grpSpPr>
        <p:sp>
          <p:nvSpPr>
            <p:cNvPr id="40" name="Freeform 4359">
              <a:extLst>
                <a:ext uri="{FF2B5EF4-FFF2-40B4-BE49-F238E27FC236}">
                  <a16:creationId xmlns:a16="http://schemas.microsoft.com/office/drawing/2014/main" xmlns=""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1" dirty="0">
                <a:latin typeface="Calibri" panose="020F0502020204030204" pitchFamily="34" charset="0"/>
                <a:cs typeface="Calibri" panose="020F0502020204030204" pitchFamily="34" charset="0"/>
              </a:endParaRPr>
            </a:p>
          </p:txBody>
        </p:sp>
        <p:sp>
          <p:nvSpPr>
            <p:cNvPr id="41" name="Freeform 4360">
              <a:extLst>
                <a:ext uri="{FF2B5EF4-FFF2-40B4-BE49-F238E27FC236}">
                  <a16:creationId xmlns:a16="http://schemas.microsoft.com/office/drawing/2014/main" xmlns=""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1" dirty="0">
                <a:latin typeface="Calibri" panose="020F0502020204030204" pitchFamily="34" charset="0"/>
                <a:cs typeface="Calibri" panose="020F0502020204030204" pitchFamily="34" charset="0"/>
              </a:endParaRPr>
            </a:p>
          </p:txBody>
        </p:sp>
      </p:grpSp>
      <p:sp>
        <p:nvSpPr>
          <p:cNvPr id="42" name="Freeform 4346" descr="Icon of box and whisker chart. ">
            <a:extLst>
              <a:ext uri="{FF2B5EF4-FFF2-40B4-BE49-F238E27FC236}">
                <a16:creationId xmlns:a16="http://schemas.microsoft.com/office/drawing/2014/main" xmlns="" id="{D131817A-5B27-4718-8BAC-45C9CEDA45D9}"/>
              </a:ext>
            </a:extLst>
          </p:cNvPr>
          <p:cNvSpPr>
            <a:spLocks noEditPoints="1"/>
          </p:cNvSpPr>
          <p:nvPr/>
        </p:nvSpPr>
        <p:spPr bwMode="auto">
          <a:xfrm>
            <a:off x="3751008" y="5481808"/>
            <a:ext cx="345758" cy="345758"/>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b="1" dirty="0">
              <a:latin typeface="Calibri" panose="020F0502020204030204" pitchFamily="34" charset="0"/>
              <a:cs typeface="Calibri" panose="020F0502020204030204" pitchFamily="34" charset="0"/>
            </a:endParaRPr>
          </a:p>
        </p:txBody>
      </p:sp>
      <p:cxnSp>
        <p:nvCxnSpPr>
          <p:cNvPr id="3" name="Straight Arrow Connector 2"/>
          <p:cNvCxnSpPr/>
          <p:nvPr/>
        </p:nvCxnSpPr>
        <p:spPr>
          <a:xfrm flipV="1">
            <a:off x="4460875" y="1427953"/>
            <a:ext cx="3657600" cy="226"/>
          </a:xfrm>
          <a:prstGeom prst="straightConnector1">
            <a:avLst/>
          </a:prstGeom>
          <a:ln w="57150">
            <a:tailEnd type="triangle"/>
          </a:ln>
        </p:spPr>
        <p:style>
          <a:lnRef idx="3">
            <a:schemeClr val="accent4"/>
          </a:lnRef>
          <a:fillRef idx="0">
            <a:schemeClr val="accent4"/>
          </a:fillRef>
          <a:effectRef idx="2">
            <a:schemeClr val="accent4"/>
          </a:effectRef>
          <a:fontRef idx="minor">
            <a:schemeClr val="tx1"/>
          </a:fontRef>
        </p:style>
      </p:cxnSp>
      <p:cxnSp>
        <p:nvCxnSpPr>
          <p:cNvPr id="43" name="Straight Arrow Connector 42"/>
          <p:cNvCxnSpPr/>
          <p:nvPr/>
        </p:nvCxnSpPr>
        <p:spPr>
          <a:xfrm flipH="1">
            <a:off x="8660382" y="1964756"/>
            <a:ext cx="1017" cy="1014984"/>
          </a:xfrm>
          <a:prstGeom prst="straightConnector1">
            <a:avLst/>
          </a:prstGeom>
          <a:ln w="57150">
            <a:tailEnd type="triangle"/>
          </a:ln>
        </p:spPr>
        <p:style>
          <a:lnRef idx="3">
            <a:schemeClr val="accent3"/>
          </a:lnRef>
          <a:fillRef idx="0">
            <a:schemeClr val="accent3"/>
          </a:fillRef>
          <a:effectRef idx="2">
            <a:schemeClr val="accent3"/>
          </a:effectRef>
          <a:fontRef idx="minor">
            <a:schemeClr val="tx1"/>
          </a:fontRef>
        </p:style>
      </p:cxnSp>
      <p:cxnSp>
        <p:nvCxnSpPr>
          <p:cNvPr id="44" name="Straight Arrow Connector 43"/>
          <p:cNvCxnSpPr/>
          <p:nvPr/>
        </p:nvCxnSpPr>
        <p:spPr>
          <a:xfrm>
            <a:off x="3935764" y="4091267"/>
            <a:ext cx="0" cy="1014984"/>
          </a:xfrm>
          <a:prstGeom prst="straightConnector1">
            <a:avLst/>
          </a:prstGeom>
          <a:ln w="57150">
            <a:tailEnd type="triangle"/>
          </a:ln>
        </p:spPr>
        <p:style>
          <a:lnRef idx="3">
            <a:schemeClr val="accent3"/>
          </a:lnRef>
          <a:fillRef idx="0">
            <a:schemeClr val="accent3"/>
          </a:fillRef>
          <a:effectRef idx="2">
            <a:schemeClr val="accent3"/>
          </a:effectRef>
          <a:fontRef idx="minor">
            <a:schemeClr val="tx1"/>
          </a:fontRef>
        </p:style>
      </p:cxnSp>
      <p:cxnSp>
        <p:nvCxnSpPr>
          <p:cNvPr id="45" name="Straight Arrow Connector 44"/>
          <p:cNvCxnSpPr/>
          <p:nvPr/>
        </p:nvCxnSpPr>
        <p:spPr>
          <a:xfrm flipV="1">
            <a:off x="4493035" y="5664109"/>
            <a:ext cx="3657600" cy="226"/>
          </a:xfrm>
          <a:prstGeom prst="straightConnector1">
            <a:avLst/>
          </a:prstGeom>
          <a:ln w="57150">
            <a:tailEnd type="triangle"/>
          </a:ln>
        </p:spPr>
        <p:style>
          <a:lnRef idx="3">
            <a:schemeClr val="accent4"/>
          </a:lnRef>
          <a:fillRef idx="0">
            <a:schemeClr val="accent4"/>
          </a:fillRef>
          <a:effectRef idx="2">
            <a:schemeClr val="accent4"/>
          </a:effectRef>
          <a:fontRef idx="minor">
            <a:schemeClr val="tx1"/>
          </a:fontRef>
        </p:style>
      </p:cxnSp>
      <p:cxnSp>
        <p:nvCxnSpPr>
          <p:cNvPr id="46" name="Straight Arrow Connector 45"/>
          <p:cNvCxnSpPr/>
          <p:nvPr/>
        </p:nvCxnSpPr>
        <p:spPr>
          <a:xfrm flipH="1" flipV="1">
            <a:off x="4458775" y="3550515"/>
            <a:ext cx="3657600" cy="226"/>
          </a:xfrm>
          <a:prstGeom prst="straightConnector1">
            <a:avLst/>
          </a:prstGeom>
          <a:ln w="57150">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29971519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xmlns="" id="{7C70995F-D8C5-410A-AA8B-1EE172A29454}"/>
              </a:ext>
            </a:extLst>
          </p:cNvPr>
          <p:cNvSpPr>
            <a:spLocks noGrp="1"/>
          </p:cNvSpPr>
          <p:nvPr>
            <p:ph type="title" idx="4294967295"/>
          </p:nvPr>
        </p:nvSpPr>
        <p:spPr>
          <a:xfrm>
            <a:off x="0" y="365125"/>
            <a:ext cx="10515600" cy="1325563"/>
          </a:xfrm>
        </p:spPr>
        <p:txBody>
          <a:bodyPr/>
          <a:lstStyle/>
          <a:p>
            <a:r>
              <a:rPr lang="en-US" dirty="0"/>
              <a:t>Project analysis slide 10</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6647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Calibri" panose="020F0502020204030204" pitchFamily="34" charset="0"/>
                <a:cs typeface="Calibri" panose="020F0502020204030204" pitchFamily="34" charset="0"/>
              </a:rPr>
              <a:t>Executive Summary</a:t>
            </a:r>
            <a:r>
              <a:rPr lang="en-US" sz="2800" dirty="0">
                <a:solidFill>
                  <a:schemeClr val="tx1">
                    <a:lumMod val="75000"/>
                    <a:lumOff val="25000"/>
                  </a:schemeClr>
                </a:solidFill>
                <a:latin typeface="Calibri" panose="020F0502020204030204" pitchFamily="34" charset="0"/>
                <a:cs typeface="Calibri" panose="020F0502020204030204" pitchFamily="34" charset="0"/>
              </a:rPr>
              <a:t/>
            </a:r>
            <a:br>
              <a:rPr lang="en-US" sz="2800" dirty="0">
                <a:solidFill>
                  <a:schemeClr val="tx1">
                    <a:lumMod val="75000"/>
                    <a:lumOff val="25000"/>
                  </a:schemeClr>
                </a:solidFill>
                <a:latin typeface="Calibri" panose="020F0502020204030204" pitchFamily="34" charset="0"/>
                <a:cs typeface="Calibri" panose="020F0502020204030204" pitchFamily="34" charset="0"/>
              </a:rPr>
            </a:br>
            <a:r>
              <a:rPr lang="en-US" sz="2000" dirty="0">
                <a:solidFill>
                  <a:schemeClr val="tx1">
                    <a:lumMod val="75000"/>
                    <a:lumOff val="25000"/>
                  </a:schemeClr>
                </a:solidFill>
                <a:latin typeface="Calibri" panose="020F0502020204030204" pitchFamily="34" charset="0"/>
                <a:cs typeface="Calibri" panose="020F0502020204030204" pitchFamily="34" charset="0"/>
              </a:rPr>
              <a:t> </a:t>
            </a:r>
            <a:endParaRPr lang="en-US" sz="2800" dirty="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xmlns="" id="{1A997C66-4ED4-4017-9439-1D07ED31D783}"/>
              </a:ext>
            </a:extLst>
          </p:cNvPr>
          <p:cNvSpPr/>
          <p:nvPr/>
        </p:nvSpPr>
        <p:spPr>
          <a:xfrm>
            <a:off x="7128164" y="2026444"/>
            <a:ext cx="4541059" cy="1218282"/>
          </a:xfrm>
          <a:prstGeom prst="rect">
            <a:avLst/>
          </a:prstGeom>
        </p:spPr>
        <p:txBody>
          <a:bodyPr wrap="square" lIns="0" tIns="0" rIns="0" bIns="0" anchor="t">
            <a:spAutoFit/>
          </a:bodyPr>
          <a:lstStyle/>
          <a:p>
            <a:pPr algn="ctr">
              <a:lnSpc>
                <a:spcPts val="1900"/>
              </a:lnSpc>
            </a:pPr>
            <a:r>
              <a:rPr lang="en-US" sz="1400" dirty="0" smtClean="0">
                <a:solidFill>
                  <a:schemeClr val="tx1">
                    <a:lumMod val="75000"/>
                    <a:lumOff val="25000"/>
                  </a:schemeClr>
                </a:solidFill>
                <a:latin typeface="Calibri" panose="020F0502020204030204" pitchFamily="34" charset="0"/>
                <a:cs typeface="Calibri" panose="020F0502020204030204" pitchFamily="34" charset="0"/>
              </a:rPr>
              <a:t>The objective </a:t>
            </a:r>
            <a:r>
              <a:rPr lang="en-US" sz="1400" dirty="0">
                <a:solidFill>
                  <a:schemeClr val="tx1">
                    <a:lumMod val="75000"/>
                    <a:lumOff val="25000"/>
                  </a:schemeClr>
                </a:solidFill>
                <a:latin typeface="Calibri" panose="020F0502020204030204" pitchFamily="34" charset="0"/>
                <a:cs typeface="Calibri" panose="020F0502020204030204" pitchFamily="34" charset="0"/>
              </a:rPr>
              <a:t>was </a:t>
            </a:r>
            <a:r>
              <a:rPr lang="en-US" sz="1400" dirty="0" smtClean="0">
                <a:solidFill>
                  <a:schemeClr val="tx1">
                    <a:lumMod val="75000"/>
                    <a:lumOff val="25000"/>
                  </a:schemeClr>
                </a:solidFill>
                <a:latin typeface="Calibri" panose="020F0502020204030204" pitchFamily="34" charset="0"/>
                <a:cs typeface="Calibri" panose="020F0502020204030204" pitchFamily="34" charset="0"/>
              </a:rPr>
              <a:t>to analyze </a:t>
            </a:r>
            <a:r>
              <a:rPr lang="en-US" sz="1400" dirty="0">
                <a:solidFill>
                  <a:schemeClr val="tx1">
                    <a:lumMod val="75000"/>
                    <a:lumOff val="25000"/>
                  </a:schemeClr>
                </a:solidFill>
                <a:latin typeface="Calibri" panose="020F0502020204030204" pitchFamily="34" charset="0"/>
                <a:cs typeface="Calibri" panose="020F0502020204030204" pitchFamily="34" charset="0"/>
              </a:rPr>
              <a:t>last year’s consumer usage data to identify differences between casual riders and </a:t>
            </a:r>
            <a:r>
              <a:rPr lang="en-US" sz="1400" dirty="0" smtClean="0">
                <a:solidFill>
                  <a:schemeClr val="tx1">
                    <a:lumMod val="75000"/>
                    <a:lumOff val="25000"/>
                  </a:schemeClr>
                </a:solidFill>
                <a:latin typeface="Calibri" panose="020F0502020204030204" pitchFamily="34" charset="0"/>
                <a:cs typeface="Calibri" panose="020F0502020204030204" pitchFamily="34" charset="0"/>
              </a:rPr>
              <a:t>Cyclistic members (annual members); </a:t>
            </a:r>
            <a:r>
              <a:rPr lang="en-US" sz="1400" dirty="0">
                <a:solidFill>
                  <a:schemeClr val="tx1">
                    <a:lumMod val="75000"/>
                    <a:lumOff val="25000"/>
                  </a:schemeClr>
                </a:solidFill>
                <a:latin typeface="Calibri" panose="020F0502020204030204" pitchFamily="34" charset="0"/>
                <a:cs typeface="Calibri" panose="020F0502020204030204" pitchFamily="34" charset="0"/>
              </a:rPr>
              <a:t>in order to aid in developing strategies that convert the former to the latter.</a:t>
            </a:r>
          </a:p>
          <a:p>
            <a:pPr algn="ctr">
              <a:lnSpc>
                <a:spcPts val="1900"/>
              </a:lnSpc>
            </a:pPr>
            <a:r>
              <a:rPr lang="en-US" sz="1400" dirty="0" smtClean="0">
                <a:solidFill>
                  <a:schemeClr val="tx1">
                    <a:lumMod val="75000"/>
                    <a:lumOff val="25000"/>
                  </a:schemeClr>
                </a:solidFill>
                <a:latin typeface="Calibri" panose="020F0502020204030204" pitchFamily="34" charset="0"/>
                <a:cs typeface="Calibri" panose="020F0502020204030204" pitchFamily="34" charset="0"/>
              </a:rPr>
              <a:t>  </a:t>
            </a:r>
            <a:endParaRPr lang="en-US" sz="1400"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xmlns="" id="{690C1A7A-78BB-48B4-B5CE-2B9C34E5E67B}"/>
              </a:ext>
            </a:extLst>
          </p:cNvPr>
          <p:cNvSpPr/>
          <p:nvPr/>
        </p:nvSpPr>
        <p:spPr>
          <a:xfrm>
            <a:off x="7128164" y="3546456"/>
            <a:ext cx="4541059" cy="974626"/>
          </a:xfrm>
          <a:prstGeom prst="rect">
            <a:avLst/>
          </a:prstGeom>
        </p:spPr>
        <p:txBody>
          <a:bodyPr wrap="square" lIns="0" tIns="0" rIns="0" bIns="0" anchor="t">
            <a:spAutoFit/>
          </a:bodyPr>
          <a:lstStyle/>
          <a:p>
            <a:pPr algn="ctr">
              <a:lnSpc>
                <a:spcPts val="1900"/>
              </a:lnSpc>
            </a:pPr>
            <a:r>
              <a:rPr lang="en-US" sz="1400" dirty="0" smtClean="0">
                <a:solidFill>
                  <a:schemeClr val="tx1">
                    <a:lumMod val="75000"/>
                    <a:lumOff val="25000"/>
                  </a:schemeClr>
                </a:solidFill>
                <a:latin typeface="Calibri" panose="020F0502020204030204" pitchFamily="34" charset="0"/>
                <a:cs typeface="Calibri" panose="020F0502020204030204" pitchFamily="34" charset="0"/>
              </a:rPr>
              <a:t>Relevant and credible data was sourced. Then it was cleaned using Excel &amp; R while maintaining Data Integrity. The data was then analyzed to excerpt insights, which were then visualized </a:t>
            </a:r>
            <a:r>
              <a:rPr lang="en-US" sz="1400" dirty="0" smtClean="0">
                <a:solidFill>
                  <a:schemeClr val="tx1">
                    <a:lumMod val="75000"/>
                    <a:lumOff val="25000"/>
                  </a:schemeClr>
                </a:solidFill>
                <a:latin typeface="Calibri" panose="020F0502020204030204" pitchFamily="34" charset="0"/>
                <a:cs typeface="Calibri" panose="020F0502020204030204" pitchFamily="34" charset="0"/>
              </a:rPr>
              <a:t>(similar to </a:t>
            </a:r>
            <a:r>
              <a:rPr lang="en-US" sz="1400" dirty="0" smtClean="0">
                <a:solidFill>
                  <a:schemeClr val="tx1">
                    <a:lumMod val="75000"/>
                    <a:lumOff val="25000"/>
                  </a:schemeClr>
                </a:solidFill>
                <a:latin typeface="Calibri" panose="020F0502020204030204" pitchFamily="34" charset="0"/>
                <a:cs typeface="Calibri" panose="020F0502020204030204" pitchFamily="34" charset="0"/>
              </a:rPr>
              <a:t>the figure on the left). </a:t>
            </a:r>
            <a:endParaRPr lang="en-US" sz="1400"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xmlns="" id="{53CF038C-66AF-4E81-9068-703EC0088620}"/>
              </a:ext>
            </a:extLst>
          </p:cNvPr>
          <p:cNvSpPr/>
          <p:nvPr/>
        </p:nvSpPr>
        <p:spPr>
          <a:xfrm>
            <a:off x="7128164" y="5066469"/>
            <a:ext cx="4541059" cy="974626"/>
          </a:xfrm>
          <a:prstGeom prst="rect">
            <a:avLst/>
          </a:prstGeom>
        </p:spPr>
        <p:txBody>
          <a:bodyPr wrap="square" lIns="0" tIns="0" rIns="0" bIns="0" anchor="t">
            <a:spAutoFit/>
          </a:bodyPr>
          <a:lstStyle/>
          <a:p>
            <a:pPr algn="ctr">
              <a:lnSpc>
                <a:spcPts val="1900"/>
              </a:lnSpc>
            </a:pPr>
            <a:r>
              <a:rPr lang="en-US" sz="1400" dirty="0" smtClean="0">
                <a:solidFill>
                  <a:schemeClr val="tx1">
                    <a:lumMod val="75000"/>
                    <a:lumOff val="25000"/>
                  </a:schemeClr>
                </a:solidFill>
                <a:latin typeface="Calibri" panose="020F0502020204030204" pitchFamily="34" charset="0"/>
                <a:cs typeface="Calibri" panose="020F0502020204030204" pitchFamily="34" charset="0"/>
              </a:rPr>
              <a:t>The insights and </a:t>
            </a:r>
            <a:r>
              <a:rPr lang="en-US" sz="1400" dirty="0" smtClean="0">
                <a:solidFill>
                  <a:schemeClr val="tx1">
                    <a:lumMod val="75000"/>
                    <a:lumOff val="25000"/>
                  </a:schemeClr>
                </a:solidFill>
                <a:latin typeface="Calibri" panose="020F0502020204030204" pitchFamily="34" charset="0"/>
                <a:cs typeface="Calibri" panose="020F0502020204030204" pitchFamily="34" charset="0"/>
              </a:rPr>
              <a:t>visuals </a:t>
            </a:r>
            <a:r>
              <a:rPr lang="en-US" sz="1400" dirty="0" smtClean="0">
                <a:solidFill>
                  <a:schemeClr val="tx1">
                    <a:lumMod val="75000"/>
                    <a:lumOff val="25000"/>
                  </a:schemeClr>
                </a:solidFill>
                <a:latin typeface="Calibri" panose="020F0502020204030204" pitchFamily="34" charset="0"/>
                <a:cs typeface="Calibri" panose="020F0502020204030204" pitchFamily="34" charset="0"/>
              </a:rPr>
              <a:t>were used to detail key findings about how casual riders differed from members, which were then used to develop suggestions on persuading casual riders into becoming members. </a:t>
            </a:r>
            <a:endParaRPr lang="en-US" sz="1400"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Freeform 931" descr="Icon of line chart.">
            <a:extLst>
              <a:ext uri="{FF2B5EF4-FFF2-40B4-BE49-F238E27FC236}">
                <a16:creationId xmlns:a16="http://schemas.microsoft.com/office/drawing/2014/main" xmlns="" id="{D6E99607-03B7-41E5-AD6F-79DCFC17E713}"/>
              </a:ext>
            </a:extLst>
          </p:cNvPr>
          <p:cNvSpPr>
            <a:spLocks noEditPoints="1"/>
          </p:cNvSpPr>
          <p:nvPr/>
        </p:nvSpPr>
        <p:spPr bwMode="auto">
          <a:xfrm>
            <a:off x="9425537" y="1614222"/>
            <a:ext cx="219075" cy="285750"/>
          </a:xfrm>
          <a:custGeom>
            <a:avLst/>
            <a:gdLst>
              <a:gd name="T0" fmla="*/ 348 w 553"/>
              <a:gd name="T1" fmla="*/ 11 h 722"/>
              <a:gd name="T2" fmla="*/ 348 w 553"/>
              <a:gd name="T3" fmla="*/ 204 h 722"/>
              <a:gd name="T4" fmla="*/ 108 w 553"/>
              <a:gd name="T5" fmla="*/ 602 h 722"/>
              <a:gd name="T6" fmla="*/ 99 w 553"/>
              <a:gd name="T7" fmla="*/ 599 h 722"/>
              <a:gd name="T8" fmla="*/ 95 w 553"/>
              <a:gd name="T9" fmla="*/ 590 h 722"/>
              <a:gd name="T10" fmla="*/ 96 w 553"/>
              <a:gd name="T11" fmla="*/ 236 h 722"/>
              <a:gd name="T12" fmla="*/ 104 w 553"/>
              <a:gd name="T13" fmla="*/ 230 h 722"/>
              <a:gd name="T14" fmla="*/ 113 w 553"/>
              <a:gd name="T15" fmla="*/ 230 h 722"/>
              <a:gd name="T16" fmla="*/ 119 w 553"/>
              <a:gd name="T17" fmla="*/ 236 h 722"/>
              <a:gd name="T18" fmla="*/ 120 w 553"/>
              <a:gd name="T19" fmla="*/ 467 h 722"/>
              <a:gd name="T20" fmla="*/ 233 w 553"/>
              <a:gd name="T21" fmla="*/ 365 h 722"/>
              <a:gd name="T22" fmla="*/ 241 w 553"/>
              <a:gd name="T23" fmla="*/ 365 h 722"/>
              <a:gd name="T24" fmla="*/ 327 w 553"/>
              <a:gd name="T25" fmla="*/ 421 h 722"/>
              <a:gd name="T26" fmla="*/ 440 w 553"/>
              <a:gd name="T27" fmla="*/ 303 h 722"/>
              <a:gd name="T28" fmla="*/ 447 w 553"/>
              <a:gd name="T29" fmla="*/ 301 h 722"/>
              <a:gd name="T30" fmla="*/ 451 w 553"/>
              <a:gd name="T31" fmla="*/ 303 h 722"/>
              <a:gd name="T32" fmla="*/ 456 w 553"/>
              <a:gd name="T33" fmla="*/ 308 h 722"/>
              <a:gd name="T34" fmla="*/ 456 w 553"/>
              <a:gd name="T35" fmla="*/ 317 h 722"/>
              <a:gd name="T36" fmla="*/ 338 w 553"/>
              <a:gd name="T37" fmla="*/ 446 h 722"/>
              <a:gd name="T38" fmla="*/ 330 w 553"/>
              <a:gd name="T39" fmla="*/ 449 h 722"/>
              <a:gd name="T40" fmla="*/ 322 w 553"/>
              <a:gd name="T41" fmla="*/ 448 h 722"/>
              <a:gd name="T42" fmla="*/ 120 w 553"/>
              <a:gd name="T43" fmla="*/ 500 h 722"/>
              <a:gd name="T44" fmla="*/ 450 w 553"/>
              <a:gd name="T45" fmla="*/ 577 h 722"/>
              <a:gd name="T46" fmla="*/ 458 w 553"/>
              <a:gd name="T47" fmla="*/ 581 h 722"/>
              <a:gd name="T48" fmla="*/ 462 w 553"/>
              <a:gd name="T49" fmla="*/ 590 h 722"/>
              <a:gd name="T50" fmla="*/ 458 w 553"/>
              <a:gd name="T51" fmla="*/ 599 h 722"/>
              <a:gd name="T52" fmla="*/ 450 w 553"/>
              <a:gd name="T53" fmla="*/ 602 h 722"/>
              <a:gd name="T54" fmla="*/ 357 w 553"/>
              <a:gd name="T55" fmla="*/ 3 h 722"/>
              <a:gd name="T56" fmla="*/ 348 w 553"/>
              <a:gd name="T57" fmla="*/ 0 h 722"/>
              <a:gd name="T58" fmla="*/ 7 w 553"/>
              <a:gd name="T59" fmla="*/ 1 h 722"/>
              <a:gd name="T60" fmla="*/ 1 w 553"/>
              <a:gd name="T61" fmla="*/ 7 h 722"/>
              <a:gd name="T62" fmla="*/ 0 w 553"/>
              <a:gd name="T63" fmla="*/ 710 h 722"/>
              <a:gd name="T64" fmla="*/ 3 w 553"/>
              <a:gd name="T65" fmla="*/ 719 h 722"/>
              <a:gd name="T66" fmla="*/ 12 w 553"/>
              <a:gd name="T67" fmla="*/ 722 h 722"/>
              <a:gd name="T68" fmla="*/ 546 w 553"/>
              <a:gd name="T69" fmla="*/ 721 h 722"/>
              <a:gd name="T70" fmla="*/ 552 w 553"/>
              <a:gd name="T71" fmla="*/ 715 h 722"/>
              <a:gd name="T72" fmla="*/ 553 w 553"/>
              <a:gd name="T73" fmla="*/ 204 h 722"/>
              <a:gd name="T74" fmla="*/ 550 w 553"/>
              <a:gd name="T75" fmla="*/ 196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3" h="722">
                <a:moveTo>
                  <a:pt x="348" y="204"/>
                </a:moveTo>
                <a:lnTo>
                  <a:pt x="348" y="11"/>
                </a:lnTo>
                <a:lnTo>
                  <a:pt x="541" y="204"/>
                </a:lnTo>
                <a:lnTo>
                  <a:pt x="348" y="204"/>
                </a:lnTo>
                <a:close/>
                <a:moveTo>
                  <a:pt x="450" y="602"/>
                </a:moveTo>
                <a:lnTo>
                  <a:pt x="108" y="602"/>
                </a:lnTo>
                <a:lnTo>
                  <a:pt x="104" y="601"/>
                </a:lnTo>
                <a:lnTo>
                  <a:pt x="99" y="599"/>
                </a:lnTo>
                <a:lnTo>
                  <a:pt x="96" y="595"/>
                </a:lnTo>
                <a:lnTo>
                  <a:pt x="95" y="590"/>
                </a:lnTo>
                <a:lnTo>
                  <a:pt x="95" y="241"/>
                </a:lnTo>
                <a:lnTo>
                  <a:pt x="96" y="236"/>
                </a:lnTo>
                <a:lnTo>
                  <a:pt x="99" y="232"/>
                </a:lnTo>
                <a:lnTo>
                  <a:pt x="104" y="230"/>
                </a:lnTo>
                <a:lnTo>
                  <a:pt x="108" y="229"/>
                </a:lnTo>
                <a:lnTo>
                  <a:pt x="113" y="230"/>
                </a:lnTo>
                <a:lnTo>
                  <a:pt x="117" y="232"/>
                </a:lnTo>
                <a:lnTo>
                  <a:pt x="119" y="236"/>
                </a:lnTo>
                <a:lnTo>
                  <a:pt x="120" y="241"/>
                </a:lnTo>
                <a:lnTo>
                  <a:pt x="120" y="467"/>
                </a:lnTo>
                <a:lnTo>
                  <a:pt x="230" y="368"/>
                </a:lnTo>
                <a:lnTo>
                  <a:pt x="233" y="365"/>
                </a:lnTo>
                <a:lnTo>
                  <a:pt x="237" y="364"/>
                </a:lnTo>
                <a:lnTo>
                  <a:pt x="241" y="365"/>
                </a:lnTo>
                <a:lnTo>
                  <a:pt x="244" y="367"/>
                </a:lnTo>
                <a:lnTo>
                  <a:pt x="327" y="421"/>
                </a:lnTo>
                <a:lnTo>
                  <a:pt x="436" y="306"/>
                </a:lnTo>
                <a:lnTo>
                  <a:pt x="440" y="303"/>
                </a:lnTo>
                <a:lnTo>
                  <a:pt x="445" y="301"/>
                </a:lnTo>
                <a:lnTo>
                  <a:pt x="447" y="301"/>
                </a:lnTo>
                <a:lnTo>
                  <a:pt x="449" y="302"/>
                </a:lnTo>
                <a:lnTo>
                  <a:pt x="451" y="303"/>
                </a:lnTo>
                <a:lnTo>
                  <a:pt x="453" y="304"/>
                </a:lnTo>
                <a:lnTo>
                  <a:pt x="456" y="308"/>
                </a:lnTo>
                <a:lnTo>
                  <a:pt x="457" y="313"/>
                </a:lnTo>
                <a:lnTo>
                  <a:pt x="456" y="317"/>
                </a:lnTo>
                <a:lnTo>
                  <a:pt x="454" y="321"/>
                </a:lnTo>
                <a:lnTo>
                  <a:pt x="338" y="446"/>
                </a:lnTo>
                <a:lnTo>
                  <a:pt x="334" y="448"/>
                </a:lnTo>
                <a:lnTo>
                  <a:pt x="330" y="449"/>
                </a:lnTo>
                <a:lnTo>
                  <a:pt x="326" y="449"/>
                </a:lnTo>
                <a:lnTo>
                  <a:pt x="322" y="448"/>
                </a:lnTo>
                <a:lnTo>
                  <a:pt x="239" y="393"/>
                </a:lnTo>
                <a:lnTo>
                  <a:pt x="120" y="500"/>
                </a:lnTo>
                <a:lnTo>
                  <a:pt x="120" y="577"/>
                </a:lnTo>
                <a:lnTo>
                  <a:pt x="450" y="577"/>
                </a:lnTo>
                <a:lnTo>
                  <a:pt x="455" y="578"/>
                </a:lnTo>
                <a:lnTo>
                  <a:pt x="458" y="581"/>
                </a:lnTo>
                <a:lnTo>
                  <a:pt x="461" y="585"/>
                </a:lnTo>
                <a:lnTo>
                  <a:pt x="462" y="590"/>
                </a:lnTo>
                <a:lnTo>
                  <a:pt x="461" y="595"/>
                </a:lnTo>
                <a:lnTo>
                  <a:pt x="458" y="599"/>
                </a:lnTo>
                <a:lnTo>
                  <a:pt x="455" y="601"/>
                </a:lnTo>
                <a:lnTo>
                  <a:pt x="450" y="602"/>
                </a:lnTo>
                <a:close/>
                <a:moveTo>
                  <a:pt x="550" y="196"/>
                </a:moveTo>
                <a:lnTo>
                  <a:pt x="357"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41" y="722"/>
                </a:lnTo>
                <a:lnTo>
                  <a:pt x="546" y="721"/>
                </a:lnTo>
                <a:lnTo>
                  <a:pt x="550" y="719"/>
                </a:lnTo>
                <a:lnTo>
                  <a:pt x="552" y="715"/>
                </a:lnTo>
                <a:lnTo>
                  <a:pt x="553" y="710"/>
                </a:lnTo>
                <a:lnTo>
                  <a:pt x="553" y="204"/>
                </a:lnTo>
                <a:lnTo>
                  <a:pt x="552" y="200"/>
                </a:lnTo>
                <a:lnTo>
                  <a:pt x="550" y="196"/>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nvGrpSpPr>
          <p:cNvPr id="16" name="Group 15" descr="This image is an icon of four sheets of paper. ">
            <a:extLst>
              <a:ext uri="{FF2B5EF4-FFF2-40B4-BE49-F238E27FC236}">
                <a16:creationId xmlns:a16="http://schemas.microsoft.com/office/drawing/2014/main" xmlns="" id="{6071F41E-4B08-43F7-BBE7-4A555CA73C1B}"/>
              </a:ext>
            </a:extLst>
          </p:cNvPr>
          <p:cNvGrpSpPr/>
          <p:nvPr/>
        </p:nvGrpSpPr>
        <p:grpSpPr>
          <a:xfrm>
            <a:off x="9415218" y="4652698"/>
            <a:ext cx="239712" cy="285750"/>
            <a:chOff x="5494338" y="1370013"/>
            <a:chExt cx="239712" cy="285750"/>
          </a:xfrm>
          <a:solidFill>
            <a:schemeClr val="accent4">
              <a:lumMod val="75000"/>
            </a:schemeClr>
          </a:solidFill>
        </p:grpSpPr>
        <p:sp>
          <p:nvSpPr>
            <p:cNvPr id="17" name="Freeform 961">
              <a:extLst>
                <a:ext uri="{FF2B5EF4-FFF2-40B4-BE49-F238E27FC236}">
                  <a16:creationId xmlns:a16="http://schemas.microsoft.com/office/drawing/2014/main" xmlns="" id="{A4A2E5CB-F1CB-4509-8FE7-B24010CB57EC}"/>
                </a:ext>
              </a:extLst>
            </p:cNvPr>
            <p:cNvSpPr>
              <a:spLocks noEditPoints="1"/>
            </p:cNvSpPr>
            <p:nvPr/>
          </p:nvSpPr>
          <p:spPr bwMode="auto">
            <a:xfrm>
              <a:off x="5629275" y="1370013"/>
              <a:ext cx="104775" cy="133350"/>
            </a:xfrm>
            <a:custGeom>
              <a:avLst/>
              <a:gdLst>
                <a:gd name="T0" fmla="*/ 156 w 265"/>
                <a:gd name="T1" fmla="*/ 108 h 337"/>
                <a:gd name="T2" fmla="*/ 156 w 265"/>
                <a:gd name="T3" fmla="*/ 12 h 337"/>
                <a:gd name="T4" fmla="*/ 252 w 265"/>
                <a:gd name="T5" fmla="*/ 108 h 337"/>
                <a:gd name="T6" fmla="*/ 156 w 265"/>
                <a:gd name="T7" fmla="*/ 108 h 337"/>
                <a:gd name="T8" fmla="*/ 261 w 265"/>
                <a:gd name="T9" fmla="*/ 100 h 337"/>
                <a:gd name="T10" fmla="*/ 165 w 265"/>
                <a:gd name="T11" fmla="*/ 3 h 337"/>
                <a:gd name="T12" fmla="*/ 161 w 265"/>
                <a:gd name="T13" fmla="*/ 1 h 337"/>
                <a:gd name="T14" fmla="*/ 156 w 265"/>
                <a:gd name="T15" fmla="*/ 0 h 337"/>
                <a:gd name="T16" fmla="*/ 12 w 265"/>
                <a:gd name="T17" fmla="*/ 0 h 337"/>
                <a:gd name="T18" fmla="*/ 7 w 265"/>
                <a:gd name="T19" fmla="*/ 1 h 337"/>
                <a:gd name="T20" fmla="*/ 3 w 265"/>
                <a:gd name="T21" fmla="*/ 3 h 337"/>
                <a:gd name="T22" fmla="*/ 1 w 265"/>
                <a:gd name="T23" fmla="*/ 7 h 337"/>
                <a:gd name="T24" fmla="*/ 0 w 265"/>
                <a:gd name="T25" fmla="*/ 12 h 337"/>
                <a:gd name="T26" fmla="*/ 0 w 265"/>
                <a:gd name="T27" fmla="*/ 325 h 337"/>
                <a:gd name="T28" fmla="*/ 1 w 265"/>
                <a:gd name="T29" fmla="*/ 329 h 337"/>
                <a:gd name="T30" fmla="*/ 3 w 265"/>
                <a:gd name="T31" fmla="*/ 334 h 337"/>
                <a:gd name="T32" fmla="*/ 7 w 265"/>
                <a:gd name="T33" fmla="*/ 337 h 337"/>
                <a:gd name="T34" fmla="*/ 12 w 265"/>
                <a:gd name="T35" fmla="*/ 337 h 337"/>
                <a:gd name="T36" fmla="*/ 253 w 265"/>
                <a:gd name="T37" fmla="*/ 337 h 337"/>
                <a:gd name="T38" fmla="*/ 258 w 265"/>
                <a:gd name="T39" fmla="*/ 337 h 337"/>
                <a:gd name="T40" fmla="*/ 261 w 265"/>
                <a:gd name="T41" fmla="*/ 334 h 337"/>
                <a:gd name="T42" fmla="*/ 264 w 265"/>
                <a:gd name="T43" fmla="*/ 329 h 337"/>
                <a:gd name="T44" fmla="*/ 265 w 265"/>
                <a:gd name="T45" fmla="*/ 325 h 337"/>
                <a:gd name="T46" fmla="*/ 265 w 265"/>
                <a:gd name="T47" fmla="*/ 108 h 337"/>
                <a:gd name="T48" fmla="*/ 264 w 265"/>
                <a:gd name="T49" fmla="*/ 104 h 337"/>
                <a:gd name="T50" fmla="*/ 261 w 265"/>
                <a:gd name="T51" fmla="*/ 10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5" h="337">
                  <a:moveTo>
                    <a:pt x="156" y="108"/>
                  </a:moveTo>
                  <a:lnTo>
                    <a:pt x="156" y="12"/>
                  </a:lnTo>
                  <a:lnTo>
                    <a:pt x="252" y="108"/>
                  </a:lnTo>
                  <a:lnTo>
                    <a:pt x="156" y="108"/>
                  </a:lnTo>
                  <a:close/>
                  <a:moveTo>
                    <a:pt x="261" y="100"/>
                  </a:moveTo>
                  <a:lnTo>
                    <a:pt x="165" y="3"/>
                  </a:lnTo>
                  <a:lnTo>
                    <a:pt x="161" y="1"/>
                  </a:lnTo>
                  <a:lnTo>
                    <a:pt x="156" y="0"/>
                  </a:lnTo>
                  <a:lnTo>
                    <a:pt x="12" y="0"/>
                  </a:lnTo>
                  <a:lnTo>
                    <a:pt x="7" y="1"/>
                  </a:lnTo>
                  <a:lnTo>
                    <a:pt x="3" y="3"/>
                  </a:lnTo>
                  <a:lnTo>
                    <a:pt x="1" y="7"/>
                  </a:lnTo>
                  <a:lnTo>
                    <a:pt x="0" y="12"/>
                  </a:lnTo>
                  <a:lnTo>
                    <a:pt x="0" y="325"/>
                  </a:lnTo>
                  <a:lnTo>
                    <a:pt x="1" y="329"/>
                  </a:lnTo>
                  <a:lnTo>
                    <a:pt x="3" y="334"/>
                  </a:lnTo>
                  <a:lnTo>
                    <a:pt x="7" y="337"/>
                  </a:lnTo>
                  <a:lnTo>
                    <a:pt x="12" y="337"/>
                  </a:lnTo>
                  <a:lnTo>
                    <a:pt x="253" y="337"/>
                  </a:lnTo>
                  <a:lnTo>
                    <a:pt x="258" y="337"/>
                  </a:lnTo>
                  <a:lnTo>
                    <a:pt x="261" y="334"/>
                  </a:lnTo>
                  <a:lnTo>
                    <a:pt x="264" y="329"/>
                  </a:lnTo>
                  <a:lnTo>
                    <a:pt x="265" y="325"/>
                  </a:lnTo>
                  <a:lnTo>
                    <a:pt x="265" y="108"/>
                  </a:lnTo>
                  <a:lnTo>
                    <a:pt x="264" y="104"/>
                  </a:lnTo>
                  <a:lnTo>
                    <a:pt x="261"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8" name="Freeform 962">
              <a:extLst>
                <a:ext uri="{FF2B5EF4-FFF2-40B4-BE49-F238E27FC236}">
                  <a16:creationId xmlns:a16="http://schemas.microsoft.com/office/drawing/2014/main" xmlns="" id="{644A9833-5FFF-4479-A665-0AEDD8C25D5D}"/>
                </a:ext>
              </a:extLst>
            </p:cNvPr>
            <p:cNvSpPr>
              <a:spLocks noEditPoints="1"/>
            </p:cNvSpPr>
            <p:nvPr/>
          </p:nvSpPr>
          <p:spPr bwMode="auto">
            <a:xfrm>
              <a:off x="5494338" y="1370013"/>
              <a:ext cx="106363" cy="133350"/>
            </a:xfrm>
            <a:custGeom>
              <a:avLst/>
              <a:gdLst>
                <a:gd name="T0" fmla="*/ 157 w 266"/>
                <a:gd name="T1" fmla="*/ 108 h 337"/>
                <a:gd name="T2" fmla="*/ 157 w 266"/>
                <a:gd name="T3" fmla="*/ 12 h 337"/>
                <a:gd name="T4" fmla="*/ 252 w 266"/>
                <a:gd name="T5" fmla="*/ 108 h 337"/>
                <a:gd name="T6" fmla="*/ 157 w 266"/>
                <a:gd name="T7" fmla="*/ 108 h 337"/>
                <a:gd name="T8" fmla="*/ 166 w 266"/>
                <a:gd name="T9" fmla="*/ 3 h 337"/>
                <a:gd name="T10" fmla="*/ 162 w 266"/>
                <a:gd name="T11" fmla="*/ 1 h 337"/>
                <a:gd name="T12" fmla="*/ 157 w 266"/>
                <a:gd name="T13" fmla="*/ 0 h 337"/>
                <a:gd name="T14" fmla="*/ 13 w 266"/>
                <a:gd name="T15" fmla="*/ 0 h 337"/>
                <a:gd name="T16" fmla="*/ 8 w 266"/>
                <a:gd name="T17" fmla="*/ 1 h 337"/>
                <a:gd name="T18" fmla="*/ 5 w 266"/>
                <a:gd name="T19" fmla="*/ 3 h 337"/>
                <a:gd name="T20" fmla="*/ 1 w 266"/>
                <a:gd name="T21" fmla="*/ 7 h 337"/>
                <a:gd name="T22" fmla="*/ 0 w 266"/>
                <a:gd name="T23" fmla="*/ 12 h 337"/>
                <a:gd name="T24" fmla="*/ 0 w 266"/>
                <a:gd name="T25" fmla="*/ 325 h 337"/>
                <a:gd name="T26" fmla="*/ 1 w 266"/>
                <a:gd name="T27" fmla="*/ 329 h 337"/>
                <a:gd name="T28" fmla="*/ 5 w 266"/>
                <a:gd name="T29" fmla="*/ 334 h 337"/>
                <a:gd name="T30" fmla="*/ 8 w 266"/>
                <a:gd name="T31" fmla="*/ 337 h 337"/>
                <a:gd name="T32" fmla="*/ 13 w 266"/>
                <a:gd name="T33" fmla="*/ 337 h 337"/>
                <a:gd name="T34" fmla="*/ 253 w 266"/>
                <a:gd name="T35" fmla="*/ 337 h 337"/>
                <a:gd name="T36" fmla="*/ 258 w 266"/>
                <a:gd name="T37" fmla="*/ 337 h 337"/>
                <a:gd name="T38" fmla="*/ 263 w 266"/>
                <a:gd name="T39" fmla="*/ 334 h 337"/>
                <a:gd name="T40" fmla="*/ 265 w 266"/>
                <a:gd name="T41" fmla="*/ 329 h 337"/>
                <a:gd name="T42" fmla="*/ 266 w 266"/>
                <a:gd name="T43" fmla="*/ 325 h 337"/>
                <a:gd name="T44" fmla="*/ 266 w 266"/>
                <a:gd name="T45" fmla="*/ 108 h 337"/>
                <a:gd name="T46" fmla="*/ 265 w 266"/>
                <a:gd name="T47" fmla="*/ 104 h 337"/>
                <a:gd name="T48" fmla="*/ 263 w 266"/>
                <a:gd name="T49" fmla="*/ 100 h 337"/>
                <a:gd name="T50" fmla="*/ 166 w 266"/>
                <a:gd name="T51" fmla="*/ 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6" h="337">
                  <a:moveTo>
                    <a:pt x="157" y="108"/>
                  </a:moveTo>
                  <a:lnTo>
                    <a:pt x="157" y="12"/>
                  </a:lnTo>
                  <a:lnTo>
                    <a:pt x="252" y="108"/>
                  </a:lnTo>
                  <a:lnTo>
                    <a:pt x="157" y="108"/>
                  </a:lnTo>
                  <a:close/>
                  <a:moveTo>
                    <a:pt x="166" y="3"/>
                  </a:moveTo>
                  <a:lnTo>
                    <a:pt x="162" y="1"/>
                  </a:lnTo>
                  <a:lnTo>
                    <a:pt x="157" y="0"/>
                  </a:lnTo>
                  <a:lnTo>
                    <a:pt x="13" y="0"/>
                  </a:lnTo>
                  <a:lnTo>
                    <a:pt x="8" y="1"/>
                  </a:lnTo>
                  <a:lnTo>
                    <a:pt x="5" y="3"/>
                  </a:lnTo>
                  <a:lnTo>
                    <a:pt x="1" y="7"/>
                  </a:lnTo>
                  <a:lnTo>
                    <a:pt x="0" y="12"/>
                  </a:lnTo>
                  <a:lnTo>
                    <a:pt x="0" y="325"/>
                  </a:lnTo>
                  <a:lnTo>
                    <a:pt x="1" y="329"/>
                  </a:lnTo>
                  <a:lnTo>
                    <a:pt x="5" y="334"/>
                  </a:lnTo>
                  <a:lnTo>
                    <a:pt x="8" y="337"/>
                  </a:lnTo>
                  <a:lnTo>
                    <a:pt x="13" y="337"/>
                  </a:lnTo>
                  <a:lnTo>
                    <a:pt x="253" y="337"/>
                  </a:lnTo>
                  <a:lnTo>
                    <a:pt x="258" y="337"/>
                  </a:lnTo>
                  <a:lnTo>
                    <a:pt x="263" y="334"/>
                  </a:lnTo>
                  <a:lnTo>
                    <a:pt x="265" y="329"/>
                  </a:lnTo>
                  <a:lnTo>
                    <a:pt x="266" y="325"/>
                  </a:lnTo>
                  <a:lnTo>
                    <a:pt x="266" y="108"/>
                  </a:lnTo>
                  <a:lnTo>
                    <a:pt x="265" y="104"/>
                  </a:lnTo>
                  <a:lnTo>
                    <a:pt x="263" y="100"/>
                  </a:lnTo>
                  <a:lnTo>
                    <a:pt x="16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9" name="Freeform 963">
              <a:extLst>
                <a:ext uri="{FF2B5EF4-FFF2-40B4-BE49-F238E27FC236}">
                  <a16:creationId xmlns:a16="http://schemas.microsoft.com/office/drawing/2014/main" xmlns="" id="{A6452485-9CCD-4979-A80D-5838A64EDB28}"/>
                </a:ext>
              </a:extLst>
            </p:cNvPr>
            <p:cNvSpPr>
              <a:spLocks noEditPoints="1"/>
            </p:cNvSpPr>
            <p:nvPr/>
          </p:nvSpPr>
          <p:spPr bwMode="auto">
            <a:xfrm>
              <a:off x="5629275" y="1522413"/>
              <a:ext cx="104775" cy="133350"/>
            </a:xfrm>
            <a:custGeom>
              <a:avLst/>
              <a:gdLst>
                <a:gd name="T0" fmla="*/ 156 w 265"/>
                <a:gd name="T1" fmla="*/ 108 h 336"/>
                <a:gd name="T2" fmla="*/ 156 w 265"/>
                <a:gd name="T3" fmla="*/ 11 h 336"/>
                <a:gd name="T4" fmla="*/ 252 w 265"/>
                <a:gd name="T5" fmla="*/ 108 h 336"/>
                <a:gd name="T6" fmla="*/ 156 w 265"/>
                <a:gd name="T7" fmla="*/ 108 h 336"/>
                <a:gd name="T8" fmla="*/ 165 w 265"/>
                <a:gd name="T9" fmla="*/ 3 h 336"/>
                <a:gd name="T10" fmla="*/ 161 w 265"/>
                <a:gd name="T11" fmla="*/ 1 h 336"/>
                <a:gd name="T12" fmla="*/ 156 w 265"/>
                <a:gd name="T13" fmla="*/ 0 h 336"/>
                <a:gd name="T14" fmla="*/ 12 w 265"/>
                <a:gd name="T15" fmla="*/ 0 h 336"/>
                <a:gd name="T16" fmla="*/ 7 w 265"/>
                <a:gd name="T17" fmla="*/ 1 h 336"/>
                <a:gd name="T18" fmla="*/ 3 w 265"/>
                <a:gd name="T19" fmla="*/ 3 h 336"/>
                <a:gd name="T20" fmla="*/ 1 w 265"/>
                <a:gd name="T21" fmla="*/ 7 h 336"/>
                <a:gd name="T22" fmla="*/ 0 w 265"/>
                <a:gd name="T23" fmla="*/ 11 h 336"/>
                <a:gd name="T24" fmla="*/ 0 w 265"/>
                <a:gd name="T25" fmla="*/ 325 h 336"/>
                <a:gd name="T26" fmla="*/ 1 w 265"/>
                <a:gd name="T27" fmla="*/ 329 h 336"/>
                <a:gd name="T28" fmla="*/ 3 w 265"/>
                <a:gd name="T29" fmla="*/ 333 h 336"/>
                <a:gd name="T30" fmla="*/ 7 w 265"/>
                <a:gd name="T31" fmla="*/ 335 h 336"/>
                <a:gd name="T32" fmla="*/ 12 w 265"/>
                <a:gd name="T33" fmla="*/ 336 h 336"/>
                <a:gd name="T34" fmla="*/ 253 w 265"/>
                <a:gd name="T35" fmla="*/ 336 h 336"/>
                <a:gd name="T36" fmla="*/ 258 w 265"/>
                <a:gd name="T37" fmla="*/ 335 h 336"/>
                <a:gd name="T38" fmla="*/ 261 w 265"/>
                <a:gd name="T39" fmla="*/ 333 h 336"/>
                <a:gd name="T40" fmla="*/ 264 w 265"/>
                <a:gd name="T41" fmla="*/ 329 h 336"/>
                <a:gd name="T42" fmla="*/ 265 w 265"/>
                <a:gd name="T43" fmla="*/ 325 h 336"/>
                <a:gd name="T44" fmla="*/ 265 w 265"/>
                <a:gd name="T45" fmla="*/ 108 h 336"/>
                <a:gd name="T46" fmla="*/ 264 w 265"/>
                <a:gd name="T47" fmla="*/ 104 h 336"/>
                <a:gd name="T48" fmla="*/ 261 w 265"/>
                <a:gd name="T49" fmla="*/ 100 h 336"/>
                <a:gd name="T50" fmla="*/ 165 w 265"/>
                <a:gd name="T51" fmla="*/ 3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5" h="336">
                  <a:moveTo>
                    <a:pt x="156" y="108"/>
                  </a:moveTo>
                  <a:lnTo>
                    <a:pt x="156" y="11"/>
                  </a:lnTo>
                  <a:lnTo>
                    <a:pt x="252" y="108"/>
                  </a:lnTo>
                  <a:lnTo>
                    <a:pt x="156" y="108"/>
                  </a:lnTo>
                  <a:close/>
                  <a:moveTo>
                    <a:pt x="165" y="3"/>
                  </a:moveTo>
                  <a:lnTo>
                    <a:pt x="161" y="1"/>
                  </a:lnTo>
                  <a:lnTo>
                    <a:pt x="156" y="0"/>
                  </a:lnTo>
                  <a:lnTo>
                    <a:pt x="12" y="0"/>
                  </a:lnTo>
                  <a:lnTo>
                    <a:pt x="7" y="1"/>
                  </a:lnTo>
                  <a:lnTo>
                    <a:pt x="3" y="3"/>
                  </a:lnTo>
                  <a:lnTo>
                    <a:pt x="1" y="7"/>
                  </a:lnTo>
                  <a:lnTo>
                    <a:pt x="0" y="11"/>
                  </a:lnTo>
                  <a:lnTo>
                    <a:pt x="0" y="325"/>
                  </a:lnTo>
                  <a:lnTo>
                    <a:pt x="1" y="329"/>
                  </a:lnTo>
                  <a:lnTo>
                    <a:pt x="3" y="333"/>
                  </a:lnTo>
                  <a:lnTo>
                    <a:pt x="7" y="335"/>
                  </a:lnTo>
                  <a:lnTo>
                    <a:pt x="12" y="336"/>
                  </a:lnTo>
                  <a:lnTo>
                    <a:pt x="253" y="336"/>
                  </a:lnTo>
                  <a:lnTo>
                    <a:pt x="258" y="335"/>
                  </a:lnTo>
                  <a:lnTo>
                    <a:pt x="261" y="333"/>
                  </a:lnTo>
                  <a:lnTo>
                    <a:pt x="264" y="329"/>
                  </a:lnTo>
                  <a:lnTo>
                    <a:pt x="265" y="325"/>
                  </a:lnTo>
                  <a:lnTo>
                    <a:pt x="265" y="108"/>
                  </a:lnTo>
                  <a:lnTo>
                    <a:pt x="264" y="104"/>
                  </a:lnTo>
                  <a:lnTo>
                    <a:pt x="261" y="100"/>
                  </a:lnTo>
                  <a:lnTo>
                    <a:pt x="165"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0" name="Freeform 964">
              <a:extLst>
                <a:ext uri="{FF2B5EF4-FFF2-40B4-BE49-F238E27FC236}">
                  <a16:creationId xmlns:a16="http://schemas.microsoft.com/office/drawing/2014/main" xmlns="" id="{5FFD2F41-7C2C-45FD-8108-197BFC996F06}"/>
                </a:ext>
              </a:extLst>
            </p:cNvPr>
            <p:cNvSpPr>
              <a:spLocks noEditPoints="1"/>
            </p:cNvSpPr>
            <p:nvPr/>
          </p:nvSpPr>
          <p:spPr bwMode="auto">
            <a:xfrm>
              <a:off x="5494338" y="1522413"/>
              <a:ext cx="106363" cy="133350"/>
            </a:xfrm>
            <a:custGeom>
              <a:avLst/>
              <a:gdLst>
                <a:gd name="T0" fmla="*/ 157 w 266"/>
                <a:gd name="T1" fmla="*/ 108 h 336"/>
                <a:gd name="T2" fmla="*/ 157 w 266"/>
                <a:gd name="T3" fmla="*/ 11 h 336"/>
                <a:gd name="T4" fmla="*/ 252 w 266"/>
                <a:gd name="T5" fmla="*/ 108 h 336"/>
                <a:gd name="T6" fmla="*/ 157 w 266"/>
                <a:gd name="T7" fmla="*/ 108 h 336"/>
                <a:gd name="T8" fmla="*/ 166 w 266"/>
                <a:gd name="T9" fmla="*/ 3 h 336"/>
                <a:gd name="T10" fmla="*/ 162 w 266"/>
                <a:gd name="T11" fmla="*/ 1 h 336"/>
                <a:gd name="T12" fmla="*/ 157 w 266"/>
                <a:gd name="T13" fmla="*/ 0 h 336"/>
                <a:gd name="T14" fmla="*/ 13 w 266"/>
                <a:gd name="T15" fmla="*/ 0 h 336"/>
                <a:gd name="T16" fmla="*/ 8 w 266"/>
                <a:gd name="T17" fmla="*/ 1 h 336"/>
                <a:gd name="T18" fmla="*/ 5 w 266"/>
                <a:gd name="T19" fmla="*/ 3 h 336"/>
                <a:gd name="T20" fmla="*/ 1 w 266"/>
                <a:gd name="T21" fmla="*/ 7 h 336"/>
                <a:gd name="T22" fmla="*/ 0 w 266"/>
                <a:gd name="T23" fmla="*/ 11 h 336"/>
                <a:gd name="T24" fmla="*/ 0 w 266"/>
                <a:gd name="T25" fmla="*/ 325 h 336"/>
                <a:gd name="T26" fmla="*/ 1 w 266"/>
                <a:gd name="T27" fmla="*/ 329 h 336"/>
                <a:gd name="T28" fmla="*/ 5 w 266"/>
                <a:gd name="T29" fmla="*/ 333 h 336"/>
                <a:gd name="T30" fmla="*/ 8 w 266"/>
                <a:gd name="T31" fmla="*/ 335 h 336"/>
                <a:gd name="T32" fmla="*/ 13 w 266"/>
                <a:gd name="T33" fmla="*/ 336 h 336"/>
                <a:gd name="T34" fmla="*/ 253 w 266"/>
                <a:gd name="T35" fmla="*/ 336 h 336"/>
                <a:gd name="T36" fmla="*/ 258 w 266"/>
                <a:gd name="T37" fmla="*/ 335 h 336"/>
                <a:gd name="T38" fmla="*/ 263 w 266"/>
                <a:gd name="T39" fmla="*/ 333 h 336"/>
                <a:gd name="T40" fmla="*/ 265 w 266"/>
                <a:gd name="T41" fmla="*/ 329 h 336"/>
                <a:gd name="T42" fmla="*/ 266 w 266"/>
                <a:gd name="T43" fmla="*/ 325 h 336"/>
                <a:gd name="T44" fmla="*/ 266 w 266"/>
                <a:gd name="T45" fmla="*/ 108 h 336"/>
                <a:gd name="T46" fmla="*/ 265 w 266"/>
                <a:gd name="T47" fmla="*/ 104 h 336"/>
                <a:gd name="T48" fmla="*/ 263 w 266"/>
                <a:gd name="T49" fmla="*/ 100 h 336"/>
                <a:gd name="T50" fmla="*/ 166 w 266"/>
                <a:gd name="T51" fmla="*/ 3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6" h="336">
                  <a:moveTo>
                    <a:pt x="157" y="108"/>
                  </a:moveTo>
                  <a:lnTo>
                    <a:pt x="157" y="11"/>
                  </a:lnTo>
                  <a:lnTo>
                    <a:pt x="252" y="108"/>
                  </a:lnTo>
                  <a:lnTo>
                    <a:pt x="157" y="108"/>
                  </a:lnTo>
                  <a:close/>
                  <a:moveTo>
                    <a:pt x="166" y="3"/>
                  </a:moveTo>
                  <a:lnTo>
                    <a:pt x="162" y="1"/>
                  </a:lnTo>
                  <a:lnTo>
                    <a:pt x="157" y="0"/>
                  </a:lnTo>
                  <a:lnTo>
                    <a:pt x="13" y="0"/>
                  </a:lnTo>
                  <a:lnTo>
                    <a:pt x="8" y="1"/>
                  </a:lnTo>
                  <a:lnTo>
                    <a:pt x="5" y="3"/>
                  </a:lnTo>
                  <a:lnTo>
                    <a:pt x="1" y="7"/>
                  </a:lnTo>
                  <a:lnTo>
                    <a:pt x="0" y="11"/>
                  </a:lnTo>
                  <a:lnTo>
                    <a:pt x="0" y="325"/>
                  </a:lnTo>
                  <a:lnTo>
                    <a:pt x="1" y="329"/>
                  </a:lnTo>
                  <a:lnTo>
                    <a:pt x="5" y="333"/>
                  </a:lnTo>
                  <a:lnTo>
                    <a:pt x="8" y="335"/>
                  </a:lnTo>
                  <a:lnTo>
                    <a:pt x="13" y="336"/>
                  </a:lnTo>
                  <a:lnTo>
                    <a:pt x="253" y="336"/>
                  </a:lnTo>
                  <a:lnTo>
                    <a:pt x="258" y="335"/>
                  </a:lnTo>
                  <a:lnTo>
                    <a:pt x="263" y="333"/>
                  </a:lnTo>
                  <a:lnTo>
                    <a:pt x="265" y="329"/>
                  </a:lnTo>
                  <a:lnTo>
                    <a:pt x="266" y="325"/>
                  </a:lnTo>
                  <a:lnTo>
                    <a:pt x="266" y="108"/>
                  </a:lnTo>
                  <a:lnTo>
                    <a:pt x="265" y="104"/>
                  </a:lnTo>
                  <a:lnTo>
                    <a:pt x="263" y="100"/>
                  </a:lnTo>
                  <a:lnTo>
                    <a:pt x="16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grpSp>
        <p:nvGrpSpPr>
          <p:cNvPr id="21" name="Group 20" descr="This image is an icon of two sheets of paper. ">
            <a:extLst>
              <a:ext uri="{FF2B5EF4-FFF2-40B4-BE49-F238E27FC236}">
                <a16:creationId xmlns:a16="http://schemas.microsoft.com/office/drawing/2014/main" xmlns="" id="{411839F8-FB7F-4D1C-9734-BE03FFF894B2}"/>
              </a:ext>
            </a:extLst>
          </p:cNvPr>
          <p:cNvGrpSpPr/>
          <p:nvPr/>
        </p:nvGrpSpPr>
        <p:grpSpPr>
          <a:xfrm>
            <a:off x="9391405" y="3139847"/>
            <a:ext cx="287338" cy="285750"/>
            <a:chOff x="4319588" y="1370013"/>
            <a:chExt cx="287338" cy="285750"/>
          </a:xfrm>
          <a:solidFill>
            <a:schemeClr val="accent3">
              <a:lumMod val="75000"/>
            </a:schemeClr>
          </a:solidFill>
        </p:grpSpPr>
        <p:sp>
          <p:nvSpPr>
            <p:cNvPr id="22" name="Freeform 1084">
              <a:extLst>
                <a:ext uri="{FF2B5EF4-FFF2-40B4-BE49-F238E27FC236}">
                  <a16:creationId xmlns:a16="http://schemas.microsoft.com/office/drawing/2014/main" xmlns="" id="{07EEFD79-9F4F-4E94-94F0-8CD35D787759}"/>
                </a:ext>
              </a:extLst>
            </p:cNvPr>
            <p:cNvSpPr>
              <a:spLocks noEditPoints="1"/>
            </p:cNvSpPr>
            <p:nvPr/>
          </p:nvSpPr>
          <p:spPr bwMode="auto">
            <a:xfrm>
              <a:off x="4319588" y="1370013"/>
              <a:ext cx="161925" cy="209550"/>
            </a:xfrm>
            <a:custGeom>
              <a:avLst/>
              <a:gdLst>
                <a:gd name="T0" fmla="*/ 278 w 410"/>
                <a:gd name="T1" fmla="*/ 133 h 529"/>
                <a:gd name="T2" fmla="*/ 278 w 410"/>
                <a:gd name="T3" fmla="*/ 12 h 529"/>
                <a:gd name="T4" fmla="*/ 398 w 410"/>
                <a:gd name="T5" fmla="*/ 133 h 529"/>
                <a:gd name="T6" fmla="*/ 278 w 410"/>
                <a:gd name="T7" fmla="*/ 133 h 529"/>
                <a:gd name="T8" fmla="*/ 410 w 410"/>
                <a:gd name="T9" fmla="*/ 133 h 529"/>
                <a:gd name="T10" fmla="*/ 409 w 410"/>
                <a:gd name="T11" fmla="*/ 129 h 529"/>
                <a:gd name="T12" fmla="*/ 406 w 410"/>
                <a:gd name="T13" fmla="*/ 123 h 529"/>
                <a:gd name="T14" fmla="*/ 286 w 410"/>
                <a:gd name="T15" fmla="*/ 3 h 529"/>
                <a:gd name="T16" fmla="*/ 282 w 410"/>
                <a:gd name="T17" fmla="*/ 1 h 529"/>
                <a:gd name="T18" fmla="*/ 278 w 410"/>
                <a:gd name="T19" fmla="*/ 0 h 529"/>
                <a:gd name="T20" fmla="*/ 12 w 410"/>
                <a:gd name="T21" fmla="*/ 0 h 529"/>
                <a:gd name="T22" fmla="*/ 7 w 410"/>
                <a:gd name="T23" fmla="*/ 1 h 529"/>
                <a:gd name="T24" fmla="*/ 4 w 410"/>
                <a:gd name="T25" fmla="*/ 3 h 529"/>
                <a:gd name="T26" fmla="*/ 1 w 410"/>
                <a:gd name="T27" fmla="*/ 7 h 529"/>
                <a:gd name="T28" fmla="*/ 0 w 410"/>
                <a:gd name="T29" fmla="*/ 12 h 529"/>
                <a:gd name="T30" fmla="*/ 0 w 410"/>
                <a:gd name="T31" fmla="*/ 518 h 529"/>
                <a:gd name="T32" fmla="*/ 1 w 410"/>
                <a:gd name="T33" fmla="*/ 522 h 529"/>
                <a:gd name="T34" fmla="*/ 4 w 410"/>
                <a:gd name="T35" fmla="*/ 526 h 529"/>
                <a:gd name="T36" fmla="*/ 7 w 410"/>
                <a:gd name="T37" fmla="*/ 529 h 529"/>
                <a:gd name="T38" fmla="*/ 12 w 410"/>
                <a:gd name="T39" fmla="*/ 529 h 529"/>
                <a:gd name="T40" fmla="*/ 290 w 410"/>
                <a:gd name="T41" fmla="*/ 529 h 529"/>
                <a:gd name="T42" fmla="*/ 290 w 410"/>
                <a:gd name="T43" fmla="*/ 181 h 529"/>
                <a:gd name="T44" fmla="*/ 290 w 410"/>
                <a:gd name="T45" fmla="*/ 177 h 529"/>
                <a:gd name="T46" fmla="*/ 293 w 410"/>
                <a:gd name="T47" fmla="*/ 172 h 529"/>
                <a:gd name="T48" fmla="*/ 297 w 410"/>
                <a:gd name="T49" fmla="*/ 169 h 529"/>
                <a:gd name="T50" fmla="*/ 301 w 410"/>
                <a:gd name="T51" fmla="*/ 168 h 529"/>
                <a:gd name="T52" fmla="*/ 410 w 410"/>
                <a:gd name="T53" fmla="*/ 168 h 529"/>
                <a:gd name="T54" fmla="*/ 410 w 410"/>
                <a:gd name="T55" fmla="*/ 13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10" h="529">
                  <a:moveTo>
                    <a:pt x="278" y="133"/>
                  </a:moveTo>
                  <a:lnTo>
                    <a:pt x="278" y="12"/>
                  </a:lnTo>
                  <a:lnTo>
                    <a:pt x="398" y="133"/>
                  </a:lnTo>
                  <a:lnTo>
                    <a:pt x="278" y="133"/>
                  </a:lnTo>
                  <a:close/>
                  <a:moveTo>
                    <a:pt x="410" y="133"/>
                  </a:moveTo>
                  <a:lnTo>
                    <a:pt x="409" y="129"/>
                  </a:lnTo>
                  <a:lnTo>
                    <a:pt x="406" y="123"/>
                  </a:lnTo>
                  <a:lnTo>
                    <a:pt x="286" y="3"/>
                  </a:lnTo>
                  <a:lnTo>
                    <a:pt x="282" y="1"/>
                  </a:lnTo>
                  <a:lnTo>
                    <a:pt x="278" y="0"/>
                  </a:lnTo>
                  <a:lnTo>
                    <a:pt x="12" y="0"/>
                  </a:lnTo>
                  <a:lnTo>
                    <a:pt x="7" y="1"/>
                  </a:lnTo>
                  <a:lnTo>
                    <a:pt x="4" y="3"/>
                  </a:lnTo>
                  <a:lnTo>
                    <a:pt x="1" y="7"/>
                  </a:lnTo>
                  <a:lnTo>
                    <a:pt x="0" y="12"/>
                  </a:lnTo>
                  <a:lnTo>
                    <a:pt x="0" y="518"/>
                  </a:lnTo>
                  <a:lnTo>
                    <a:pt x="1" y="522"/>
                  </a:lnTo>
                  <a:lnTo>
                    <a:pt x="4" y="526"/>
                  </a:lnTo>
                  <a:lnTo>
                    <a:pt x="7" y="529"/>
                  </a:lnTo>
                  <a:lnTo>
                    <a:pt x="12" y="529"/>
                  </a:lnTo>
                  <a:lnTo>
                    <a:pt x="290" y="529"/>
                  </a:lnTo>
                  <a:lnTo>
                    <a:pt x="290" y="181"/>
                  </a:lnTo>
                  <a:lnTo>
                    <a:pt x="290" y="177"/>
                  </a:lnTo>
                  <a:lnTo>
                    <a:pt x="293" y="172"/>
                  </a:lnTo>
                  <a:lnTo>
                    <a:pt x="297" y="169"/>
                  </a:lnTo>
                  <a:lnTo>
                    <a:pt x="301" y="168"/>
                  </a:lnTo>
                  <a:lnTo>
                    <a:pt x="410" y="168"/>
                  </a:lnTo>
                  <a:lnTo>
                    <a:pt x="410"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3" name="Freeform 1085">
              <a:extLst>
                <a:ext uri="{FF2B5EF4-FFF2-40B4-BE49-F238E27FC236}">
                  <a16:creationId xmlns:a16="http://schemas.microsoft.com/office/drawing/2014/main" xmlns="" id="{1EA0DC39-43EE-4E75-8303-A6AAAF344A20}"/>
                </a:ext>
              </a:extLst>
            </p:cNvPr>
            <p:cNvSpPr>
              <a:spLocks/>
            </p:cNvSpPr>
            <p:nvPr/>
          </p:nvSpPr>
          <p:spPr bwMode="auto">
            <a:xfrm>
              <a:off x="4505325" y="1374775"/>
              <a:ext cx="90488" cy="66675"/>
            </a:xfrm>
            <a:custGeom>
              <a:avLst/>
              <a:gdLst>
                <a:gd name="T0" fmla="*/ 2 w 229"/>
                <a:gd name="T1" fmla="*/ 80 h 169"/>
                <a:gd name="T2" fmla="*/ 3 w 229"/>
                <a:gd name="T3" fmla="*/ 82 h 169"/>
                <a:gd name="T4" fmla="*/ 64 w 229"/>
                <a:gd name="T5" fmla="*/ 141 h 169"/>
                <a:gd name="T6" fmla="*/ 73 w 229"/>
                <a:gd name="T7" fmla="*/ 144 h 169"/>
                <a:gd name="T8" fmla="*/ 81 w 229"/>
                <a:gd name="T9" fmla="*/ 141 h 169"/>
                <a:gd name="T10" fmla="*/ 84 w 229"/>
                <a:gd name="T11" fmla="*/ 132 h 169"/>
                <a:gd name="T12" fmla="*/ 81 w 229"/>
                <a:gd name="T13" fmla="*/ 124 h 169"/>
                <a:gd name="T14" fmla="*/ 163 w 229"/>
                <a:gd name="T15" fmla="*/ 85 h 169"/>
                <a:gd name="T16" fmla="*/ 179 w 229"/>
                <a:gd name="T17" fmla="*/ 88 h 169"/>
                <a:gd name="T18" fmla="*/ 192 w 229"/>
                <a:gd name="T19" fmla="*/ 96 h 169"/>
                <a:gd name="T20" fmla="*/ 201 w 229"/>
                <a:gd name="T21" fmla="*/ 107 h 169"/>
                <a:gd name="T22" fmla="*/ 204 w 229"/>
                <a:gd name="T23" fmla="*/ 121 h 169"/>
                <a:gd name="T24" fmla="*/ 205 w 229"/>
                <a:gd name="T25" fmla="*/ 161 h 169"/>
                <a:gd name="T26" fmla="*/ 212 w 229"/>
                <a:gd name="T27" fmla="*/ 168 h 169"/>
                <a:gd name="T28" fmla="*/ 222 w 229"/>
                <a:gd name="T29" fmla="*/ 168 h 169"/>
                <a:gd name="T30" fmla="*/ 228 w 229"/>
                <a:gd name="T31" fmla="*/ 161 h 169"/>
                <a:gd name="T32" fmla="*/ 229 w 229"/>
                <a:gd name="T33" fmla="*/ 121 h 169"/>
                <a:gd name="T34" fmla="*/ 228 w 229"/>
                <a:gd name="T35" fmla="*/ 108 h 169"/>
                <a:gd name="T36" fmla="*/ 223 w 229"/>
                <a:gd name="T37" fmla="*/ 97 h 169"/>
                <a:gd name="T38" fmla="*/ 217 w 229"/>
                <a:gd name="T39" fmla="*/ 87 h 169"/>
                <a:gd name="T40" fmla="*/ 207 w 229"/>
                <a:gd name="T41" fmla="*/ 78 h 169"/>
                <a:gd name="T42" fmla="*/ 187 w 229"/>
                <a:gd name="T43" fmla="*/ 66 h 169"/>
                <a:gd name="T44" fmla="*/ 176 w 229"/>
                <a:gd name="T45" fmla="*/ 63 h 169"/>
                <a:gd name="T46" fmla="*/ 163 w 229"/>
                <a:gd name="T47" fmla="*/ 62 h 169"/>
                <a:gd name="T48" fmla="*/ 81 w 229"/>
                <a:gd name="T49" fmla="*/ 21 h 169"/>
                <a:gd name="T50" fmla="*/ 85 w 229"/>
                <a:gd name="T51" fmla="*/ 13 h 169"/>
                <a:gd name="T52" fmla="*/ 81 w 229"/>
                <a:gd name="T53" fmla="*/ 3 h 169"/>
                <a:gd name="T54" fmla="*/ 73 w 229"/>
                <a:gd name="T55" fmla="*/ 0 h 169"/>
                <a:gd name="T56" fmla="*/ 65 w 229"/>
                <a:gd name="T57" fmla="*/ 3 h 169"/>
                <a:gd name="T58" fmla="*/ 2 w 229"/>
                <a:gd name="T59" fmla="*/ 67 h 169"/>
                <a:gd name="T60" fmla="*/ 0 w 229"/>
                <a:gd name="T61" fmla="*/ 71 h 169"/>
                <a:gd name="T62" fmla="*/ 0 w 229"/>
                <a:gd name="T63" fmla="*/ 73 h 169"/>
                <a:gd name="T64" fmla="*/ 0 w 229"/>
                <a:gd name="T65" fmla="*/ 74 h 169"/>
                <a:gd name="T66" fmla="*/ 1 w 229"/>
                <a:gd name="T67"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9" h="169">
                  <a:moveTo>
                    <a:pt x="1" y="78"/>
                  </a:moveTo>
                  <a:lnTo>
                    <a:pt x="2" y="80"/>
                  </a:lnTo>
                  <a:lnTo>
                    <a:pt x="3" y="82"/>
                  </a:lnTo>
                  <a:lnTo>
                    <a:pt x="3" y="82"/>
                  </a:lnTo>
                  <a:lnTo>
                    <a:pt x="3" y="82"/>
                  </a:lnTo>
                  <a:lnTo>
                    <a:pt x="64" y="141"/>
                  </a:lnTo>
                  <a:lnTo>
                    <a:pt x="68" y="143"/>
                  </a:lnTo>
                  <a:lnTo>
                    <a:pt x="73" y="144"/>
                  </a:lnTo>
                  <a:lnTo>
                    <a:pt x="77" y="143"/>
                  </a:lnTo>
                  <a:lnTo>
                    <a:pt x="81" y="141"/>
                  </a:lnTo>
                  <a:lnTo>
                    <a:pt x="83" y="137"/>
                  </a:lnTo>
                  <a:lnTo>
                    <a:pt x="84" y="132"/>
                  </a:lnTo>
                  <a:lnTo>
                    <a:pt x="83" y="128"/>
                  </a:lnTo>
                  <a:lnTo>
                    <a:pt x="81" y="124"/>
                  </a:lnTo>
                  <a:lnTo>
                    <a:pt x="41" y="85"/>
                  </a:lnTo>
                  <a:lnTo>
                    <a:pt x="163" y="85"/>
                  </a:lnTo>
                  <a:lnTo>
                    <a:pt x="172" y="86"/>
                  </a:lnTo>
                  <a:lnTo>
                    <a:pt x="179" y="88"/>
                  </a:lnTo>
                  <a:lnTo>
                    <a:pt x="186" y="92"/>
                  </a:lnTo>
                  <a:lnTo>
                    <a:pt x="192" y="96"/>
                  </a:lnTo>
                  <a:lnTo>
                    <a:pt x="197" y="102"/>
                  </a:lnTo>
                  <a:lnTo>
                    <a:pt x="201" y="107"/>
                  </a:lnTo>
                  <a:lnTo>
                    <a:pt x="203" y="114"/>
                  </a:lnTo>
                  <a:lnTo>
                    <a:pt x="204" y="121"/>
                  </a:lnTo>
                  <a:lnTo>
                    <a:pt x="204" y="156"/>
                  </a:lnTo>
                  <a:lnTo>
                    <a:pt x="205" y="161"/>
                  </a:lnTo>
                  <a:lnTo>
                    <a:pt x="208" y="166"/>
                  </a:lnTo>
                  <a:lnTo>
                    <a:pt x="212" y="168"/>
                  </a:lnTo>
                  <a:lnTo>
                    <a:pt x="217" y="169"/>
                  </a:lnTo>
                  <a:lnTo>
                    <a:pt x="222" y="168"/>
                  </a:lnTo>
                  <a:lnTo>
                    <a:pt x="226" y="166"/>
                  </a:lnTo>
                  <a:lnTo>
                    <a:pt x="228" y="161"/>
                  </a:lnTo>
                  <a:lnTo>
                    <a:pt x="229" y="156"/>
                  </a:lnTo>
                  <a:lnTo>
                    <a:pt x="229" y="121"/>
                  </a:lnTo>
                  <a:lnTo>
                    <a:pt x="229" y="115"/>
                  </a:lnTo>
                  <a:lnTo>
                    <a:pt x="228" y="108"/>
                  </a:lnTo>
                  <a:lnTo>
                    <a:pt x="226" y="102"/>
                  </a:lnTo>
                  <a:lnTo>
                    <a:pt x="223" y="97"/>
                  </a:lnTo>
                  <a:lnTo>
                    <a:pt x="220" y="92"/>
                  </a:lnTo>
                  <a:lnTo>
                    <a:pt x="217" y="87"/>
                  </a:lnTo>
                  <a:lnTo>
                    <a:pt x="212" y="82"/>
                  </a:lnTo>
                  <a:lnTo>
                    <a:pt x="207" y="78"/>
                  </a:lnTo>
                  <a:lnTo>
                    <a:pt x="197" y="71"/>
                  </a:lnTo>
                  <a:lnTo>
                    <a:pt x="187" y="66"/>
                  </a:lnTo>
                  <a:lnTo>
                    <a:pt x="181" y="64"/>
                  </a:lnTo>
                  <a:lnTo>
                    <a:pt x="176" y="63"/>
                  </a:lnTo>
                  <a:lnTo>
                    <a:pt x="170" y="62"/>
                  </a:lnTo>
                  <a:lnTo>
                    <a:pt x="163" y="62"/>
                  </a:lnTo>
                  <a:lnTo>
                    <a:pt x="41" y="62"/>
                  </a:lnTo>
                  <a:lnTo>
                    <a:pt x="81" y="21"/>
                  </a:lnTo>
                  <a:lnTo>
                    <a:pt x="84" y="17"/>
                  </a:lnTo>
                  <a:lnTo>
                    <a:pt x="85" y="13"/>
                  </a:lnTo>
                  <a:lnTo>
                    <a:pt x="84" y="7"/>
                  </a:lnTo>
                  <a:lnTo>
                    <a:pt x="81" y="3"/>
                  </a:lnTo>
                  <a:lnTo>
                    <a:pt x="77" y="0"/>
                  </a:lnTo>
                  <a:lnTo>
                    <a:pt x="73" y="0"/>
                  </a:lnTo>
                  <a:lnTo>
                    <a:pt x="69" y="0"/>
                  </a:lnTo>
                  <a:lnTo>
                    <a:pt x="65" y="3"/>
                  </a:lnTo>
                  <a:lnTo>
                    <a:pt x="3" y="65"/>
                  </a:lnTo>
                  <a:lnTo>
                    <a:pt x="2" y="67"/>
                  </a:lnTo>
                  <a:lnTo>
                    <a:pt x="1" y="69"/>
                  </a:lnTo>
                  <a:lnTo>
                    <a:pt x="0" y="71"/>
                  </a:lnTo>
                  <a:lnTo>
                    <a:pt x="0" y="72"/>
                  </a:lnTo>
                  <a:lnTo>
                    <a:pt x="0" y="73"/>
                  </a:lnTo>
                  <a:lnTo>
                    <a:pt x="0" y="74"/>
                  </a:lnTo>
                  <a:lnTo>
                    <a:pt x="0" y="74"/>
                  </a:lnTo>
                  <a:lnTo>
                    <a:pt x="0" y="76"/>
                  </a:lnTo>
                  <a:lnTo>
                    <a:pt x="1"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4" name="Freeform 1086">
              <a:extLst>
                <a:ext uri="{FF2B5EF4-FFF2-40B4-BE49-F238E27FC236}">
                  <a16:creationId xmlns:a16="http://schemas.microsoft.com/office/drawing/2014/main" xmlns="" id="{D8023874-1D0B-4F45-BAF8-7FD883B21079}"/>
                </a:ext>
              </a:extLst>
            </p:cNvPr>
            <p:cNvSpPr>
              <a:spLocks/>
            </p:cNvSpPr>
            <p:nvPr/>
          </p:nvSpPr>
          <p:spPr bwMode="auto">
            <a:xfrm>
              <a:off x="4329113" y="1593850"/>
              <a:ext cx="90488" cy="58738"/>
            </a:xfrm>
            <a:custGeom>
              <a:avLst/>
              <a:gdLst>
                <a:gd name="T0" fmla="*/ 225 w 228"/>
                <a:gd name="T1" fmla="*/ 65 h 146"/>
                <a:gd name="T2" fmla="*/ 165 w 228"/>
                <a:gd name="T3" fmla="*/ 5 h 146"/>
                <a:gd name="T4" fmla="*/ 161 w 228"/>
                <a:gd name="T5" fmla="*/ 2 h 146"/>
                <a:gd name="T6" fmla="*/ 156 w 228"/>
                <a:gd name="T7" fmla="*/ 1 h 146"/>
                <a:gd name="T8" fmla="*/ 152 w 228"/>
                <a:gd name="T9" fmla="*/ 2 h 146"/>
                <a:gd name="T10" fmla="*/ 148 w 228"/>
                <a:gd name="T11" fmla="*/ 5 h 146"/>
                <a:gd name="T12" fmla="*/ 145 w 228"/>
                <a:gd name="T13" fmla="*/ 8 h 146"/>
                <a:gd name="T14" fmla="*/ 144 w 228"/>
                <a:gd name="T15" fmla="*/ 13 h 146"/>
                <a:gd name="T16" fmla="*/ 145 w 228"/>
                <a:gd name="T17" fmla="*/ 17 h 146"/>
                <a:gd name="T18" fmla="*/ 148 w 228"/>
                <a:gd name="T19" fmla="*/ 21 h 146"/>
                <a:gd name="T20" fmla="*/ 187 w 228"/>
                <a:gd name="T21" fmla="*/ 61 h 146"/>
                <a:gd name="T22" fmla="*/ 64 w 228"/>
                <a:gd name="T23" fmla="*/ 61 h 146"/>
                <a:gd name="T24" fmla="*/ 58 w 228"/>
                <a:gd name="T25" fmla="*/ 61 h 146"/>
                <a:gd name="T26" fmla="*/ 51 w 228"/>
                <a:gd name="T27" fmla="*/ 60 h 146"/>
                <a:gd name="T28" fmla="*/ 45 w 228"/>
                <a:gd name="T29" fmla="*/ 58 h 146"/>
                <a:gd name="T30" fmla="*/ 37 w 228"/>
                <a:gd name="T31" fmla="*/ 55 h 146"/>
                <a:gd name="T32" fmla="*/ 32 w 228"/>
                <a:gd name="T33" fmla="*/ 52 h 146"/>
                <a:gd name="T34" fmla="*/ 27 w 228"/>
                <a:gd name="T35" fmla="*/ 48 h 146"/>
                <a:gd name="T36" fmla="*/ 26 w 228"/>
                <a:gd name="T37" fmla="*/ 45 h 146"/>
                <a:gd name="T38" fmla="*/ 24 w 228"/>
                <a:gd name="T39" fmla="*/ 42 h 146"/>
                <a:gd name="T40" fmla="*/ 24 w 228"/>
                <a:gd name="T41" fmla="*/ 39 h 146"/>
                <a:gd name="T42" fmla="*/ 23 w 228"/>
                <a:gd name="T43" fmla="*/ 36 h 146"/>
                <a:gd name="T44" fmla="*/ 23 w 228"/>
                <a:gd name="T45" fmla="*/ 12 h 146"/>
                <a:gd name="T46" fmla="*/ 22 w 228"/>
                <a:gd name="T47" fmla="*/ 7 h 146"/>
                <a:gd name="T48" fmla="*/ 20 w 228"/>
                <a:gd name="T49" fmla="*/ 4 h 146"/>
                <a:gd name="T50" fmla="*/ 16 w 228"/>
                <a:gd name="T51" fmla="*/ 1 h 146"/>
                <a:gd name="T52" fmla="*/ 12 w 228"/>
                <a:gd name="T53" fmla="*/ 0 h 146"/>
                <a:gd name="T54" fmla="*/ 7 w 228"/>
                <a:gd name="T55" fmla="*/ 1 h 146"/>
                <a:gd name="T56" fmla="*/ 3 w 228"/>
                <a:gd name="T57" fmla="*/ 4 h 146"/>
                <a:gd name="T58" fmla="*/ 1 w 228"/>
                <a:gd name="T59" fmla="*/ 7 h 146"/>
                <a:gd name="T60" fmla="*/ 0 w 228"/>
                <a:gd name="T61" fmla="*/ 12 h 146"/>
                <a:gd name="T62" fmla="*/ 0 w 228"/>
                <a:gd name="T63" fmla="*/ 36 h 146"/>
                <a:gd name="T64" fmla="*/ 0 w 228"/>
                <a:gd name="T65" fmla="*/ 42 h 146"/>
                <a:gd name="T66" fmla="*/ 1 w 228"/>
                <a:gd name="T67" fmla="*/ 48 h 146"/>
                <a:gd name="T68" fmla="*/ 3 w 228"/>
                <a:gd name="T69" fmla="*/ 53 h 146"/>
                <a:gd name="T70" fmla="*/ 5 w 228"/>
                <a:gd name="T71" fmla="*/ 58 h 146"/>
                <a:gd name="T72" fmla="*/ 8 w 228"/>
                <a:gd name="T73" fmla="*/ 62 h 146"/>
                <a:gd name="T74" fmla="*/ 12 w 228"/>
                <a:gd name="T75" fmla="*/ 66 h 146"/>
                <a:gd name="T76" fmla="*/ 16 w 228"/>
                <a:gd name="T77" fmla="*/ 70 h 146"/>
                <a:gd name="T78" fmla="*/ 20 w 228"/>
                <a:gd name="T79" fmla="*/ 73 h 146"/>
                <a:gd name="T80" fmla="*/ 30 w 228"/>
                <a:gd name="T81" fmla="*/ 79 h 146"/>
                <a:gd name="T82" fmla="*/ 41 w 228"/>
                <a:gd name="T83" fmla="*/ 83 h 146"/>
                <a:gd name="T84" fmla="*/ 53 w 228"/>
                <a:gd name="T85" fmla="*/ 85 h 146"/>
                <a:gd name="T86" fmla="*/ 64 w 228"/>
                <a:gd name="T87" fmla="*/ 86 h 146"/>
                <a:gd name="T88" fmla="*/ 187 w 228"/>
                <a:gd name="T89" fmla="*/ 86 h 146"/>
                <a:gd name="T90" fmla="*/ 148 w 228"/>
                <a:gd name="T91" fmla="*/ 125 h 146"/>
                <a:gd name="T92" fmla="*/ 145 w 228"/>
                <a:gd name="T93" fmla="*/ 130 h 146"/>
                <a:gd name="T94" fmla="*/ 144 w 228"/>
                <a:gd name="T95" fmla="*/ 134 h 146"/>
                <a:gd name="T96" fmla="*/ 145 w 228"/>
                <a:gd name="T97" fmla="*/ 138 h 146"/>
                <a:gd name="T98" fmla="*/ 148 w 228"/>
                <a:gd name="T99" fmla="*/ 142 h 146"/>
                <a:gd name="T100" fmla="*/ 152 w 228"/>
                <a:gd name="T101" fmla="*/ 145 h 146"/>
                <a:gd name="T102" fmla="*/ 156 w 228"/>
                <a:gd name="T103" fmla="*/ 146 h 146"/>
                <a:gd name="T104" fmla="*/ 161 w 228"/>
                <a:gd name="T105" fmla="*/ 145 h 146"/>
                <a:gd name="T106" fmla="*/ 165 w 228"/>
                <a:gd name="T107" fmla="*/ 142 h 146"/>
                <a:gd name="T108" fmla="*/ 225 w 228"/>
                <a:gd name="T109" fmla="*/ 82 h 146"/>
                <a:gd name="T110" fmla="*/ 226 w 228"/>
                <a:gd name="T111" fmla="*/ 80 h 146"/>
                <a:gd name="T112" fmla="*/ 227 w 228"/>
                <a:gd name="T113" fmla="*/ 79 h 146"/>
                <a:gd name="T114" fmla="*/ 228 w 228"/>
                <a:gd name="T115" fmla="*/ 72 h 146"/>
                <a:gd name="T116" fmla="*/ 227 w 228"/>
                <a:gd name="T117" fmla="*/ 68 h 146"/>
                <a:gd name="T118" fmla="*/ 226 w 228"/>
                <a:gd name="T119" fmla="*/ 66 h 146"/>
                <a:gd name="T120" fmla="*/ 225 w 228"/>
                <a:gd name="T121" fmla="*/ 65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28" h="146">
                  <a:moveTo>
                    <a:pt x="225" y="65"/>
                  </a:moveTo>
                  <a:lnTo>
                    <a:pt x="165" y="5"/>
                  </a:lnTo>
                  <a:lnTo>
                    <a:pt x="161" y="2"/>
                  </a:lnTo>
                  <a:lnTo>
                    <a:pt x="156" y="1"/>
                  </a:lnTo>
                  <a:lnTo>
                    <a:pt x="152" y="2"/>
                  </a:lnTo>
                  <a:lnTo>
                    <a:pt x="148" y="5"/>
                  </a:lnTo>
                  <a:lnTo>
                    <a:pt x="145" y="8"/>
                  </a:lnTo>
                  <a:lnTo>
                    <a:pt x="144" y="13"/>
                  </a:lnTo>
                  <a:lnTo>
                    <a:pt x="145" y="17"/>
                  </a:lnTo>
                  <a:lnTo>
                    <a:pt x="148" y="21"/>
                  </a:lnTo>
                  <a:lnTo>
                    <a:pt x="187" y="61"/>
                  </a:lnTo>
                  <a:lnTo>
                    <a:pt x="64" y="61"/>
                  </a:lnTo>
                  <a:lnTo>
                    <a:pt x="58" y="61"/>
                  </a:lnTo>
                  <a:lnTo>
                    <a:pt x="51" y="60"/>
                  </a:lnTo>
                  <a:lnTo>
                    <a:pt x="45" y="58"/>
                  </a:lnTo>
                  <a:lnTo>
                    <a:pt x="37" y="55"/>
                  </a:lnTo>
                  <a:lnTo>
                    <a:pt x="32" y="52"/>
                  </a:lnTo>
                  <a:lnTo>
                    <a:pt x="27" y="48"/>
                  </a:lnTo>
                  <a:lnTo>
                    <a:pt x="26" y="45"/>
                  </a:lnTo>
                  <a:lnTo>
                    <a:pt x="24" y="42"/>
                  </a:lnTo>
                  <a:lnTo>
                    <a:pt x="24" y="39"/>
                  </a:lnTo>
                  <a:lnTo>
                    <a:pt x="23" y="36"/>
                  </a:lnTo>
                  <a:lnTo>
                    <a:pt x="23" y="12"/>
                  </a:lnTo>
                  <a:lnTo>
                    <a:pt x="22" y="7"/>
                  </a:lnTo>
                  <a:lnTo>
                    <a:pt x="20" y="4"/>
                  </a:lnTo>
                  <a:lnTo>
                    <a:pt x="16" y="1"/>
                  </a:lnTo>
                  <a:lnTo>
                    <a:pt x="12" y="0"/>
                  </a:lnTo>
                  <a:lnTo>
                    <a:pt x="7" y="1"/>
                  </a:lnTo>
                  <a:lnTo>
                    <a:pt x="3" y="4"/>
                  </a:lnTo>
                  <a:lnTo>
                    <a:pt x="1" y="7"/>
                  </a:lnTo>
                  <a:lnTo>
                    <a:pt x="0" y="12"/>
                  </a:lnTo>
                  <a:lnTo>
                    <a:pt x="0" y="36"/>
                  </a:lnTo>
                  <a:lnTo>
                    <a:pt x="0" y="42"/>
                  </a:lnTo>
                  <a:lnTo>
                    <a:pt x="1" y="48"/>
                  </a:lnTo>
                  <a:lnTo>
                    <a:pt x="3" y="53"/>
                  </a:lnTo>
                  <a:lnTo>
                    <a:pt x="5" y="58"/>
                  </a:lnTo>
                  <a:lnTo>
                    <a:pt x="8" y="62"/>
                  </a:lnTo>
                  <a:lnTo>
                    <a:pt x="12" y="66"/>
                  </a:lnTo>
                  <a:lnTo>
                    <a:pt x="16" y="70"/>
                  </a:lnTo>
                  <a:lnTo>
                    <a:pt x="20" y="73"/>
                  </a:lnTo>
                  <a:lnTo>
                    <a:pt x="30" y="79"/>
                  </a:lnTo>
                  <a:lnTo>
                    <a:pt x="41" y="83"/>
                  </a:lnTo>
                  <a:lnTo>
                    <a:pt x="53" y="85"/>
                  </a:lnTo>
                  <a:lnTo>
                    <a:pt x="64" y="86"/>
                  </a:lnTo>
                  <a:lnTo>
                    <a:pt x="187" y="86"/>
                  </a:lnTo>
                  <a:lnTo>
                    <a:pt x="148" y="125"/>
                  </a:lnTo>
                  <a:lnTo>
                    <a:pt x="145" y="130"/>
                  </a:lnTo>
                  <a:lnTo>
                    <a:pt x="144" y="134"/>
                  </a:lnTo>
                  <a:lnTo>
                    <a:pt x="145" y="138"/>
                  </a:lnTo>
                  <a:lnTo>
                    <a:pt x="148" y="142"/>
                  </a:lnTo>
                  <a:lnTo>
                    <a:pt x="152" y="145"/>
                  </a:lnTo>
                  <a:lnTo>
                    <a:pt x="156" y="146"/>
                  </a:lnTo>
                  <a:lnTo>
                    <a:pt x="161" y="145"/>
                  </a:lnTo>
                  <a:lnTo>
                    <a:pt x="165" y="142"/>
                  </a:lnTo>
                  <a:lnTo>
                    <a:pt x="225" y="82"/>
                  </a:lnTo>
                  <a:lnTo>
                    <a:pt x="226" y="80"/>
                  </a:lnTo>
                  <a:lnTo>
                    <a:pt x="227" y="79"/>
                  </a:lnTo>
                  <a:lnTo>
                    <a:pt x="228" y="72"/>
                  </a:lnTo>
                  <a:lnTo>
                    <a:pt x="227" y="68"/>
                  </a:lnTo>
                  <a:lnTo>
                    <a:pt x="226" y="66"/>
                  </a:lnTo>
                  <a:lnTo>
                    <a:pt x="225" y="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5" name="Freeform 1087">
              <a:extLst>
                <a:ext uri="{FF2B5EF4-FFF2-40B4-BE49-F238E27FC236}">
                  <a16:creationId xmlns:a16="http://schemas.microsoft.com/office/drawing/2014/main" xmlns="" id="{CA85A1E3-5078-4027-BAFF-0C6D14C74A55}"/>
                </a:ext>
              </a:extLst>
            </p:cNvPr>
            <p:cNvSpPr>
              <a:spLocks noEditPoints="1"/>
            </p:cNvSpPr>
            <p:nvPr/>
          </p:nvSpPr>
          <p:spPr bwMode="auto">
            <a:xfrm>
              <a:off x="4443413" y="1446213"/>
              <a:ext cx="163513" cy="209550"/>
            </a:xfrm>
            <a:custGeom>
              <a:avLst/>
              <a:gdLst>
                <a:gd name="T0" fmla="*/ 278 w 410"/>
                <a:gd name="T1" fmla="*/ 132 h 529"/>
                <a:gd name="T2" fmla="*/ 278 w 410"/>
                <a:gd name="T3" fmla="*/ 12 h 529"/>
                <a:gd name="T4" fmla="*/ 398 w 410"/>
                <a:gd name="T5" fmla="*/ 132 h 529"/>
                <a:gd name="T6" fmla="*/ 278 w 410"/>
                <a:gd name="T7" fmla="*/ 132 h 529"/>
                <a:gd name="T8" fmla="*/ 406 w 410"/>
                <a:gd name="T9" fmla="*/ 123 h 529"/>
                <a:gd name="T10" fmla="*/ 286 w 410"/>
                <a:gd name="T11" fmla="*/ 3 h 529"/>
                <a:gd name="T12" fmla="*/ 282 w 410"/>
                <a:gd name="T13" fmla="*/ 1 h 529"/>
                <a:gd name="T14" fmla="*/ 278 w 410"/>
                <a:gd name="T15" fmla="*/ 0 h 529"/>
                <a:gd name="T16" fmla="*/ 13 w 410"/>
                <a:gd name="T17" fmla="*/ 0 h 529"/>
                <a:gd name="T18" fmla="*/ 0 w 410"/>
                <a:gd name="T19" fmla="*/ 0 h 529"/>
                <a:gd name="T20" fmla="*/ 0 w 410"/>
                <a:gd name="T21" fmla="*/ 12 h 529"/>
                <a:gd name="T22" fmla="*/ 0 w 410"/>
                <a:gd name="T23" fmla="*/ 518 h 529"/>
                <a:gd name="T24" fmla="*/ 1 w 410"/>
                <a:gd name="T25" fmla="*/ 522 h 529"/>
                <a:gd name="T26" fmla="*/ 4 w 410"/>
                <a:gd name="T27" fmla="*/ 526 h 529"/>
                <a:gd name="T28" fmla="*/ 7 w 410"/>
                <a:gd name="T29" fmla="*/ 528 h 529"/>
                <a:gd name="T30" fmla="*/ 13 w 410"/>
                <a:gd name="T31" fmla="*/ 529 h 529"/>
                <a:gd name="T32" fmla="*/ 398 w 410"/>
                <a:gd name="T33" fmla="*/ 529 h 529"/>
                <a:gd name="T34" fmla="*/ 402 w 410"/>
                <a:gd name="T35" fmla="*/ 528 h 529"/>
                <a:gd name="T36" fmla="*/ 406 w 410"/>
                <a:gd name="T37" fmla="*/ 526 h 529"/>
                <a:gd name="T38" fmla="*/ 409 w 410"/>
                <a:gd name="T39" fmla="*/ 522 h 529"/>
                <a:gd name="T40" fmla="*/ 410 w 410"/>
                <a:gd name="T41" fmla="*/ 518 h 529"/>
                <a:gd name="T42" fmla="*/ 410 w 410"/>
                <a:gd name="T43" fmla="*/ 132 h 529"/>
                <a:gd name="T44" fmla="*/ 409 w 410"/>
                <a:gd name="T45" fmla="*/ 127 h 529"/>
                <a:gd name="T46" fmla="*/ 406 w 410"/>
                <a:gd name="T47" fmla="*/ 12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0" h="529">
                  <a:moveTo>
                    <a:pt x="278" y="132"/>
                  </a:moveTo>
                  <a:lnTo>
                    <a:pt x="278" y="12"/>
                  </a:lnTo>
                  <a:lnTo>
                    <a:pt x="398" y="132"/>
                  </a:lnTo>
                  <a:lnTo>
                    <a:pt x="278" y="132"/>
                  </a:lnTo>
                  <a:close/>
                  <a:moveTo>
                    <a:pt x="406" y="123"/>
                  </a:moveTo>
                  <a:lnTo>
                    <a:pt x="286" y="3"/>
                  </a:lnTo>
                  <a:lnTo>
                    <a:pt x="282" y="1"/>
                  </a:lnTo>
                  <a:lnTo>
                    <a:pt x="278" y="0"/>
                  </a:lnTo>
                  <a:lnTo>
                    <a:pt x="13" y="0"/>
                  </a:lnTo>
                  <a:lnTo>
                    <a:pt x="0" y="0"/>
                  </a:lnTo>
                  <a:lnTo>
                    <a:pt x="0" y="12"/>
                  </a:lnTo>
                  <a:lnTo>
                    <a:pt x="0" y="518"/>
                  </a:lnTo>
                  <a:lnTo>
                    <a:pt x="1" y="522"/>
                  </a:lnTo>
                  <a:lnTo>
                    <a:pt x="4" y="526"/>
                  </a:lnTo>
                  <a:lnTo>
                    <a:pt x="7" y="528"/>
                  </a:lnTo>
                  <a:lnTo>
                    <a:pt x="13" y="529"/>
                  </a:lnTo>
                  <a:lnTo>
                    <a:pt x="398" y="529"/>
                  </a:lnTo>
                  <a:lnTo>
                    <a:pt x="402" y="528"/>
                  </a:lnTo>
                  <a:lnTo>
                    <a:pt x="406" y="526"/>
                  </a:lnTo>
                  <a:lnTo>
                    <a:pt x="409" y="522"/>
                  </a:lnTo>
                  <a:lnTo>
                    <a:pt x="410" y="518"/>
                  </a:lnTo>
                  <a:lnTo>
                    <a:pt x="410" y="132"/>
                  </a:lnTo>
                  <a:lnTo>
                    <a:pt x="409" y="127"/>
                  </a:lnTo>
                  <a:lnTo>
                    <a:pt x="406"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graphicFrame>
        <p:nvGraphicFramePr>
          <p:cNvPr id="9" name="Chart 8"/>
          <p:cNvGraphicFramePr/>
          <p:nvPr>
            <p:extLst>
              <p:ext uri="{D42A27DB-BD31-4B8C-83A1-F6EECF244321}">
                <p14:modId xmlns:p14="http://schemas.microsoft.com/office/powerpoint/2010/main" val="2438686684"/>
              </p:ext>
            </p:extLst>
          </p:nvPr>
        </p:nvGraphicFramePr>
        <p:xfrm>
          <a:off x="-852488" y="973061"/>
          <a:ext cx="8128000" cy="5418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61713674"/>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xmlns=""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latin typeface="Calibri" panose="020F0502020204030204" pitchFamily="34" charset="0"/>
                <a:cs typeface="Calibri" panose="020F0502020204030204" pitchFamily="34" charset="0"/>
              </a:rPr>
              <a:t>Business Task</a:t>
            </a:r>
            <a:r>
              <a:rPr lang="en-US" sz="2800" dirty="0">
                <a:solidFill>
                  <a:schemeClr val="tx1">
                    <a:lumMod val="75000"/>
                    <a:lumOff val="25000"/>
                  </a:schemeClr>
                </a:solidFill>
                <a:latin typeface="Calibri" panose="020F0502020204030204" pitchFamily="34" charset="0"/>
                <a:cs typeface="Calibri" panose="020F0502020204030204" pitchFamily="34" charset="0"/>
              </a:rPr>
              <a:t/>
            </a:r>
            <a:br>
              <a:rPr lang="en-US" sz="2800" dirty="0">
                <a:solidFill>
                  <a:schemeClr val="tx1">
                    <a:lumMod val="75000"/>
                    <a:lumOff val="25000"/>
                  </a:schemeClr>
                </a:solidFill>
                <a:latin typeface="Calibri" panose="020F0502020204030204" pitchFamily="34" charset="0"/>
                <a:cs typeface="Calibri" panose="020F0502020204030204" pitchFamily="34" charset="0"/>
              </a:rPr>
            </a:br>
            <a:endParaRPr lang="en-US" sz="2800" dirty="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xmlns="" id="{9F23A462-D581-4451-A275-D8FA412E142C}"/>
              </a:ext>
              <a:ext uri="{C183D7F6-B498-43B3-948B-1728B52AA6E4}">
                <adec:decorative xmlns:adec="http://schemas.microsoft.com/office/drawing/2017/decorative" xmlns="" val="1"/>
              </a:ext>
            </a:extLst>
          </p:cNvPr>
          <p:cNvSpPr/>
          <p:nvPr/>
        </p:nvSpPr>
        <p:spPr>
          <a:xfrm>
            <a:off x="1003300" y="1300135"/>
            <a:ext cx="1828800" cy="18288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Calibri" panose="020F0502020204030204" pitchFamily="34" charset="0"/>
              <a:cs typeface="Calibri" panose="020F0502020204030204" pitchFamily="34" charset="0"/>
            </a:endParaRPr>
          </a:p>
        </p:txBody>
      </p:sp>
      <p:sp>
        <p:nvSpPr>
          <p:cNvPr id="42" name="Oval 41">
            <a:extLst>
              <a:ext uri="{FF2B5EF4-FFF2-40B4-BE49-F238E27FC236}">
                <a16:creationId xmlns:a16="http://schemas.microsoft.com/office/drawing/2014/main" xmlns="" id="{233E4AB5-6FC1-4454-9421-850EF5A4ADF3}"/>
              </a:ext>
              <a:ext uri="{C183D7F6-B498-43B3-948B-1728B52AA6E4}">
                <adec:decorative xmlns:adec="http://schemas.microsoft.com/office/drawing/2017/decorative" xmlns="" val="1"/>
              </a:ext>
            </a:extLst>
          </p:cNvPr>
          <p:cNvSpPr/>
          <p:nvPr/>
        </p:nvSpPr>
        <p:spPr>
          <a:xfrm>
            <a:off x="5155262" y="1305048"/>
            <a:ext cx="1828800" cy="1828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73" name="Oval 72">
            <a:extLst>
              <a:ext uri="{FF2B5EF4-FFF2-40B4-BE49-F238E27FC236}">
                <a16:creationId xmlns:a16="http://schemas.microsoft.com/office/drawing/2014/main" xmlns="" id="{40123448-0B37-4226-B26C-A3081E6142FF}"/>
              </a:ext>
              <a:ext uri="{C183D7F6-B498-43B3-948B-1728B52AA6E4}">
                <adec:decorative xmlns:adec="http://schemas.microsoft.com/office/drawing/2017/decorative" xmlns="" val="1"/>
              </a:ext>
            </a:extLst>
          </p:cNvPr>
          <p:cNvSpPr/>
          <p:nvPr/>
        </p:nvSpPr>
        <p:spPr>
          <a:xfrm>
            <a:off x="9488376" y="1298495"/>
            <a:ext cx="1828800" cy="1828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13" name="Straight Arrow Connector 12">
            <a:extLst>
              <a:ext uri="{FF2B5EF4-FFF2-40B4-BE49-F238E27FC236}">
                <a16:creationId xmlns:a16="http://schemas.microsoft.com/office/drawing/2014/main" xmlns="" id="{331AB5AC-284A-472B-B8E5-2F198F4E96D7}"/>
              </a:ext>
              <a:ext uri="{C183D7F6-B498-43B3-948B-1728B52AA6E4}">
                <adec:decorative xmlns:adec="http://schemas.microsoft.com/office/drawing/2017/decorative" xmlns="" val="1"/>
              </a:ext>
            </a:extLst>
          </p:cNvPr>
          <p:cNvCxnSpPr>
            <a:cxnSpLocks/>
          </p:cNvCxnSpPr>
          <p:nvPr/>
        </p:nvCxnSpPr>
        <p:spPr>
          <a:xfrm>
            <a:off x="2856870" y="2212894"/>
            <a:ext cx="2248852" cy="6553"/>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xmlns="" id="{91394D4E-BC7A-418D-B233-6C374456AEAE}"/>
              </a:ext>
              <a:ext uri="{C183D7F6-B498-43B3-948B-1728B52AA6E4}">
                <adec:decorative xmlns:adec="http://schemas.microsoft.com/office/drawing/2017/decorative" xmlns="" val="1"/>
              </a:ext>
            </a:extLst>
          </p:cNvPr>
          <p:cNvCxnSpPr>
            <a:cxnSpLocks/>
          </p:cNvCxnSpPr>
          <p:nvPr/>
        </p:nvCxnSpPr>
        <p:spPr>
          <a:xfrm>
            <a:off x="7033602" y="2212894"/>
            <a:ext cx="2401343" cy="6553"/>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xmlns="" id="{6BEBF752-C33D-4EC4-8210-F7B1D3A10097}"/>
              </a:ext>
            </a:extLst>
          </p:cNvPr>
          <p:cNvSpPr/>
          <p:nvPr/>
        </p:nvSpPr>
        <p:spPr>
          <a:xfrm>
            <a:off x="1229808" y="1973226"/>
            <a:ext cx="1371600" cy="492443"/>
          </a:xfrm>
          <a:prstGeom prst="rect">
            <a:avLst/>
          </a:prstGeom>
        </p:spPr>
        <p:txBody>
          <a:bodyPr wrap="square" lIns="0" tIns="0" rIns="0" bIns="0" anchor="ctr">
            <a:spAutoFit/>
          </a:bodyPr>
          <a:lstStyle/>
          <a:p>
            <a:pPr algn="ctr"/>
            <a:r>
              <a:rPr lang="en-US" sz="1600" b="1" dirty="0">
                <a:solidFill>
                  <a:schemeClr val="bg1"/>
                </a:solidFill>
                <a:latin typeface="Calibri" panose="020F0502020204030204" pitchFamily="34" charset="0"/>
                <a:cs typeface="Calibri" panose="020F0502020204030204" pitchFamily="34" charset="0"/>
              </a:rPr>
              <a:t>Management </a:t>
            </a:r>
            <a:r>
              <a:rPr lang="en-US" sz="1600" b="1" dirty="0" smtClean="0">
                <a:solidFill>
                  <a:schemeClr val="bg1"/>
                </a:solidFill>
                <a:latin typeface="Calibri" panose="020F0502020204030204" pitchFamily="34" charset="0"/>
                <a:cs typeface="Calibri" panose="020F0502020204030204" pitchFamily="34" charset="0"/>
              </a:rPr>
              <a:t>Objective</a:t>
            </a:r>
            <a:endParaRPr lang="en-US" sz="1600" b="1" dirty="0">
              <a:solidFill>
                <a:schemeClr val="bg1"/>
              </a:solidFill>
              <a:latin typeface="Calibri" panose="020F0502020204030204" pitchFamily="34" charset="0"/>
              <a:cs typeface="Calibri" panose="020F0502020204030204" pitchFamily="34" charset="0"/>
            </a:endParaRPr>
          </a:p>
        </p:txBody>
      </p:sp>
      <p:sp>
        <p:nvSpPr>
          <p:cNvPr id="82" name="Rectangle 81">
            <a:extLst>
              <a:ext uri="{FF2B5EF4-FFF2-40B4-BE49-F238E27FC236}">
                <a16:creationId xmlns:a16="http://schemas.microsoft.com/office/drawing/2014/main" xmlns="" id="{9771041D-83B6-4693-BC25-25AABB3CE3BF}"/>
              </a:ext>
            </a:extLst>
          </p:cNvPr>
          <p:cNvSpPr/>
          <p:nvPr/>
        </p:nvSpPr>
        <p:spPr>
          <a:xfrm>
            <a:off x="5383862" y="1966673"/>
            <a:ext cx="1371600" cy="492443"/>
          </a:xfrm>
          <a:prstGeom prst="rect">
            <a:avLst/>
          </a:prstGeom>
        </p:spPr>
        <p:txBody>
          <a:bodyPr wrap="square" lIns="0" tIns="0" rIns="0" bIns="0" anchor="ctr">
            <a:spAutoFit/>
          </a:bodyPr>
          <a:lstStyle/>
          <a:p>
            <a:pPr algn="ctr"/>
            <a:r>
              <a:rPr lang="en-US" sz="1600" b="1" dirty="0">
                <a:solidFill>
                  <a:schemeClr val="bg1"/>
                </a:solidFill>
                <a:latin typeface="Calibri" panose="020F0502020204030204" pitchFamily="34" charset="0"/>
                <a:cs typeface="Calibri" panose="020F0502020204030204" pitchFamily="34" charset="0"/>
              </a:rPr>
              <a:t>Project </a:t>
            </a:r>
            <a:r>
              <a:rPr lang="en-US" sz="1600" b="1" dirty="0" smtClean="0">
                <a:solidFill>
                  <a:schemeClr val="bg1"/>
                </a:solidFill>
                <a:latin typeface="Calibri" panose="020F0502020204030204" pitchFamily="34" charset="0"/>
                <a:cs typeface="Calibri" panose="020F0502020204030204" pitchFamily="34" charset="0"/>
              </a:rPr>
              <a:t>Objective</a:t>
            </a:r>
            <a:endParaRPr lang="en-US" sz="1600" b="1" dirty="0">
              <a:solidFill>
                <a:schemeClr val="bg1"/>
              </a:solidFill>
              <a:latin typeface="Calibri" panose="020F0502020204030204" pitchFamily="34" charset="0"/>
              <a:cs typeface="Calibri" panose="020F0502020204030204" pitchFamily="34" charset="0"/>
            </a:endParaRPr>
          </a:p>
        </p:txBody>
      </p:sp>
      <p:sp>
        <p:nvSpPr>
          <p:cNvPr id="83" name="Rectangle 82">
            <a:extLst>
              <a:ext uri="{FF2B5EF4-FFF2-40B4-BE49-F238E27FC236}">
                <a16:creationId xmlns:a16="http://schemas.microsoft.com/office/drawing/2014/main" xmlns="" id="{9F6EE26A-3174-49AD-900E-08C045755F3C}"/>
              </a:ext>
            </a:extLst>
          </p:cNvPr>
          <p:cNvSpPr/>
          <p:nvPr/>
        </p:nvSpPr>
        <p:spPr>
          <a:xfrm>
            <a:off x="9716976" y="1973226"/>
            <a:ext cx="1371600" cy="492443"/>
          </a:xfrm>
          <a:prstGeom prst="rect">
            <a:avLst/>
          </a:prstGeom>
        </p:spPr>
        <p:txBody>
          <a:bodyPr wrap="square" lIns="0" tIns="0" rIns="0" bIns="0" anchor="ctr">
            <a:spAutoFit/>
          </a:bodyPr>
          <a:lstStyle/>
          <a:p>
            <a:pPr algn="ctr"/>
            <a:r>
              <a:rPr lang="en-US" sz="1600" b="1" dirty="0" smtClean="0">
                <a:solidFill>
                  <a:schemeClr val="bg1"/>
                </a:solidFill>
                <a:latin typeface="Calibri" panose="020F0502020204030204" pitchFamily="34" charset="0"/>
                <a:cs typeface="Calibri" panose="020F0502020204030204" pitchFamily="34" charset="0"/>
              </a:rPr>
              <a:t>Project Outcome</a:t>
            </a:r>
            <a:endParaRPr lang="en-US" sz="1600" b="1" dirty="0">
              <a:solidFill>
                <a:schemeClr val="bg1"/>
              </a:solidFill>
              <a:latin typeface="Calibri" panose="020F0502020204030204" pitchFamily="34" charset="0"/>
              <a:cs typeface="Calibri" panose="020F0502020204030204" pitchFamily="34" charset="0"/>
            </a:endParaRPr>
          </a:p>
        </p:txBody>
      </p:sp>
      <p:sp>
        <p:nvSpPr>
          <p:cNvPr id="90" name="Rectangle 89">
            <a:extLst>
              <a:ext uri="{FF2B5EF4-FFF2-40B4-BE49-F238E27FC236}">
                <a16:creationId xmlns:a16="http://schemas.microsoft.com/office/drawing/2014/main" xmlns="" id="{79B46693-ED1F-429F-9B11-2794939E3B99}"/>
              </a:ext>
            </a:extLst>
          </p:cNvPr>
          <p:cNvSpPr/>
          <p:nvPr/>
        </p:nvSpPr>
        <p:spPr>
          <a:xfrm>
            <a:off x="9488376" y="3755664"/>
            <a:ext cx="1828800" cy="2154436"/>
          </a:xfrm>
          <a:prstGeom prst="rect">
            <a:avLst/>
          </a:prstGeom>
        </p:spPr>
        <p:txBody>
          <a:bodyPr wrap="square" lIns="0" tIns="0" rIns="0" bIns="0" anchor="ctr">
            <a:spAutoFit/>
          </a:bodyPr>
          <a:lstStyle/>
          <a:p>
            <a:pPr algn="ctr"/>
            <a:r>
              <a:rPr lang="en-US" sz="2000" dirty="0" smtClean="0">
                <a:solidFill>
                  <a:schemeClr val="accent4">
                    <a:lumMod val="75000"/>
                  </a:schemeClr>
                </a:solidFill>
                <a:latin typeface="Calibri" panose="020F0502020204030204" pitchFamily="34" charset="0"/>
                <a:cs typeface="Calibri" panose="020F0502020204030204" pitchFamily="34" charset="0"/>
              </a:rPr>
              <a:t>The creation of marketing strategies that aim to succeed in converting casual riders into member.</a:t>
            </a:r>
            <a:endParaRPr lang="en-US" sz="2000" dirty="0">
              <a:solidFill>
                <a:schemeClr val="accent4">
                  <a:lumMod val="75000"/>
                </a:schemeClr>
              </a:solidFill>
              <a:latin typeface="Calibri" panose="020F0502020204030204" pitchFamily="34" charset="0"/>
              <a:cs typeface="Calibri" panose="020F0502020204030204" pitchFamily="34" charset="0"/>
            </a:endParaRPr>
          </a:p>
        </p:txBody>
      </p:sp>
      <p:sp>
        <p:nvSpPr>
          <p:cNvPr id="91" name="Rectangle 90">
            <a:extLst>
              <a:ext uri="{FF2B5EF4-FFF2-40B4-BE49-F238E27FC236}">
                <a16:creationId xmlns:a16="http://schemas.microsoft.com/office/drawing/2014/main" xmlns="" id="{0F8D1DEA-0363-4C10-925D-1D68E14CCEF4}"/>
              </a:ext>
            </a:extLst>
          </p:cNvPr>
          <p:cNvSpPr/>
          <p:nvPr/>
        </p:nvSpPr>
        <p:spPr>
          <a:xfrm>
            <a:off x="5155262" y="3601776"/>
            <a:ext cx="1828800" cy="1538883"/>
          </a:xfrm>
          <a:prstGeom prst="rect">
            <a:avLst/>
          </a:prstGeom>
        </p:spPr>
        <p:txBody>
          <a:bodyPr wrap="square" lIns="0" tIns="0" rIns="0" bIns="0" anchor="ctr">
            <a:spAutoFit/>
          </a:bodyPr>
          <a:lstStyle/>
          <a:p>
            <a:pPr algn="ctr"/>
            <a:r>
              <a:rPr lang="en-US" sz="2000" dirty="0" smtClean="0">
                <a:solidFill>
                  <a:schemeClr val="accent3">
                    <a:lumMod val="75000"/>
                  </a:schemeClr>
                </a:solidFill>
                <a:latin typeface="Calibri" panose="020F0502020204030204" pitchFamily="34" charset="0"/>
                <a:cs typeface="Calibri" panose="020F0502020204030204" pitchFamily="34" charset="0"/>
              </a:rPr>
              <a:t>Developing an understanding to guide a future marketing program.</a:t>
            </a:r>
            <a:endParaRPr lang="en-US" sz="1400" dirty="0">
              <a:solidFill>
                <a:schemeClr val="accent3">
                  <a:lumMod val="75000"/>
                </a:schemeClr>
              </a:solidFill>
              <a:latin typeface="Calibri" panose="020F0502020204030204" pitchFamily="34" charset="0"/>
              <a:cs typeface="Calibri" panose="020F0502020204030204" pitchFamily="34" charset="0"/>
            </a:endParaRPr>
          </a:p>
        </p:txBody>
      </p:sp>
      <p:sp>
        <p:nvSpPr>
          <p:cNvPr id="92" name="Rectangle 91">
            <a:extLst>
              <a:ext uri="{FF2B5EF4-FFF2-40B4-BE49-F238E27FC236}">
                <a16:creationId xmlns:a16="http://schemas.microsoft.com/office/drawing/2014/main" xmlns="" id="{A69BDC62-882D-49FD-B60A-05F493B04723}"/>
              </a:ext>
            </a:extLst>
          </p:cNvPr>
          <p:cNvSpPr/>
          <p:nvPr/>
        </p:nvSpPr>
        <p:spPr>
          <a:xfrm>
            <a:off x="940954" y="3601776"/>
            <a:ext cx="1828800" cy="2769989"/>
          </a:xfrm>
          <a:prstGeom prst="rect">
            <a:avLst/>
          </a:prstGeom>
        </p:spPr>
        <p:txBody>
          <a:bodyPr wrap="square" lIns="0" tIns="0" rIns="0" bIns="0" anchor="ctr">
            <a:spAutoFit/>
          </a:bodyPr>
          <a:lstStyle/>
          <a:p>
            <a:pPr algn="ctr"/>
            <a:r>
              <a:rPr lang="en-US" sz="2000" dirty="0" smtClean="0">
                <a:solidFill>
                  <a:schemeClr val="accent3"/>
                </a:solidFill>
                <a:latin typeface="Calibri" panose="020F0502020204030204" pitchFamily="34" charset="0"/>
                <a:cs typeface="Calibri" panose="020F0502020204030204" pitchFamily="34" charset="0"/>
              </a:rPr>
              <a:t>To identify the differences between Cyclistic</a:t>
            </a:r>
            <a:r>
              <a:rPr lang="en-US" sz="2000" dirty="0">
                <a:solidFill>
                  <a:schemeClr val="accent3"/>
                </a:solidFill>
                <a:latin typeface="Calibri" panose="020F0502020204030204" pitchFamily="34" charset="0"/>
                <a:cs typeface="Calibri" panose="020F0502020204030204" pitchFamily="34" charset="0"/>
              </a:rPr>
              <a:t> </a:t>
            </a:r>
            <a:r>
              <a:rPr lang="en-US" sz="2000" dirty="0" smtClean="0">
                <a:solidFill>
                  <a:schemeClr val="accent3"/>
                </a:solidFill>
                <a:latin typeface="Calibri" panose="020F0502020204030204" pitchFamily="34" charset="0"/>
                <a:cs typeface="Calibri" panose="020F0502020204030204" pitchFamily="34" charset="0"/>
              </a:rPr>
              <a:t>members </a:t>
            </a:r>
            <a:r>
              <a:rPr lang="en-US" sz="2000" dirty="0">
                <a:solidFill>
                  <a:schemeClr val="accent3"/>
                </a:solidFill>
                <a:latin typeface="Calibri" panose="020F0502020204030204" pitchFamily="34" charset="0"/>
                <a:cs typeface="Calibri" panose="020F0502020204030204" pitchFamily="34" charset="0"/>
              </a:rPr>
              <a:t>and casual </a:t>
            </a:r>
            <a:r>
              <a:rPr lang="en-US" sz="2000" dirty="0" smtClean="0">
                <a:solidFill>
                  <a:schemeClr val="accent3"/>
                </a:solidFill>
                <a:latin typeface="Calibri" panose="020F0502020204030204" pitchFamily="34" charset="0"/>
                <a:cs typeface="Calibri" panose="020F0502020204030204" pitchFamily="34" charset="0"/>
              </a:rPr>
              <a:t>riders, through the analysis of last year’s usage data.</a:t>
            </a:r>
            <a:endParaRPr lang="en-US" sz="2000" dirty="0">
              <a:solidFill>
                <a:schemeClr val="accent3"/>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4376812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3"/>
                                        </p:tgtEl>
                                      </p:cBhvr>
                                    </p:animEffect>
                                    <p:animScale>
                                      <p:cBhvr>
                                        <p:cTn id="7" dur="250" autoRev="1" fill="hold"/>
                                        <p:tgtEl>
                                          <p:spTgt spid="1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78"/>
                                        </p:tgtEl>
                                      </p:cBhvr>
                                    </p:animEffect>
                                    <p:animScale>
                                      <p:cBhvr>
                                        <p:cTn id="12" dur="250" autoRev="1" fill="hold"/>
                                        <p:tgtEl>
                                          <p:spTgt spid="7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latin typeface="Calibri" panose="020F0502020204030204" pitchFamily="34" charset="0"/>
                <a:cs typeface="Calibri" panose="020F0502020204030204" pitchFamily="34" charset="0"/>
              </a:rPr>
              <a:t>Data Sources</a:t>
            </a:r>
            <a:endParaRPr lang="en-US" sz="2800" dirty="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xmlns="" id="{09C05F0C-382F-476A-A0D2-932E111A7F9A}"/>
              </a:ext>
            </a:extLst>
          </p:cNvPr>
          <p:cNvSpPr>
            <a:spLocks noGrp="1"/>
          </p:cNvSpPr>
          <p:nvPr>
            <p:ph type="title" idx="4294967295"/>
          </p:nvPr>
        </p:nvSpPr>
        <p:spPr>
          <a:xfrm>
            <a:off x="0" y="365125"/>
            <a:ext cx="10515600" cy="1325563"/>
          </a:xfrm>
        </p:spPr>
        <p:txBody>
          <a:bodyPr/>
          <a:lstStyle/>
          <a:p>
            <a:r>
              <a:rPr lang="en-US" dirty="0"/>
              <a:t>Project analysis slide 11</a:t>
            </a:r>
          </a:p>
        </p:txBody>
      </p:sp>
      <p:sp>
        <p:nvSpPr>
          <p:cNvPr id="3" name="Rectangle 2"/>
          <p:cNvSpPr/>
          <p:nvPr/>
        </p:nvSpPr>
        <p:spPr>
          <a:xfrm>
            <a:off x="276225" y="910696"/>
            <a:ext cx="11687175" cy="5632311"/>
          </a:xfrm>
          <a:prstGeom prst="rect">
            <a:avLst/>
          </a:prstGeom>
        </p:spPr>
        <p:txBody>
          <a:bodyPr wrap="square">
            <a:spAutoFit/>
          </a:bodyPr>
          <a:lstStyle/>
          <a:p>
            <a:pPr algn="just"/>
            <a:r>
              <a:rPr lang="en-US" sz="2000" dirty="0">
                <a:latin typeface="Calibri" panose="020F0502020204030204" pitchFamily="34" charset="0"/>
                <a:cs typeface="Calibri" panose="020F0502020204030204" pitchFamily="34" charset="0"/>
              </a:rPr>
              <a:t>The last 12 </a:t>
            </a:r>
            <a:r>
              <a:rPr lang="en-US" sz="2000" dirty="0" smtClean="0">
                <a:latin typeface="Calibri" panose="020F0502020204030204" pitchFamily="34" charset="0"/>
                <a:cs typeface="Calibri" panose="020F0502020204030204" pitchFamily="34" charset="0"/>
              </a:rPr>
              <a:t>months (2019-2020) </a:t>
            </a:r>
            <a:r>
              <a:rPr lang="en-US" sz="2000" dirty="0">
                <a:latin typeface="Calibri" panose="020F0502020204030204" pitchFamily="34" charset="0"/>
                <a:cs typeface="Calibri" panose="020F0502020204030204" pitchFamily="34" charset="0"/>
              </a:rPr>
              <a:t>of Cyclistic’s historical trip data was used in my analysis</a:t>
            </a:r>
            <a:r>
              <a:rPr lang="en-US" sz="2000" dirty="0" smtClean="0">
                <a:latin typeface="Calibri" panose="020F0502020204030204" pitchFamily="34" charset="0"/>
                <a:cs typeface="Calibri" panose="020F0502020204030204" pitchFamily="34" charset="0"/>
              </a:rPr>
              <a:t>.</a:t>
            </a:r>
          </a:p>
          <a:p>
            <a:pPr algn="just"/>
            <a:endParaRPr lang="en-US" sz="2000" dirty="0" smtClean="0">
              <a:latin typeface="Calibri" panose="020F0502020204030204" pitchFamily="34" charset="0"/>
              <a:cs typeface="Calibri" panose="020F0502020204030204" pitchFamily="34" charset="0"/>
            </a:endParaRPr>
          </a:p>
          <a:p>
            <a:pPr algn="just"/>
            <a:endParaRPr lang="en-US" sz="2000" dirty="0">
              <a:latin typeface="Calibri" panose="020F0502020204030204" pitchFamily="34" charset="0"/>
              <a:cs typeface="Calibri" panose="020F0502020204030204" pitchFamily="34" charset="0"/>
            </a:endParaRPr>
          </a:p>
          <a:p>
            <a:pPr algn="just"/>
            <a:r>
              <a:rPr lang="en-US" sz="2000" dirty="0">
                <a:latin typeface="Calibri" panose="020F0502020204030204" pitchFamily="34" charset="0"/>
                <a:cs typeface="Calibri" panose="020F0502020204030204" pitchFamily="34" charset="0"/>
              </a:rPr>
              <a:t>The data was sourced from Motivational International Inc. and is </a:t>
            </a:r>
            <a:r>
              <a:rPr lang="en-US" sz="2000" b="1" dirty="0">
                <a:latin typeface="Calibri" panose="020F0502020204030204" pitchFamily="34" charset="0"/>
                <a:cs typeface="Calibri" panose="020F0502020204030204" pitchFamily="34" charset="0"/>
              </a:rPr>
              <a:t>public data</a:t>
            </a:r>
            <a:r>
              <a:rPr lang="en-US" sz="2000" dirty="0">
                <a:latin typeface="Calibri" panose="020F0502020204030204" pitchFamily="34" charset="0"/>
                <a:cs typeface="Calibri" panose="020F0502020204030204" pitchFamily="34" charset="0"/>
              </a:rPr>
              <a:t>, under license</a:t>
            </a:r>
            <a:r>
              <a:rPr lang="en-US" sz="2000" dirty="0" smtClean="0">
                <a:latin typeface="Calibri" panose="020F0502020204030204" pitchFamily="34" charset="0"/>
                <a:cs typeface="Calibri" panose="020F0502020204030204" pitchFamily="34" charset="0"/>
              </a:rPr>
              <a:t>.</a:t>
            </a:r>
          </a:p>
          <a:p>
            <a:pPr algn="just"/>
            <a:endParaRPr lang="en-US" sz="2000" dirty="0" smtClean="0">
              <a:latin typeface="Calibri" panose="020F0502020204030204" pitchFamily="34" charset="0"/>
              <a:cs typeface="Calibri" panose="020F0502020204030204" pitchFamily="34" charset="0"/>
            </a:endParaRPr>
          </a:p>
          <a:p>
            <a:pPr algn="just"/>
            <a:endParaRPr lang="en-US" sz="2000" dirty="0" smtClean="0">
              <a:latin typeface="Calibri" panose="020F0502020204030204" pitchFamily="34" charset="0"/>
              <a:cs typeface="Calibri" panose="020F0502020204030204" pitchFamily="34" charset="0"/>
            </a:endParaRPr>
          </a:p>
          <a:p>
            <a:pPr algn="just"/>
            <a:r>
              <a:rPr lang="en-US" sz="2000" dirty="0" smtClean="0">
                <a:latin typeface="Calibri" panose="020F0502020204030204" pitchFamily="34" charset="0"/>
                <a:cs typeface="Calibri" panose="020F0502020204030204" pitchFamily="34" charset="0"/>
              </a:rPr>
              <a:t>This </a:t>
            </a:r>
            <a:r>
              <a:rPr lang="en-US" sz="2000" dirty="0">
                <a:latin typeface="Calibri" panose="020F0502020204030204" pitchFamily="34" charset="0"/>
                <a:cs typeface="Calibri" panose="020F0502020204030204" pitchFamily="34" charset="0"/>
              </a:rPr>
              <a:t>data is amongst the most credible due to it being </a:t>
            </a:r>
            <a:r>
              <a:rPr lang="en-US" sz="2000" b="1" dirty="0" smtClean="0">
                <a:latin typeface="Calibri" panose="020F0502020204030204" pitchFamily="34" charset="0"/>
                <a:cs typeface="Calibri" panose="020F0502020204030204" pitchFamily="34" charset="0"/>
              </a:rPr>
              <a:t>original</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comprehensive</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current</a:t>
            </a:r>
            <a:r>
              <a:rPr lang="en-US" sz="2000" dirty="0">
                <a:latin typeface="Calibri" panose="020F0502020204030204" pitchFamily="34" charset="0"/>
                <a:cs typeface="Calibri" panose="020F0502020204030204" pitchFamily="34" charset="0"/>
              </a:rPr>
              <a:t>, and </a:t>
            </a:r>
            <a:r>
              <a:rPr lang="en-US" sz="2000" b="1" dirty="0" smtClean="0">
                <a:latin typeface="Calibri" panose="020F0502020204030204" pitchFamily="34" charset="0"/>
                <a:cs typeface="Calibri" panose="020F0502020204030204" pitchFamily="34" charset="0"/>
              </a:rPr>
              <a:t>cited</a:t>
            </a:r>
            <a:r>
              <a:rPr lang="en-US" sz="2000" dirty="0" smtClean="0">
                <a:latin typeface="Calibri" panose="020F0502020204030204" pitchFamily="34" charset="0"/>
                <a:cs typeface="Calibri" panose="020F0502020204030204" pitchFamily="34" charset="0"/>
              </a:rPr>
              <a:t>.</a:t>
            </a:r>
          </a:p>
          <a:p>
            <a:pPr algn="just"/>
            <a:endParaRPr lang="en-US" sz="2000" dirty="0" smtClean="0">
              <a:latin typeface="Calibri" panose="020F0502020204030204" pitchFamily="34" charset="0"/>
              <a:cs typeface="Calibri" panose="020F0502020204030204" pitchFamily="34" charset="0"/>
            </a:endParaRPr>
          </a:p>
          <a:p>
            <a:pPr algn="just"/>
            <a:endParaRPr lang="en-US" sz="2000" dirty="0" smtClean="0">
              <a:latin typeface="Calibri" panose="020F0502020204030204" pitchFamily="34" charset="0"/>
              <a:cs typeface="Calibri" panose="020F0502020204030204" pitchFamily="34" charset="0"/>
            </a:endParaRPr>
          </a:p>
          <a:p>
            <a:pPr algn="just"/>
            <a:r>
              <a:rPr lang="en-US" sz="2000" dirty="0" smtClean="0">
                <a:latin typeface="Calibri" panose="020F0502020204030204" pitchFamily="34" charset="0"/>
                <a:cs typeface="Calibri" panose="020F0502020204030204" pitchFamily="34" charset="0"/>
              </a:rPr>
              <a:t>It is </a:t>
            </a:r>
            <a:r>
              <a:rPr lang="en-US" sz="2000" dirty="0">
                <a:latin typeface="Calibri" panose="020F0502020204030204" pitchFamily="34" charset="0"/>
                <a:cs typeface="Calibri" panose="020F0502020204030204" pitchFamily="34" charset="0"/>
              </a:rPr>
              <a:t>free from bias as it contains </a:t>
            </a:r>
            <a:r>
              <a:rPr lang="en-US" sz="2000" b="1" dirty="0">
                <a:latin typeface="Calibri" panose="020F0502020204030204" pitchFamily="34" charset="0"/>
                <a:cs typeface="Calibri" panose="020F0502020204030204" pitchFamily="34" charset="0"/>
              </a:rPr>
              <a:t>all</a:t>
            </a:r>
            <a:r>
              <a:rPr lang="en-US" sz="2000" dirty="0">
                <a:latin typeface="Calibri" panose="020F0502020204030204" pitchFamily="34" charset="0"/>
                <a:cs typeface="Calibri" panose="020F0502020204030204" pitchFamily="34" charset="0"/>
              </a:rPr>
              <a:t> of the trips in the given timeframe, instead of a sample of them</a:t>
            </a:r>
            <a:r>
              <a:rPr lang="en-US" sz="2000" dirty="0" smtClean="0">
                <a:latin typeface="Calibri" panose="020F0502020204030204" pitchFamily="34" charset="0"/>
                <a:cs typeface="Calibri" panose="020F0502020204030204" pitchFamily="34" charset="0"/>
              </a:rPr>
              <a:t>.</a:t>
            </a:r>
          </a:p>
          <a:p>
            <a:pPr algn="just"/>
            <a:endParaRPr lang="en-US" sz="2000" dirty="0" smtClean="0">
              <a:latin typeface="Calibri" panose="020F0502020204030204" pitchFamily="34" charset="0"/>
              <a:cs typeface="Calibri" panose="020F0502020204030204" pitchFamily="34" charset="0"/>
            </a:endParaRPr>
          </a:p>
          <a:p>
            <a:pPr algn="just"/>
            <a:endParaRPr lang="en-US" sz="2000" dirty="0" smtClean="0">
              <a:latin typeface="Calibri" panose="020F0502020204030204" pitchFamily="34" charset="0"/>
              <a:cs typeface="Calibri" panose="020F0502020204030204" pitchFamily="34" charset="0"/>
            </a:endParaRPr>
          </a:p>
          <a:p>
            <a:pPr algn="just"/>
            <a:r>
              <a:rPr lang="en-US" sz="2000" dirty="0" smtClean="0">
                <a:latin typeface="Calibri" panose="020F0502020204030204" pitchFamily="34" charset="0"/>
                <a:cs typeface="Calibri" panose="020F0502020204030204" pitchFamily="34" charset="0"/>
              </a:rPr>
              <a:t>The </a:t>
            </a:r>
            <a:r>
              <a:rPr lang="en-US" sz="2000" dirty="0">
                <a:latin typeface="Calibri" panose="020F0502020204030204" pitchFamily="34" charset="0"/>
                <a:cs typeface="Calibri" panose="020F0502020204030204" pitchFamily="34" charset="0"/>
              </a:rPr>
              <a:t>only </a:t>
            </a:r>
            <a:r>
              <a:rPr lang="en-US" sz="2000" dirty="0" smtClean="0">
                <a:latin typeface="Calibri" panose="020F0502020204030204" pitchFamily="34" charset="0"/>
                <a:cs typeface="Calibri" panose="020F0502020204030204" pitchFamily="34" charset="0"/>
              </a:rPr>
              <a:t>uncorrectable </a:t>
            </a:r>
            <a:r>
              <a:rPr lang="en-US" sz="2000" dirty="0">
                <a:latin typeface="Calibri" panose="020F0502020204030204" pitchFamily="34" charset="0"/>
                <a:cs typeface="Calibri" panose="020F0502020204030204" pitchFamily="34" charset="0"/>
              </a:rPr>
              <a:t>issue with data is that </a:t>
            </a:r>
            <a:r>
              <a:rPr lang="en-US" sz="2000" b="1" dirty="0" smtClean="0">
                <a:latin typeface="Calibri" panose="020F0502020204030204" pitchFamily="34" charset="0"/>
                <a:cs typeface="Calibri" panose="020F0502020204030204" pitchFamily="34" charset="0"/>
              </a:rPr>
              <a:t>repeat </a:t>
            </a:r>
            <a:r>
              <a:rPr lang="en-US" sz="2000" b="1" dirty="0">
                <a:latin typeface="Calibri" panose="020F0502020204030204" pitchFamily="34" charset="0"/>
                <a:cs typeface="Calibri" panose="020F0502020204030204" pitchFamily="34" charset="0"/>
              </a:rPr>
              <a:t>riders </a:t>
            </a:r>
            <a:r>
              <a:rPr lang="en-US" sz="2000" b="1" dirty="0" smtClean="0">
                <a:latin typeface="Calibri" panose="020F0502020204030204" pitchFamily="34" charset="0"/>
                <a:cs typeface="Calibri" panose="020F0502020204030204" pitchFamily="34" charset="0"/>
              </a:rPr>
              <a:t>cannot </a:t>
            </a:r>
            <a:r>
              <a:rPr lang="en-US" sz="2000" b="1" dirty="0">
                <a:latin typeface="Calibri" panose="020F0502020204030204" pitchFamily="34" charset="0"/>
                <a:cs typeface="Calibri" panose="020F0502020204030204" pitchFamily="34" charset="0"/>
              </a:rPr>
              <a:t>be accounted </a:t>
            </a:r>
            <a:r>
              <a:rPr lang="en-US" sz="2000" b="1" dirty="0" smtClean="0">
                <a:latin typeface="Calibri" panose="020F0502020204030204" pitchFamily="34" charset="0"/>
                <a:cs typeface="Calibri" panose="020F0502020204030204" pitchFamily="34" charset="0"/>
              </a:rPr>
              <a:t>for</a:t>
            </a:r>
            <a:r>
              <a:rPr lang="en-US" sz="2000" dirty="0" smtClean="0">
                <a:latin typeface="Calibri" panose="020F0502020204030204" pitchFamily="34" charset="0"/>
                <a:cs typeface="Calibri" panose="020F0502020204030204" pitchFamily="34" charset="0"/>
              </a:rPr>
              <a:t>, due to data-privacy laws preventing the disclosur</a:t>
            </a:r>
            <a:r>
              <a:rPr lang="en-US" sz="2000" dirty="0" smtClean="0">
                <a:latin typeface="Calibri" panose="020F0502020204030204" pitchFamily="34" charset="0"/>
                <a:cs typeface="Calibri" panose="020F0502020204030204" pitchFamily="34" charset="0"/>
              </a:rPr>
              <a:t>e of identifying information like credit card numbers</a:t>
            </a:r>
            <a:r>
              <a:rPr lang="en-US" sz="2000" dirty="0" smtClean="0">
                <a:latin typeface="Calibri" panose="020F0502020204030204" pitchFamily="34" charset="0"/>
                <a:cs typeface="Calibri" panose="020F0502020204030204" pitchFamily="34" charset="0"/>
              </a:rPr>
              <a:t>.</a:t>
            </a:r>
            <a:endParaRPr lang="en-US" sz="2000" dirty="0" smtClean="0">
              <a:latin typeface="Calibri" panose="020F0502020204030204" pitchFamily="34" charset="0"/>
              <a:cs typeface="Calibri" panose="020F0502020204030204" pitchFamily="34" charset="0"/>
            </a:endParaRPr>
          </a:p>
          <a:p>
            <a:pPr algn="just"/>
            <a:endParaRPr lang="en-US" sz="2000" dirty="0" smtClean="0">
              <a:latin typeface="Calibri" panose="020F0502020204030204" pitchFamily="34" charset="0"/>
              <a:cs typeface="Calibri" panose="020F0502020204030204" pitchFamily="34" charset="0"/>
            </a:endParaRPr>
          </a:p>
          <a:p>
            <a:pPr algn="just"/>
            <a:endParaRPr lang="en-US" sz="2000" dirty="0" smtClean="0">
              <a:latin typeface="Calibri" panose="020F0502020204030204" pitchFamily="34" charset="0"/>
              <a:cs typeface="Calibri" panose="020F0502020204030204" pitchFamily="34" charset="0"/>
            </a:endParaRPr>
          </a:p>
          <a:p>
            <a:pPr algn="just"/>
            <a:r>
              <a:rPr lang="en-US" sz="2000" dirty="0" smtClean="0">
                <a:latin typeface="Calibri" panose="020F0502020204030204" pitchFamily="34" charset="0"/>
                <a:cs typeface="Calibri" panose="020F0502020204030204" pitchFamily="34" charset="0"/>
              </a:rPr>
              <a:t>The </a:t>
            </a:r>
            <a:r>
              <a:rPr lang="en-US" sz="2000" dirty="0">
                <a:latin typeface="Calibri" panose="020F0502020204030204" pitchFamily="34" charset="0"/>
                <a:cs typeface="Calibri" panose="020F0502020204030204" pitchFamily="34" charset="0"/>
              </a:rPr>
              <a:t>copy of the data I used, is stored </a:t>
            </a:r>
            <a:r>
              <a:rPr lang="en-US" sz="2000" dirty="0" smtClean="0">
                <a:latin typeface="Calibri" panose="020F0502020204030204" pitchFamily="34" charset="0"/>
                <a:cs typeface="Calibri" panose="020F0502020204030204" pitchFamily="34" charset="0"/>
              </a:rPr>
              <a:t>on </a:t>
            </a:r>
            <a:r>
              <a:rPr lang="en-US" sz="2000" dirty="0">
                <a:latin typeface="Calibri" panose="020F0502020204030204" pitchFamily="34" charset="0"/>
                <a:cs typeface="Calibri" panose="020F0502020204030204" pitchFamily="34" charset="0"/>
              </a:rPr>
              <a:t>a </a:t>
            </a:r>
            <a:r>
              <a:rPr lang="en-US" sz="2000" dirty="0" smtClean="0">
                <a:latin typeface="Calibri" panose="020F0502020204030204" pitchFamily="34" charset="0"/>
                <a:cs typeface="Calibri" panose="020F0502020204030204" pitchFamily="34" charset="0"/>
              </a:rPr>
              <a:t>local drive; </a:t>
            </a:r>
            <a:r>
              <a:rPr lang="en-US" sz="2000" dirty="0">
                <a:latin typeface="Calibri" panose="020F0502020204030204" pitchFamily="34" charset="0"/>
                <a:cs typeface="Calibri" panose="020F0502020204030204" pitchFamily="34" charset="0"/>
              </a:rPr>
              <a:t>the raw data is organized in folders named different months of the </a:t>
            </a:r>
            <a:r>
              <a:rPr lang="en-US" sz="2000" dirty="0" smtClean="0">
                <a:latin typeface="Calibri" panose="020F0502020204030204" pitchFamily="34" charset="0"/>
                <a:cs typeface="Calibri" panose="020F0502020204030204" pitchFamily="34" charset="0"/>
              </a:rPr>
              <a:t>year, </a:t>
            </a:r>
            <a:r>
              <a:rPr lang="en-US" sz="2000" dirty="0">
                <a:latin typeface="Calibri" panose="020F0502020204030204" pitchFamily="34" charset="0"/>
                <a:cs typeface="Calibri" panose="020F0502020204030204" pitchFamily="34" charset="0"/>
              </a:rPr>
              <a:t>containing the corresponding </a:t>
            </a:r>
            <a:r>
              <a:rPr lang="en-US" sz="2000" dirty="0" smtClean="0">
                <a:latin typeface="Calibri" panose="020F0502020204030204" pitchFamily="34" charset="0"/>
                <a:cs typeface="Calibri" panose="020F0502020204030204" pitchFamily="34" charset="0"/>
              </a:rPr>
              <a:t>files.</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763689"/>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xmlns="" id="{D33B6BF4-2C08-4464-A4ED-A7F5F991F0BF}"/>
              </a:ext>
            </a:extLst>
          </p:cNvPr>
          <p:cNvSpPr>
            <a:spLocks noGrp="1"/>
          </p:cNvSpPr>
          <p:nvPr>
            <p:ph type="title"/>
          </p:nvPr>
        </p:nvSpPr>
        <p:spPr/>
        <p:txBody>
          <a:bodyPr/>
          <a:lstStyle/>
          <a:p>
            <a:r>
              <a:rPr lang="en-US" dirty="0"/>
              <a:t>Project analysis slide 7</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latin typeface="Calibri" panose="020F0502020204030204" pitchFamily="34" charset="0"/>
                <a:cs typeface="Calibri" panose="020F0502020204030204" pitchFamily="34" charset="0"/>
              </a:rPr>
              <a:t>Data Cleaning</a:t>
            </a:r>
            <a:r>
              <a:rPr lang="en-US" sz="2800" dirty="0">
                <a:solidFill>
                  <a:schemeClr val="tx1">
                    <a:lumMod val="75000"/>
                    <a:lumOff val="25000"/>
                  </a:schemeClr>
                </a:solidFill>
                <a:latin typeface="Calibri" panose="020F0502020204030204" pitchFamily="34" charset="0"/>
                <a:cs typeface="Calibri" panose="020F0502020204030204" pitchFamily="34" charset="0"/>
              </a:rPr>
              <a:t/>
            </a:r>
            <a:br>
              <a:rPr lang="en-US" sz="2800" dirty="0">
                <a:solidFill>
                  <a:schemeClr val="tx1">
                    <a:lumMod val="75000"/>
                    <a:lumOff val="25000"/>
                  </a:schemeClr>
                </a:solidFill>
                <a:latin typeface="Calibri" panose="020F0502020204030204" pitchFamily="34" charset="0"/>
                <a:cs typeface="Calibri" panose="020F0502020204030204" pitchFamily="34" charset="0"/>
              </a:rPr>
            </a:br>
            <a:endParaRPr lang="en-US" sz="2800" dirty="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48" name="Rectangle 147">
            <a:extLst>
              <a:ext uri="{FF2B5EF4-FFF2-40B4-BE49-F238E27FC236}">
                <a16:creationId xmlns:a16="http://schemas.microsoft.com/office/drawing/2014/main" xmlns="" id="{2809A67D-EE6E-45D1-AA73-B11A0B4F2508}"/>
              </a:ext>
            </a:extLst>
          </p:cNvPr>
          <p:cNvSpPr/>
          <p:nvPr/>
        </p:nvSpPr>
        <p:spPr>
          <a:xfrm>
            <a:off x="838994" y="4173980"/>
            <a:ext cx="8075613" cy="2585323"/>
          </a:xfrm>
          <a:prstGeom prst="rect">
            <a:avLst/>
          </a:prstGeom>
        </p:spPr>
        <p:txBody>
          <a:bodyPr wrap="square" lIns="0" tIns="0" rIns="0" bIns="0" anchor="ctr">
            <a:spAutoFit/>
          </a:bodyPr>
          <a:lstStyle/>
          <a:p>
            <a:pPr marL="285750"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Libraries like </a:t>
            </a:r>
            <a:r>
              <a:rPr lang="en-US" sz="1400" i="1" dirty="0" smtClean="0">
                <a:latin typeface="Calibri" panose="020F0502020204030204" pitchFamily="34" charset="0"/>
                <a:cs typeface="Calibri" panose="020F0502020204030204" pitchFamily="34" charset="0"/>
              </a:rPr>
              <a:t>tidyverse </a:t>
            </a:r>
            <a:r>
              <a:rPr lang="en-US" sz="1400" dirty="0" smtClean="0">
                <a:latin typeface="Calibri" panose="020F0502020204030204" pitchFamily="34" charset="0"/>
                <a:cs typeface="Calibri" panose="020F0502020204030204" pitchFamily="34" charset="0"/>
              </a:rPr>
              <a:t>and </a:t>
            </a:r>
            <a:r>
              <a:rPr lang="en-US" sz="1400" i="1" dirty="0" smtClean="0">
                <a:latin typeface="Calibri" panose="020F0502020204030204" pitchFamily="34" charset="0"/>
                <a:cs typeface="Calibri" panose="020F0502020204030204" pitchFamily="34" charset="0"/>
              </a:rPr>
              <a:t>lubridate </a:t>
            </a:r>
            <a:r>
              <a:rPr lang="en-US" sz="1400" dirty="0" smtClean="0">
                <a:latin typeface="Calibri" panose="020F0502020204030204" pitchFamily="34" charset="0"/>
                <a:cs typeface="Calibri" panose="020F0502020204030204" pitchFamily="34" charset="0"/>
              </a:rPr>
              <a:t>were used to aid this process.</a:t>
            </a:r>
          </a:p>
          <a:p>
            <a:pPr marL="285750"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Once the data was uploaded onto R, the columns were inspected, first for their names, then their data types.</a:t>
            </a:r>
          </a:p>
          <a:p>
            <a:pPr marL="285750"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Following the inspection, many changes were made: multiple columns were renamed either for cohesion or ease of use (</a:t>
            </a:r>
            <a:r>
              <a:rPr lang="en-US" sz="1400" dirty="0">
                <a:latin typeface="Calibri" panose="020F0502020204030204" pitchFamily="34" charset="0"/>
                <a:cs typeface="Calibri" panose="020F0502020204030204" pitchFamily="34" charset="0"/>
              </a:rPr>
              <a:t>for example </a:t>
            </a:r>
            <a:r>
              <a:rPr lang="en-US" sz="1400" i="1" dirty="0" smtClean="0">
                <a:latin typeface="Calibri" panose="020F0502020204030204" pitchFamily="34" charset="0"/>
                <a:cs typeface="Calibri" panose="020F0502020204030204" pitchFamily="34" charset="0"/>
              </a:rPr>
              <a:t>01 </a:t>
            </a:r>
            <a:r>
              <a:rPr lang="en-US" sz="1400" i="1" dirty="0">
                <a:latin typeface="Calibri" panose="020F0502020204030204" pitchFamily="34" charset="0"/>
                <a:cs typeface="Calibri" panose="020F0502020204030204" pitchFamily="34" charset="0"/>
              </a:rPr>
              <a:t>- Rental Details Rental </a:t>
            </a:r>
            <a:r>
              <a:rPr lang="en-US" sz="1400" i="1" dirty="0" smtClean="0">
                <a:latin typeface="Calibri" panose="020F0502020204030204" pitchFamily="34" charset="0"/>
                <a:cs typeface="Calibri" panose="020F0502020204030204" pitchFamily="34" charset="0"/>
              </a:rPr>
              <a:t>ID</a:t>
            </a:r>
            <a:r>
              <a:rPr lang="en-US" sz="1400" dirty="0">
                <a:latin typeface="Calibri" panose="020F0502020204030204" pitchFamily="34" charset="0"/>
                <a:cs typeface="Calibri" panose="020F0502020204030204" pitchFamily="34" charset="0"/>
              </a:rPr>
              <a:t> </a:t>
            </a:r>
            <a:r>
              <a:rPr lang="en-US" sz="1400" dirty="0" smtClean="0">
                <a:latin typeface="Calibri" panose="020F0502020204030204" pitchFamily="34" charset="0"/>
                <a:cs typeface="Calibri" panose="020F0502020204030204" pitchFamily="34" charset="0"/>
              </a:rPr>
              <a:t>became </a:t>
            </a:r>
            <a:r>
              <a:rPr lang="en-US" sz="1400" i="1" dirty="0" smtClean="0">
                <a:latin typeface="Calibri" panose="020F0502020204030204" pitchFamily="34" charset="0"/>
                <a:cs typeface="Calibri" panose="020F0502020204030204" pitchFamily="34" charset="0"/>
              </a:rPr>
              <a:t>ride_id</a:t>
            </a:r>
            <a:r>
              <a:rPr lang="en-US" sz="1400" dirty="0" smtClean="0">
                <a:latin typeface="Calibri" panose="020F0502020204030204" pitchFamily="34" charset="0"/>
                <a:cs typeface="Calibri" panose="020F0502020204030204" pitchFamily="34" charset="0"/>
              </a:rPr>
              <a:t>) and some data types were changed too (like the </a:t>
            </a:r>
            <a:r>
              <a:rPr lang="en-US" sz="1400" i="1" dirty="0" smtClean="0">
                <a:latin typeface="Calibri" panose="020F0502020204030204" pitchFamily="34" charset="0"/>
                <a:cs typeface="Calibri" panose="020F0502020204030204" pitchFamily="34" charset="0"/>
              </a:rPr>
              <a:t>ride_ids</a:t>
            </a:r>
            <a:r>
              <a:rPr lang="en-US" sz="1400" dirty="0" smtClean="0">
                <a:latin typeface="Calibri" panose="020F0502020204030204" pitchFamily="34" charset="0"/>
                <a:cs typeface="Calibri" panose="020F0502020204030204" pitchFamily="34" charset="0"/>
              </a:rPr>
              <a:t> of the different files were different types, so they were all </a:t>
            </a:r>
            <a:r>
              <a:rPr lang="en-US" sz="1400" dirty="0" smtClean="0">
                <a:latin typeface="Calibri" panose="020F0502020204030204" pitchFamily="34" charset="0"/>
                <a:cs typeface="Calibri" panose="020F0502020204030204" pitchFamily="34" charset="0"/>
              </a:rPr>
              <a:t>converted to </a:t>
            </a:r>
            <a:r>
              <a:rPr lang="en-US" sz="1400" dirty="0" smtClean="0">
                <a:latin typeface="Calibri" panose="020F0502020204030204" pitchFamily="34" charset="0"/>
                <a:cs typeface="Calibri" panose="020F0502020204030204" pitchFamily="34" charset="0"/>
              </a:rPr>
              <a:t>strings).</a:t>
            </a:r>
          </a:p>
          <a:p>
            <a:pPr marL="285750"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Subsequently, </a:t>
            </a:r>
            <a:r>
              <a:rPr lang="en-US" sz="1400" dirty="0" smtClean="0">
                <a:latin typeface="Calibri" panose="020F0502020204030204" pitchFamily="34" charset="0"/>
                <a:cs typeface="Calibri" panose="020F0502020204030204" pitchFamily="34" charset="0"/>
              </a:rPr>
              <a:t>the four data frames were merged into one, and conflicts like overlapping data and unique columns were removed (the 2020 datasets had columns that weren’t in the 2019 ones so they were removed).</a:t>
            </a:r>
          </a:p>
          <a:p>
            <a:pPr marL="285750"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Lastly the data was made cohesive by correcting any deviations from the expected values, and columns like </a:t>
            </a:r>
            <a:r>
              <a:rPr lang="en-US" sz="1400" i="1" dirty="0" smtClean="0">
                <a:latin typeface="Calibri" panose="020F0502020204030204" pitchFamily="34" charset="0"/>
                <a:cs typeface="Calibri" panose="020F0502020204030204" pitchFamily="34" charset="0"/>
              </a:rPr>
              <a:t>day</a:t>
            </a:r>
            <a:r>
              <a:rPr lang="en-US" sz="1400" dirty="0" smtClean="0">
                <a:latin typeface="Calibri" panose="020F0502020204030204" pitchFamily="34" charset="0"/>
                <a:cs typeface="Calibri" panose="020F0502020204030204" pitchFamily="34" charset="0"/>
              </a:rPr>
              <a:t> and </a:t>
            </a:r>
            <a:r>
              <a:rPr lang="en-US" sz="1400" i="1" dirty="0" smtClean="0">
                <a:latin typeface="Calibri" panose="020F0502020204030204" pitchFamily="34" charset="0"/>
                <a:cs typeface="Calibri" panose="020F0502020204030204" pitchFamily="34" charset="0"/>
              </a:rPr>
              <a:t>month</a:t>
            </a:r>
            <a:r>
              <a:rPr lang="en-US" sz="1400" dirty="0" smtClean="0">
                <a:latin typeface="Calibri" panose="020F0502020204030204" pitchFamily="34" charset="0"/>
                <a:cs typeface="Calibri" panose="020F0502020204030204" pitchFamily="34" charset="0"/>
              </a:rPr>
              <a:t> were added to aid in analysis.</a:t>
            </a:r>
          </a:p>
          <a:p>
            <a:pPr marL="285750" indent="-285750">
              <a:buFont typeface="Arial" panose="020B0604020202020204" pitchFamily="34" charset="0"/>
              <a:buChar char="•"/>
            </a:pPr>
            <a:endParaRPr lang="en-US" sz="1400" dirty="0" smtClean="0">
              <a:latin typeface="Calibri" panose="020F0502020204030204" pitchFamily="34" charset="0"/>
              <a:cs typeface="Calibri" panose="020F0502020204030204" pitchFamily="34" charset="0"/>
            </a:endParaRPr>
          </a:p>
        </p:txBody>
      </p:sp>
      <p:sp>
        <p:nvSpPr>
          <p:cNvPr id="151" name="Rectangle 150">
            <a:extLst>
              <a:ext uri="{FF2B5EF4-FFF2-40B4-BE49-F238E27FC236}">
                <a16:creationId xmlns:a16="http://schemas.microsoft.com/office/drawing/2014/main" xmlns="" id="{2809A67D-EE6E-45D1-AA73-B11A0B4F2508}"/>
              </a:ext>
            </a:extLst>
          </p:cNvPr>
          <p:cNvSpPr/>
          <p:nvPr/>
        </p:nvSpPr>
        <p:spPr>
          <a:xfrm>
            <a:off x="3283528" y="1241640"/>
            <a:ext cx="8075613" cy="2585323"/>
          </a:xfrm>
          <a:prstGeom prst="rect">
            <a:avLst/>
          </a:prstGeom>
        </p:spPr>
        <p:txBody>
          <a:bodyPr wrap="square" lIns="0" tIns="0" rIns="0" bIns="0" anchor="ctr">
            <a:spAutoFit/>
          </a:bodyPr>
          <a:lstStyle/>
          <a:p>
            <a:pPr marL="285750"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The data came in the form of a spreadsheet for each month, so the first thing I did was save them all as workbooks.</a:t>
            </a:r>
          </a:p>
          <a:p>
            <a:pPr marL="285750"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Next, I added </a:t>
            </a:r>
            <a:r>
              <a:rPr lang="en-US" sz="1400" dirty="0">
                <a:latin typeface="Calibri" panose="020F0502020204030204" pitchFamily="34" charset="0"/>
                <a:cs typeface="Calibri" panose="020F0502020204030204" pitchFamily="34" charset="0"/>
              </a:rPr>
              <a:t>columns </a:t>
            </a:r>
            <a:r>
              <a:rPr lang="en-US" sz="1400" i="1" dirty="0" smtClean="0">
                <a:latin typeface="Calibri" panose="020F0502020204030204" pitchFamily="34" charset="0"/>
                <a:cs typeface="Calibri" panose="020F0502020204030204" pitchFamily="34" charset="0"/>
              </a:rPr>
              <a:t>ride_length </a:t>
            </a:r>
            <a:r>
              <a:rPr lang="en-US" sz="1400" dirty="0">
                <a:latin typeface="Calibri" panose="020F0502020204030204" pitchFamily="34" charset="0"/>
                <a:cs typeface="Calibri" panose="020F0502020204030204" pitchFamily="34" charset="0"/>
              </a:rPr>
              <a:t>and </a:t>
            </a:r>
            <a:r>
              <a:rPr lang="en-US" sz="1400" i="1" dirty="0" smtClean="0">
                <a:latin typeface="Calibri" panose="020F0502020204030204" pitchFamily="34" charset="0"/>
                <a:cs typeface="Calibri" panose="020F0502020204030204" pitchFamily="34" charset="0"/>
              </a:rPr>
              <a:t>day_of_week</a:t>
            </a:r>
            <a:r>
              <a:rPr lang="en-US" sz="1400" dirty="0" smtClean="0">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rPr>
              <a:t>to aid in analysis</a:t>
            </a:r>
            <a:r>
              <a:rPr lang="en-US" sz="1400" dirty="0" smtClean="0">
                <a:latin typeface="Calibri" panose="020F0502020204030204" pitchFamily="34" charset="0"/>
                <a:cs typeface="Calibri" panose="020F0502020204030204" pitchFamily="34" charset="0"/>
              </a:rPr>
              <a:t>.</a:t>
            </a:r>
          </a:p>
          <a:p>
            <a:pPr marL="285750"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Thereafter, the following error containing rows were removed or corrected: </a:t>
            </a:r>
          </a:p>
          <a:p>
            <a:pPr marL="742950" lvl="1" indent="-285750">
              <a:buClr>
                <a:schemeClr val="accent3">
                  <a:lumMod val="75000"/>
                </a:schemeClr>
              </a:buClr>
              <a:buFont typeface="Wingdings" panose="05000000000000000000" pitchFamily="2" charset="2"/>
              <a:buChar char="Ø"/>
            </a:pPr>
            <a:r>
              <a:rPr lang="en-US" sz="1400" dirty="0">
                <a:latin typeface="Calibri" panose="020F0502020204030204" pitchFamily="34" charset="0"/>
                <a:cs typeface="Calibri" panose="020F0502020204030204" pitchFamily="34" charset="0"/>
              </a:rPr>
              <a:t>R</a:t>
            </a:r>
            <a:r>
              <a:rPr lang="en-US" sz="1400" dirty="0" smtClean="0">
                <a:latin typeface="Calibri" panose="020F0502020204030204" pitchFamily="34" charset="0"/>
                <a:cs typeface="Calibri" panose="020F0502020204030204" pitchFamily="34" charset="0"/>
              </a:rPr>
              <a:t>ows with start times </a:t>
            </a:r>
            <a:r>
              <a:rPr lang="en-US" sz="1400" dirty="0">
                <a:latin typeface="Calibri" panose="020F0502020204030204" pitchFamily="34" charset="0"/>
                <a:cs typeface="Calibri" panose="020F0502020204030204" pitchFamily="34" charset="0"/>
              </a:rPr>
              <a:t>before </a:t>
            </a:r>
            <a:r>
              <a:rPr lang="en-US" sz="1400" dirty="0" smtClean="0">
                <a:latin typeface="Calibri" panose="020F0502020204030204" pitchFamily="34" charset="0"/>
                <a:cs typeface="Calibri" panose="020F0502020204030204" pitchFamily="34" charset="0"/>
              </a:rPr>
              <a:t>their </a:t>
            </a:r>
            <a:r>
              <a:rPr lang="en-US" sz="1400" dirty="0">
                <a:latin typeface="Calibri" panose="020F0502020204030204" pitchFamily="34" charset="0"/>
                <a:cs typeface="Calibri" panose="020F0502020204030204" pitchFamily="34" charset="0"/>
              </a:rPr>
              <a:t>end </a:t>
            </a:r>
            <a:r>
              <a:rPr lang="en-US" sz="1400" dirty="0" smtClean="0">
                <a:latin typeface="Calibri" panose="020F0502020204030204" pitchFamily="34" charset="0"/>
                <a:cs typeface="Calibri" panose="020F0502020204030204" pitchFamily="34" charset="0"/>
              </a:rPr>
              <a:t>times, and rows that </a:t>
            </a:r>
            <a:r>
              <a:rPr lang="en-US" sz="1400" dirty="0">
                <a:latin typeface="Calibri" panose="020F0502020204030204" pitchFamily="34" charset="0"/>
                <a:cs typeface="Calibri" panose="020F0502020204030204" pitchFamily="34" charset="0"/>
              </a:rPr>
              <a:t>have start and end times on different dates </a:t>
            </a:r>
            <a:r>
              <a:rPr lang="en-US" sz="1400" dirty="0" smtClean="0">
                <a:latin typeface="Calibri" panose="020F0502020204030204" pitchFamily="34" charset="0"/>
                <a:cs typeface="Calibri" panose="020F0502020204030204" pitchFamily="34" charset="0"/>
              </a:rPr>
              <a:t>(rides that went on for longer </a:t>
            </a:r>
            <a:r>
              <a:rPr lang="en-US" sz="1400" dirty="0">
                <a:latin typeface="Calibri" panose="020F0502020204030204" pitchFamily="34" charset="0"/>
                <a:cs typeface="Calibri" panose="020F0502020204030204" pitchFamily="34" charset="0"/>
              </a:rPr>
              <a:t>than </a:t>
            </a:r>
            <a:r>
              <a:rPr lang="en-US" sz="1400" dirty="0" smtClean="0">
                <a:latin typeface="Calibri" panose="020F0502020204030204" pitchFamily="34" charset="0"/>
                <a:cs typeface="Calibri" panose="020F0502020204030204" pitchFamily="34" charset="0"/>
              </a:rPr>
              <a:t>a </a:t>
            </a:r>
            <a:r>
              <a:rPr lang="en-US" sz="1400" dirty="0">
                <a:latin typeface="Calibri" panose="020F0502020204030204" pitchFamily="34" charset="0"/>
                <a:cs typeface="Calibri" panose="020F0502020204030204" pitchFamily="34" charset="0"/>
              </a:rPr>
              <a:t>day). </a:t>
            </a:r>
            <a:endParaRPr lang="en-US" sz="1400" dirty="0" smtClean="0">
              <a:latin typeface="Calibri" panose="020F0502020204030204" pitchFamily="34" charset="0"/>
              <a:cs typeface="Calibri" panose="020F0502020204030204" pitchFamily="34" charset="0"/>
            </a:endParaRPr>
          </a:p>
          <a:p>
            <a:pPr marL="742950" lvl="1"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Any </a:t>
            </a:r>
            <a:r>
              <a:rPr lang="en-US" sz="1400" dirty="0">
                <a:latin typeface="Calibri" panose="020F0502020204030204" pitchFamily="34" charset="0"/>
                <a:cs typeface="Calibri" panose="020F0502020204030204" pitchFamily="34" charset="0"/>
              </a:rPr>
              <a:t>row with a duplicate id</a:t>
            </a:r>
            <a:r>
              <a:rPr lang="en-US" sz="1400" dirty="0" smtClean="0">
                <a:latin typeface="Calibri" panose="020F0502020204030204" pitchFamily="34" charset="0"/>
                <a:cs typeface="Calibri" panose="020F0502020204030204" pitchFamily="34" charset="0"/>
              </a:rPr>
              <a:t>.</a:t>
            </a:r>
          </a:p>
          <a:p>
            <a:pPr marL="742950" lvl="1"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Rows with blank or null values that could not be corrected.</a:t>
            </a:r>
          </a:p>
          <a:p>
            <a:pPr marL="742950" lvl="1"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Some rows were missing a </a:t>
            </a:r>
            <a:r>
              <a:rPr lang="en-US" sz="1400" i="1" dirty="0" smtClean="0">
                <a:latin typeface="Calibri" panose="020F0502020204030204" pitchFamily="34" charset="0"/>
                <a:cs typeface="Calibri" panose="020F0502020204030204" pitchFamily="34" charset="0"/>
              </a:rPr>
              <a:t>start_station_name</a:t>
            </a:r>
            <a:r>
              <a:rPr lang="en-US" sz="1400" dirty="0" smtClean="0">
                <a:latin typeface="Calibri" panose="020F0502020204030204" pitchFamily="34" charset="0"/>
                <a:cs typeface="Calibri" panose="020F0502020204030204" pitchFamily="34" charset="0"/>
              </a:rPr>
              <a:t> value, which was corrected using it’s </a:t>
            </a:r>
            <a:r>
              <a:rPr lang="en-US" sz="1400" i="1" dirty="0" smtClean="0">
                <a:latin typeface="Calibri" panose="020F0502020204030204" pitchFamily="34" charset="0"/>
                <a:cs typeface="Calibri" panose="020F0502020204030204" pitchFamily="34" charset="0"/>
              </a:rPr>
              <a:t>start_latitude </a:t>
            </a:r>
            <a:r>
              <a:rPr lang="en-US" sz="1400" dirty="0" smtClean="0">
                <a:latin typeface="Calibri" panose="020F0502020204030204" pitchFamily="34" charset="0"/>
                <a:cs typeface="Calibri" panose="020F0502020204030204" pitchFamily="34" charset="0"/>
              </a:rPr>
              <a:t>value.</a:t>
            </a:r>
          </a:p>
          <a:p>
            <a:pPr marL="285750" indent="-285750">
              <a:buClr>
                <a:schemeClr val="accent3">
                  <a:lumMod val="75000"/>
                </a:schemeClr>
              </a:buClr>
              <a:buFont typeface="Wingdings" panose="05000000000000000000" pitchFamily="2" charset="2"/>
              <a:buChar char="Ø"/>
            </a:pPr>
            <a:r>
              <a:rPr lang="en-US" sz="1400" dirty="0" smtClean="0">
                <a:latin typeface="Calibri" panose="020F0502020204030204" pitchFamily="34" charset="0"/>
                <a:cs typeface="Calibri" panose="020F0502020204030204" pitchFamily="34" charset="0"/>
              </a:rPr>
              <a:t>Lastly, the worksheets were merged into their corresponding quarters, creating the four files that were used in the analysis.</a:t>
            </a:r>
          </a:p>
        </p:txBody>
      </p:sp>
      <p:cxnSp>
        <p:nvCxnSpPr>
          <p:cNvPr id="152" name="Straight Connector 151">
            <a:extLst>
              <a:ext uri="{FF2B5EF4-FFF2-40B4-BE49-F238E27FC236}">
                <a16:creationId xmlns:a16="http://schemas.microsoft.com/office/drawing/2014/main" xmlns="" id="{A3D7D3F3-ED08-4CA9-8310-32E50A7BB0A5}"/>
              </a:ext>
              <a:ext uri="{C183D7F6-B498-43B3-948B-1728B52AA6E4}">
                <adec:decorative xmlns:adec="http://schemas.microsoft.com/office/drawing/2017/decorative" xmlns="" val="1"/>
              </a:ext>
            </a:extLst>
          </p:cNvPr>
          <p:cNvCxnSpPr>
            <a:cxnSpLocks/>
          </p:cNvCxnSpPr>
          <p:nvPr/>
        </p:nvCxnSpPr>
        <p:spPr>
          <a:xfrm>
            <a:off x="2994211" y="2136631"/>
            <a:ext cx="0" cy="795337"/>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153" name="Rectangle 152">
            <a:extLst>
              <a:ext uri="{FF2B5EF4-FFF2-40B4-BE49-F238E27FC236}">
                <a16:creationId xmlns:a16="http://schemas.microsoft.com/office/drawing/2014/main" xmlns="" id="{82D6D7C7-ED2D-4325-93B0-EE2B9C2B2CF7}"/>
              </a:ext>
            </a:extLst>
          </p:cNvPr>
          <p:cNvSpPr/>
          <p:nvPr/>
        </p:nvSpPr>
        <p:spPr>
          <a:xfrm>
            <a:off x="540334" y="1980302"/>
            <a:ext cx="2331714" cy="1107996"/>
          </a:xfrm>
          <a:prstGeom prst="rect">
            <a:avLst/>
          </a:prstGeom>
        </p:spPr>
        <p:txBody>
          <a:bodyPr wrap="square" lIns="0" tIns="0" rIns="0" bIns="0" anchor="ctr">
            <a:spAutoFit/>
          </a:bodyPr>
          <a:lstStyle/>
          <a:p>
            <a:pPr algn="ctr"/>
            <a:r>
              <a:rPr lang="en-US" sz="3600" b="1" dirty="0" smtClean="0">
                <a:solidFill>
                  <a:schemeClr val="accent3">
                    <a:lumMod val="75000"/>
                  </a:schemeClr>
                </a:solidFill>
                <a:latin typeface="Calibri" panose="020F0502020204030204" pitchFamily="34" charset="0"/>
                <a:cs typeface="Calibri" panose="020F0502020204030204" pitchFamily="34" charset="0"/>
              </a:rPr>
              <a:t>Microsoft</a:t>
            </a:r>
            <a:r>
              <a:rPr lang="en-US" sz="3200" b="1" dirty="0" smtClean="0">
                <a:solidFill>
                  <a:schemeClr val="accent3">
                    <a:lumMod val="75000"/>
                  </a:schemeClr>
                </a:solidFill>
                <a:latin typeface="Calibri" panose="020F0502020204030204" pitchFamily="34" charset="0"/>
                <a:cs typeface="Calibri" panose="020F0502020204030204" pitchFamily="34" charset="0"/>
              </a:rPr>
              <a:t> </a:t>
            </a:r>
            <a:r>
              <a:rPr lang="en-US" sz="3600" b="1" dirty="0" smtClean="0">
                <a:solidFill>
                  <a:schemeClr val="accent3">
                    <a:lumMod val="75000"/>
                  </a:schemeClr>
                </a:solidFill>
                <a:latin typeface="Calibri" panose="020F0502020204030204" pitchFamily="34" charset="0"/>
                <a:cs typeface="Calibri" panose="020F0502020204030204" pitchFamily="34" charset="0"/>
              </a:rPr>
              <a:t>Excel</a:t>
            </a:r>
            <a:endParaRPr lang="en-US" sz="3200" b="1" dirty="0">
              <a:solidFill>
                <a:schemeClr val="accent3">
                  <a:lumMod val="75000"/>
                </a:schemeClr>
              </a:solidFill>
              <a:latin typeface="Calibri" panose="020F0502020204030204" pitchFamily="34" charset="0"/>
              <a:cs typeface="Calibri" panose="020F0502020204030204" pitchFamily="34" charset="0"/>
            </a:endParaRPr>
          </a:p>
        </p:txBody>
      </p:sp>
      <p:cxnSp>
        <p:nvCxnSpPr>
          <p:cNvPr id="3" name="Straight Connector 2"/>
          <p:cNvCxnSpPr/>
          <p:nvPr/>
        </p:nvCxnSpPr>
        <p:spPr>
          <a:xfrm>
            <a:off x="838994" y="3941758"/>
            <a:ext cx="10527868" cy="9705"/>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xmlns="" id="{A3D7D3F3-ED08-4CA9-8310-32E50A7BB0A5}"/>
              </a:ext>
              <a:ext uri="{C183D7F6-B498-43B3-948B-1728B52AA6E4}">
                <adec:decorative xmlns:adec="http://schemas.microsoft.com/office/drawing/2017/decorative" xmlns="" val="1"/>
              </a:ext>
            </a:extLst>
          </p:cNvPr>
          <p:cNvCxnSpPr>
            <a:cxnSpLocks/>
          </p:cNvCxnSpPr>
          <p:nvPr/>
        </p:nvCxnSpPr>
        <p:spPr>
          <a:xfrm>
            <a:off x="9777196" y="4949469"/>
            <a:ext cx="0" cy="795337"/>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xmlns="" id="{82D6D7C7-ED2D-4325-93B0-EE2B9C2B2CF7}"/>
              </a:ext>
            </a:extLst>
          </p:cNvPr>
          <p:cNvSpPr/>
          <p:nvPr/>
        </p:nvSpPr>
        <p:spPr>
          <a:xfrm>
            <a:off x="9407237" y="4976208"/>
            <a:ext cx="1959624" cy="738664"/>
          </a:xfrm>
          <a:prstGeom prst="rect">
            <a:avLst/>
          </a:prstGeom>
        </p:spPr>
        <p:txBody>
          <a:bodyPr wrap="square" lIns="0" tIns="0" rIns="0" bIns="0" anchor="ctr">
            <a:spAutoFit/>
          </a:bodyPr>
          <a:lstStyle/>
          <a:p>
            <a:pPr algn="ctr"/>
            <a:r>
              <a:rPr lang="en-US" sz="4800" b="1" dirty="0" smtClean="0">
                <a:solidFill>
                  <a:schemeClr val="accent3">
                    <a:lumMod val="75000"/>
                  </a:schemeClr>
                </a:solidFill>
                <a:latin typeface="Calibri" panose="020F0502020204030204" pitchFamily="34" charset="0"/>
                <a:cs typeface="Calibri" panose="020F0502020204030204" pitchFamily="34" charset="0"/>
              </a:rPr>
              <a:t>R</a:t>
            </a:r>
            <a:endParaRPr lang="en-US" sz="4800" b="1" dirty="0">
              <a:solidFill>
                <a:schemeClr val="accent3">
                  <a:lumMod val="75000"/>
                </a:schemeClr>
              </a:solidFill>
              <a:latin typeface="Calibri" panose="020F0502020204030204" pitchFamily="34" charset="0"/>
              <a:cs typeface="Calibri" panose="020F0502020204030204" pitchFamily="34" charset="0"/>
            </a:endParaRPr>
          </a:p>
        </p:txBody>
      </p:sp>
      <p:sp>
        <p:nvSpPr>
          <p:cNvPr id="15" name="TextBox 14"/>
          <p:cNvSpPr txBox="1"/>
          <p:nvPr/>
        </p:nvSpPr>
        <p:spPr>
          <a:xfrm>
            <a:off x="1782366" y="678711"/>
            <a:ext cx="8608543" cy="461665"/>
          </a:xfrm>
          <a:prstGeom prst="rect">
            <a:avLst/>
          </a:prstGeom>
          <a:noFill/>
          <a:ln>
            <a:solidFill>
              <a:schemeClr val="accent3">
                <a:lumMod val="75000"/>
              </a:schemeClr>
            </a:solidFill>
          </a:ln>
        </p:spPr>
        <p:txBody>
          <a:bodyPr wrap="square" tIns="91440" bIns="0" rtlCol="0">
            <a:spAutoFit/>
          </a:bodyPr>
          <a:lstStyle/>
          <a:p>
            <a:pPr algn="just">
              <a:spcBef>
                <a:spcPts val="600"/>
              </a:spcBef>
            </a:pPr>
            <a:r>
              <a:rPr lang="en-US" baseline="30000" dirty="0" smtClean="0">
                <a:latin typeface="Calibri" panose="020F0502020204030204" pitchFamily="34" charset="0"/>
                <a:cs typeface="Calibri" panose="020F0502020204030204" pitchFamily="34" charset="0"/>
              </a:rPr>
              <a:t>The full process was documented and is available upon </a:t>
            </a:r>
            <a:r>
              <a:rPr lang="en-US" baseline="30000" dirty="0" smtClean="0">
                <a:latin typeface="Calibri" panose="020F0502020204030204" pitchFamily="34" charset="0"/>
                <a:cs typeface="Calibri" panose="020F0502020204030204" pitchFamily="34" charset="0"/>
              </a:rPr>
              <a:t>request</a:t>
            </a:r>
            <a:r>
              <a:rPr lang="en-US" baseline="30000" dirty="0">
                <a:latin typeface="Calibri" panose="020F0502020204030204" pitchFamily="34" charset="0"/>
                <a:cs typeface="Calibri" panose="020F0502020204030204" pitchFamily="34" charset="0"/>
              </a:rPr>
              <a:t>. A </a:t>
            </a:r>
            <a:r>
              <a:rPr lang="en-US" baseline="30000" dirty="0" smtClean="0">
                <a:latin typeface="Calibri" panose="020F0502020204030204" pitchFamily="34" charset="0"/>
                <a:cs typeface="Calibri" panose="020F0502020204030204" pitchFamily="34" charset="0"/>
              </a:rPr>
              <a:t>summary is given below</a:t>
            </a:r>
            <a:r>
              <a:rPr lang="en-US" baseline="30000" dirty="0">
                <a:latin typeface="Calibri" panose="020F0502020204030204" pitchFamily="34" charset="0"/>
                <a:cs typeface="Calibri" panose="020F0502020204030204" pitchFamily="34" charset="0"/>
              </a:rPr>
              <a:t>. </a:t>
            </a:r>
            <a:r>
              <a:rPr lang="en-US" baseline="30000" dirty="0" smtClean="0">
                <a:latin typeface="Calibri" panose="020F0502020204030204" pitchFamily="34" charset="0"/>
                <a:cs typeface="Calibri" panose="020F0502020204030204" pitchFamily="34" charset="0"/>
              </a:rPr>
              <a:t>Additionally,</a:t>
            </a:r>
            <a:r>
              <a:rPr lang="en-US" baseline="30000" dirty="0">
                <a:latin typeface="Calibri" panose="020F0502020204030204" pitchFamily="34" charset="0"/>
                <a:cs typeface="Calibri" panose="020F0502020204030204" pitchFamily="34" charset="0"/>
              </a:rPr>
              <a:t> d</a:t>
            </a:r>
            <a:r>
              <a:rPr lang="en-US" baseline="30000" dirty="0" smtClean="0">
                <a:latin typeface="Calibri" panose="020F0502020204030204" pitchFamily="34" charset="0"/>
                <a:cs typeface="Calibri" panose="020F0502020204030204" pitchFamily="34" charset="0"/>
              </a:rPr>
              <a:t>ata </a:t>
            </a:r>
            <a:r>
              <a:rPr lang="en-US" baseline="30000" dirty="0" smtClean="0">
                <a:latin typeface="Calibri" panose="020F0502020204030204" pitchFamily="34" charset="0"/>
                <a:cs typeface="Calibri" panose="020F0502020204030204" pitchFamily="34" charset="0"/>
              </a:rPr>
              <a:t>integrity was maintained by keeping the process consistent and not altering important figures.</a:t>
            </a:r>
            <a:endParaRPr lang="en-GB" baseline="30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49918033"/>
      </p:ext>
    </p:extLst>
  </p:cSld>
  <p:clrMapOvr>
    <a:masterClrMapping/>
  </p:clrMapOvr>
  <p:transition spd="slow">
    <p:cov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xmlns=""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latin typeface="Calibri" panose="020F0502020204030204" pitchFamily="34" charset="0"/>
                <a:cs typeface="Calibri" panose="020F0502020204030204" pitchFamily="34" charset="0"/>
              </a:rPr>
              <a:t>Analysis Insights</a:t>
            </a:r>
            <a:r>
              <a:rPr lang="en-US" sz="2800" dirty="0">
                <a:solidFill>
                  <a:schemeClr val="tx1">
                    <a:lumMod val="75000"/>
                    <a:lumOff val="25000"/>
                  </a:schemeClr>
                </a:solidFill>
                <a:latin typeface="Calibri" panose="020F0502020204030204" pitchFamily="34" charset="0"/>
                <a:cs typeface="Calibri" panose="020F0502020204030204" pitchFamily="34" charset="0"/>
              </a:rPr>
              <a:t/>
            </a:r>
            <a:br>
              <a:rPr lang="en-US" sz="2800" dirty="0">
                <a:solidFill>
                  <a:schemeClr val="tx1">
                    <a:lumMod val="75000"/>
                    <a:lumOff val="25000"/>
                  </a:schemeClr>
                </a:solidFill>
                <a:latin typeface="Calibri" panose="020F0502020204030204" pitchFamily="34" charset="0"/>
                <a:cs typeface="Calibri" panose="020F0502020204030204" pitchFamily="34" charset="0"/>
              </a:rPr>
            </a:br>
            <a:endParaRPr lang="en-US" sz="2800" dirty="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xmlns="" id="{16FB0785-0013-474B-B959-F2CC8F4C0C1E}"/>
              </a:ext>
            </a:extLst>
          </p:cNvPr>
          <p:cNvSpPr/>
          <p:nvPr/>
        </p:nvSpPr>
        <p:spPr>
          <a:xfrm>
            <a:off x="228599" y="628289"/>
            <a:ext cx="2601335" cy="1949252"/>
          </a:xfrm>
          <a:prstGeom prst="rect">
            <a:avLst/>
          </a:prstGeom>
        </p:spPr>
        <p:txBody>
          <a:bodyPr wrap="square" lIns="0" tIns="0" rIns="0" bIns="0" anchor="t">
            <a:spAutoFit/>
          </a:bodyPr>
          <a:lstStyle/>
          <a:p>
            <a:pPr algn="just">
              <a:lnSpc>
                <a:spcPts val="1900"/>
              </a:lnSpc>
            </a:pPr>
            <a:r>
              <a:rPr lang="en-US" sz="1200" dirty="0">
                <a:latin typeface="Calibri" panose="020F0502020204030204" pitchFamily="34" charset="0"/>
                <a:cs typeface="Calibri" panose="020F0502020204030204" pitchFamily="34" charset="0"/>
              </a:rPr>
              <a:t>The average ride length for all customers is </a:t>
            </a:r>
            <a:r>
              <a:rPr lang="en-US" sz="1200" b="1" dirty="0">
                <a:latin typeface="Calibri" panose="020F0502020204030204" pitchFamily="34" charset="0"/>
                <a:cs typeface="Calibri" panose="020F0502020204030204" pitchFamily="34" charset="0"/>
              </a:rPr>
              <a:t>19.13</a:t>
            </a:r>
            <a:r>
              <a:rPr lang="en-US" sz="1200" dirty="0">
                <a:latin typeface="Calibri" panose="020F0502020204030204" pitchFamily="34" charset="0"/>
                <a:cs typeface="Calibri" panose="020F0502020204030204" pitchFamily="34" charset="0"/>
              </a:rPr>
              <a:t> minutes, however the casual rider averages a ride length of </a:t>
            </a:r>
            <a:r>
              <a:rPr lang="en-US" sz="1200" b="1" dirty="0">
                <a:solidFill>
                  <a:schemeClr val="accent3">
                    <a:lumMod val="75000"/>
                  </a:schemeClr>
                </a:solidFill>
                <a:latin typeface="Calibri" panose="020F0502020204030204" pitchFamily="34" charset="0"/>
                <a:cs typeface="Calibri" panose="020F0502020204030204" pitchFamily="34" charset="0"/>
              </a:rPr>
              <a:t>39.56</a:t>
            </a:r>
            <a:r>
              <a:rPr lang="en-US" sz="1200" dirty="0">
                <a:latin typeface="Calibri" panose="020F0502020204030204" pitchFamily="34" charset="0"/>
                <a:cs typeface="Calibri" panose="020F0502020204030204" pitchFamily="34" charset="0"/>
              </a:rPr>
              <a:t> minutes, while members average </a:t>
            </a:r>
            <a:r>
              <a:rPr lang="en-US" sz="1200" b="1" dirty="0">
                <a:solidFill>
                  <a:schemeClr val="accent4">
                    <a:lumMod val="75000"/>
                  </a:schemeClr>
                </a:solidFill>
                <a:latin typeface="Calibri" panose="020F0502020204030204" pitchFamily="34" charset="0"/>
                <a:cs typeface="Calibri" panose="020F0502020204030204" pitchFamily="34" charset="0"/>
              </a:rPr>
              <a:t>12.94</a:t>
            </a:r>
            <a:r>
              <a:rPr lang="en-US" sz="1200" dirty="0">
                <a:latin typeface="Calibri" panose="020F0502020204030204" pitchFamily="34" charset="0"/>
                <a:cs typeface="Calibri" panose="020F0502020204030204" pitchFamily="34" charset="0"/>
              </a:rPr>
              <a:t> minutes. Members and </a:t>
            </a:r>
            <a:r>
              <a:rPr lang="en-US" sz="1200" dirty="0" smtClean="0">
                <a:latin typeface="Calibri" panose="020F0502020204030204" pitchFamily="34" charset="0"/>
                <a:cs typeface="Calibri" panose="020F0502020204030204" pitchFamily="34" charset="0"/>
              </a:rPr>
              <a:t>casual </a:t>
            </a:r>
            <a:r>
              <a:rPr lang="en-US" sz="1200" dirty="0">
                <a:latin typeface="Calibri" panose="020F0502020204030204" pitchFamily="34" charset="0"/>
                <a:cs typeface="Calibri" panose="020F0502020204030204" pitchFamily="34" charset="0"/>
              </a:rPr>
              <a:t>riders both rode longer on weekends, with the highest average ride lengths coming on </a:t>
            </a:r>
            <a:r>
              <a:rPr lang="en-US" sz="1200" b="1" dirty="0">
                <a:latin typeface="Calibri" panose="020F0502020204030204" pitchFamily="34" charset="0"/>
                <a:cs typeface="Calibri" panose="020F0502020204030204" pitchFamily="34" charset="0"/>
              </a:rPr>
              <a:t>Saturday</a:t>
            </a:r>
            <a:r>
              <a:rPr lang="en-US" sz="1200" dirty="0">
                <a:latin typeface="Calibri" panose="020F0502020204030204" pitchFamily="34" charset="0"/>
                <a:cs typeface="Calibri" panose="020F0502020204030204" pitchFamily="34" charset="0"/>
              </a:rPr>
              <a:t>, </a:t>
            </a:r>
            <a:r>
              <a:rPr lang="en-US" sz="1200" dirty="0" smtClean="0">
                <a:latin typeface="Calibri" panose="020F0502020204030204" pitchFamily="34" charset="0"/>
                <a:cs typeface="Calibri" panose="020F0502020204030204" pitchFamily="34" charset="0"/>
              </a:rPr>
              <a:t>followed by </a:t>
            </a:r>
            <a:r>
              <a:rPr lang="en-US" sz="1200" b="1" dirty="0">
                <a:latin typeface="Calibri" panose="020F0502020204030204" pitchFamily="34" charset="0"/>
                <a:cs typeface="Calibri" panose="020F0502020204030204" pitchFamily="34" charset="0"/>
              </a:rPr>
              <a:t>Sunday</a:t>
            </a:r>
            <a:r>
              <a:rPr lang="en-US" sz="1200" dirty="0">
                <a:latin typeface="Calibri" panose="020F0502020204030204" pitchFamily="34" charset="0"/>
                <a:cs typeface="Calibri" panose="020F0502020204030204" pitchFamily="34" charset="0"/>
              </a:rPr>
              <a:t>. </a:t>
            </a:r>
          </a:p>
        </p:txBody>
      </p:sp>
      <p:sp>
        <p:nvSpPr>
          <p:cNvPr id="33" name="Rectangle 32">
            <a:extLst>
              <a:ext uri="{FF2B5EF4-FFF2-40B4-BE49-F238E27FC236}">
                <a16:creationId xmlns:a16="http://schemas.microsoft.com/office/drawing/2014/main" xmlns="" id="{913AB221-FD8D-4664-9B4C-AE1B1660ECAA}"/>
              </a:ext>
            </a:extLst>
          </p:cNvPr>
          <p:cNvSpPr/>
          <p:nvPr/>
        </p:nvSpPr>
        <p:spPr>
          <a:xfrm>
            <a:off x="3332018" y="623473"/>
            <a:ext cx="5139047" cy="1461939"/>
          </a:xfrm>
          <a:prstGeom prst="rect">
            <a:avLst/>
          </a:prstGeom>
        </p:spPr>
        <p:txBody>
          <a:bodyPr wrap="square" lIns="0" tIns="0" rIns="0" bIns="0" anchor="t">
            <a:spAutoFit/>
          </a:bodyPr>
          <a:lstStyle/>
          <a:p>
            <a:pPr algn="just">
              <a:lnSpc>
                <a:spcPts val="1900"/>
              </a:lnSpc>
            </a:pPr>
            <a:r>
              <a:rPr lang="en-US" sz="1200" dirty="0">
                <a:latin typeface="Calibri" panose="020F0502020204030204" pitchFamily="34" charset="0"/>
                <a:cs typeface="Calibri" panose="020F0502020204030204" pitchFamily="34" charset="0"/>
              </a:rPr>
              <a:t>Of the total </a:t>
            </a:r>
            <a:r>
              <a:rPr lang="en-US" sz="1200" b="1" dirty="0">
                <a:latin typeface="Calibri" panose="020F0502020204030204" pitchFamily="34" charset="0"/>
                <a:cs typeface="Calibri" panose="020F0502020204030204" pitchFamily="34" charset="0"/>
              </a:rPr>
              <a:t>3,874,095</a:t>
            </a:r>
            <a:r>
              <a:rPr lang="en-US" sz="1200" dirty="0">
                <a:latin typeface="Calibri" panose="020F0502020204030204" pitchFamily="34" charset="0"/>
                <a:cs typeface="Calibri" panose="020F0502020204030204" pitchFamily="34" charset="0"/>
              </a:rPr>
              <a:t> trips taken that year, members took </a:t>
            </a:r>
            <a:r>
              <a:rPr lang="en-US" sz="1200" b="1" dirty="0">
                <a:solidFill>
                  <a:schemeClr val="accent4">
                    <a:lumMod val="75000"/>
                  </a:schemeClr>
                </a:solidFill>
                <a:latin typeface="Calibri" panose="020F0502020204030204" pitchFamily="34" charset="0"/>
                <a:cs typeface="Calibri" panose="020F0502020204030204" pitchFamily="34" charset="0"/>
              </a:rPr>
              <a:t>2,973,420</a:t>
            </a:r>
            <a:r>
              <a:rPr lang="en-US" sz="1200" dirty="0">
                <a:latin typeface="Calibri" panose="020F0502020204030204" pitchFamily="34" charset="0"/>
                <a:cs typeface="Calibri" panose="020F0502020204030204" pitchFamily="34" charset="0"/>
              </a:rPr>
              <a:t> rides, while casual riders took </a:t>
            </a:r>
            <a:r>
              <a:rPr lang="en-US" sz="1200" b="1" dirty="0">
                <a:solidFill>
                  <a:schemeClr val="accent3">
                    <a:lumMod val="75000"/>
                  </a:schemeClr>
                </a:solidFill>
                <a:latin typeface="Calibri" panose="020F0502020204030204" pitchFamily="34" charset="0"/>
                <a:cs typeface="Calibri" panose="020F0502020204030204" pitchFamily="34" charset="0"/>
              </a:rPr>
              <a:t>900,675</a:t>
            </a:r>
            <a:r>
              <a:rPr lang="en-US" sz="1200" dirty="0">
                <a:latin typeface="Calibri" panose="020F0502020204030204" pitchFamily="34" charset="0"/>
                <a:cs typeface="Calibri" panose="020F0502020204030204" pitchFamily="34" charset="0"/>
              </a:rPr>
              <a:t> rides, </a:t>
            </a:r>
            <a:r>
              <a:rPr lang="en-US" sz="1200" b="1" dirty="0">
                <a:solidFill>
                  <a:schemeClr val="accent4">
                    <a:lumMod val="75000"/>
                  </a:schemeClr>
                </a:solidFill>
                <a:latin typeface="Calibri" panose="020F0502020204030204" pitchFamily="34" charset="0"/>
                <a:cs typeface="Calibri" panose="020F0502020204030204" pitchFamily="34" charset="0"/>
              </a:rPr>
              <a:t>76.75%</a:t>
            </a:r>
            <a:r>
              <a:rPr lang="en-US" sz="1200" dirty="0">
                <a:latin typeface="Calibri" panose="020F0502020204030204" pitchFamily="34" charset="0"/>
                <a:cs typeface="Calibri" panose="020F0502020204030204" pitchFamily="34" charset="0"/>
              </a:rPr>
              <a:t> and </a:t>
            </a:r>
            <a:r>
              <a:rPr lang="en-US" sz="1200" b="1" dirty="0">
                <a:solidFill>
                  <a:schemeClr val="accent3">
                    <a:lumMod val="75000"/>
                  </a:schemeClr>
                </a:solidFill>
                <a:latin typeface="Calibri" panose="020F0502020204030204" pitchFamily="34" charset="0"/>
                <a:cs typeface="Calibri" panose="020F0502020204030204" pitchFamily="34" charset="0"/>
              </a:rPr>
              <a:t>23.25%</a:t>
            </a:r>
            <a:r>
              <a:rPr lang="en-US" sz="1200" dirty="0">
                <a:latin typeface="Calibri" panose="020F0502020204030204" pitchFamily="34" charset="0"/>
                <a:cs typeface="Calibri" panose="020F0502020204030204" pitchFamily="34" charset="0"/>
              </a:rPr>
              <a:t> respectively. Members took more rides during the weekdays, with the highest day being </a:t>
            </a:r>
            <a:r>
              <a:rPr lang="en-US" sz="1200" b="1" dirty="0">
                <a:solidFill>
                  <a:schemeClr val="accent4">
                    <a:lumMod val="75000"/>
                  </a:schemeClr>
                </a:solidFill>
                <a:latin typeface="Calibri" panose="020F0502020204030204" pitchFamily="34" charset="0"/>
                <a:cs typeface="Calibri" panose="020F0502020204030204" pitchFamily="34" charset="0"/>
              </a:rPr>
              <a:t>Tuesday</a:t>
            </a:r>
            <a:r>
              <a:rPr lang="en-US" sz="1200" dirty="0">
                <a:latin typeface="Calibri" panose="020F0502020204030204" pitchFamily="34" charset="0"/>
                <a:cs typeface="Calibri" panose="020F0502020204030204" pitchFamily="34" charset="0"/>
              </a:rPr>
              <a:t> followed by </a:t>
            </a:r>
            <a:r>
              <a:rPr lang="en-US" sz="1200" b="1" dirty="0">
                <a:solidFill>
                  <a:schemeClr val="accent4">
                    <a:lumMod val="75000"/>
                  </a:schemeClr>
                </a:solidFill>
                <a:latin typeface="Calibri" panose="020F0502020204030204" pitchFamily="34" charset="0"/>
                <a:cs typeface="Calibri" panose="020F0502020204030204" pitchFamily="34" charset="0"/>
              </a:rPr>
              <a:t>Wednesday</a:t>
            </a:r>
            <a:r>
              <a:rPr lang="en-US" sz="1200" dirty="0">
                <a:latin typeface="Calibri" panose="020F0502020204030204" pitchFamily="34" charset="0"/>
                <a:cs typeface="Calibri" panose="020F0502020204030204" pitchFamily="34" charset="0"/>
              </a:rPr>
              <a:t>, casual riders took more on the weekends, with their highest day being </a:t>
            </a:r>
            <a:r>
              <a:rPr lang="en-US" sz="1200" b="1" dirty="0">
                <a:solidFill>
                  <a:schemeClr val="accent3">
                    <a:lumMod val="75000"/>
                  </a:schemeClr>
                </a:solidFill>
                <a:latin typeface="Calibri" panose="020F0502020204030204" pitchFamily="34" charset="0"/>
                <a:cs typeface="Calibri" panose="020F0502020204030204" pitchFamily="34" charset="0"/>
              </a:rPr>
              <a:t>Saturday</a:t>
            </a:r>
            <a:r>
              <a:rPr lang="en-US" sz="1200" dirty="0">
                <a:latin typeface="Calibri" panose="020F0502020204030204" pitchFamily="34" charset="0"/>
                <a:cs typeface="Calibri" panose="020F0502020204030204" pitchFamily="34" charset="0"/>
              </a:rPr>
              <a:t> followed by </a:t>
            </a:r>
            <a:r>
              <a:rPr lang="en-US" sz="1200" b="1" dirty="0">
                <a:solidFill>
                  <a:schemeClr val="accent3">
                    <a:lumMod val="75000"/>
                  </a:schemeClr>
                </a:solidFill>
                <a:latin typeface="Calibri" panose="020F0502020204030204" pitchFamily="34" charset="0"/>
                <a:cs typeface="Calibri" panose="020F0502020204030204" pitchFamily="34" charset="0"/>
              </a:rPr>
              <a:t>Sunday</a:t>
            </a:r>
            <a:r>
              <a:rPr lang="en-US" sz="1200" dirty="0">
                <a:latin typeface="Calibri" panose="020F0502020204030204" pitchFamily="34" charset="0"/>
                <a:cs typeface="Calibri" panose="020F0502020204030204" pitchFamily="34" charset="0"/>
              </a:rPr>
              <a:t>.</a:t>
            </a:r>
          </a:p>
          <a:p>
            <a:pPr algn="ctr">
              <a:lnSpc>
                <a:spcPts val="1900"/>
              </a:lnSpc>
            </a:pPr>
            <a:endParaRPr lang="en-US" sz="1200"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4" name="Rectangle 33">
            <a:extLst>
              <a:ext uri="{FF2B5EF4-FFF2-40B4-BE49-F238E27FC236}">
                <a16:creationId xmlns:a16="http://schemas.microsoft.com/office/drawing/2014/main" xmlns="" id="{53F5EDC0-C02E-4790-A681-CA7AB9133338}"/>
              </a:ext>
            </a:extLst>
          </p:cNvPr>
          <p:cNvSpPr/>
          <p:nvPr/>
        </p:nvSpPr>
        <p:spPr>
          <a:xfrm>
            <a:off x="9019486" y="620783"/>
            <a:ext cx="2943915" cy="2923877"/>
          </a:xfrm>
          <a:prstGeom prst="rect">
            <a:avLst/>
          </a:prstGeom>
        </p:spPr>
        <p:txBody>
          <a:bodyPr wrap="square" lIns="0" tIns="0" rIns="0" bIns="0" anchor="t">
            <a:spAutoFit/>
          </a:bodyPr>
          <a:lstStyle/>
          <a:p>
            <a:pPr algn="just">
              <a:lnSpc>
                <a:spcPts val="1900"/>
              </a:lnSpc>
            </a:pPr>
            <a:r>
              <a:rPr lang="en-US" sz="1200" dirty="0" smtClean="0">
                <a:latin typeface="Calibri" panose="020F0502020204030204" pitchFamily="34" charset="0"/>
                <a:cs typeface="Calibri" panose="020F0502020204030204" pitchFamily="34" charset="0"/>
              </a:rPr>
              <a:t>The seasonal data shows, that </a:t>
            </a:r>
            <a:r>
              <a:rPr lang="en-US" sz="1200" dirty="0">
                <a:latin typeface="Calibri" panose="020F0502020204030204" pitchFamily="34" charset="0"/>
                <a:cs typeface="Calibri" panose="020F0502020204030204" pitchFamily="34" charset="0"/>
              </a:rPr>
              <a:t>casual riders rode the longest in </a:t>
            </a:r>
            <a:r>
              <a:rPr lang="en-US" sz="1200" b="1" dirty="0">
                <a:solidFill>
                  <a:schemeClr val="accent3">
                    <a:lumMod val="75000"/>
                  </a:schemeClr>
                </a:solidFill>
                <a:latin typeface="Calibri" panose="020F0502020204030204" pitchFamily="34" charset="0"/>
                <a:cs typeface="Calibri" panose="020F0502020204030204" pitchFamily="34" charset="0"/>
              </a:rPr>
              <a:t>Spring</a:t>
            </a:r>
            <a:r>
              <a:rPr lang="en-US" sz="1200" dirty="0">
                <a:latin typeface="Calibri" panose="020F0502020204030204" pitchFamily="34" charset="0"/>
                <a:cs typeface="Calibri" panose="020F0502020204030204" pitchFamily="34" charset="0"/>
              </a:rPr>
              <a:t> (</a:t>
            </a:r>
            <a:r>
              <a:rPr lang="en-US" sz="1200" b="1" dirty="0">
                <a:solidFill>
                  <a:schemeClr val="accent3">
                    <a:lumMod val="75000"/>
                  </a:schemeClr>
                </a:solidFill>
                <a:latin typeface="Calibri" panose="020F0502020204030204" pitchFamily="34" charset="0"/>
                <a:cs typeface="Calibri" panose="020F0502020204030204" pitchFamily="34" charset="0"/>
              </a:rPr>
              <a:t>41.28</a:t>
            </a:r>
            <a:r>
              <a:rPr lang="en-US" sz="1200" dirty="0">
                <a:latin typeface="Calibri" panose="020F0502020204030204" pitchFamily="34" charset="0"/>
                <a:cs typeface="Calibri" panose="020F0502020204030204" pitchFamily="34" charset="0"/>
              </a:rPr>
              <a:t> minutes) but took a lot more rides in the </a:t>
            </a:r>
            <a:r>
              <a:rPr lang="en-US" sz="1200" b="1" dirty="0">
                <a:solidFill>
                  <a:schemeClr val="accent3">
                    <a:lumMod val="75000"/>
                  </a:schemeClr>
                </a:solidFill>
                <a:latin typeface="Calibri" panose="020F0502020204030204" pitchFamily="34" charset="0"/>
                <a:cs typeface="Calibri" panose="020F0502020204030204" pitchFamily="34" charset="0"/>
              </a:rPr>
              <a:t>Summer</a:t>
            </a:r>
            <a:r>
              <a:rPr lang="en-US" sz="1200" dirty="0">
                <a:latin typeface="Calibri" panose="020F0502020204030204" pitchFamily="34" charset="0"/>
                <a:cs typeface="Calibri" panose="020F0502020204030204" pitchFamily="34" charset="0"/>
              </a:rPr>
              <a:t> (</a:t>
            </a:r>
            <a:r>
              <a:rPr lang="en-US" sz="1200" b="1" dirty="0">
                <a:solidFill>
                  <a:schemeClr val="accent3">
                    <a:lumMod val="75000"/>
                  </a:schemeClr>
                </a:solidFill>
                <a:latin typeface="Calibri" panose="020F0502020204030204" pitchFamily="34" charset="0"/>
                <a:cs typeface="Calibri" panose="020F0502020204030204" pitchFamily="34" charset="0"/>
              </a:rPr>
              <a:t>492,124</a:t>
            </a:r>
            <a:r>
              <a:rPr lang="en-US" sz="1200" dirty="0">
                <a:latin typeface="Calibri" panose="020F0502020204030204" pitchFamily="34" charset="0"/>
                <a:cs typeface="Calibri" panose="020F0502020204030204" pitchFamily="34" charset="0"/>
              </a:rPr>
              <a:t> rides</a:t>
            </a:r>
            <a:r>
              <a:rPr lang="en-US" sz="1200" dirty="0" smtClean="0">
                <a:latin typeface="Calibri" panose="020F0502020204030204" pitchFamily="34" charset="0"/>
                <a:cs typeface="Calibri" panose="020F0502020204030204" pitchFamily="34" charset="0"/>
              </a:rPr>
              <a:t>). While </a:t>
            </a:r>
            <a:r>
              <a:rPr lang="en-US" sz="1200" dirty="0">
                <a:latin typeface="Calibri" panose="020F0502020204030204" pitchFamily="34" charset="0"/>
                <a:cs typeface="Calibri" panose="020F0502020204030204" pitchFamily="34" charset="0"/>
              </a:rPr>
              <a:t>members also took the largest share of their rides in the </a:t>
            </a:r>
            <a:r>
              <a:rPr lang="en-US" sz="1200" b="1" dirty="0">
                <a:solidFill>
                  <a:schemeClr val="accent4">
                    <a:lumMod val="75000"/>
                  </a:schemeClr>
                </a:solidFill>
                <a:latin typeface="Calibri" panose="020F0502020204030204" pitchFamily="34" charset="0"/>
                <a:cs typeface="Calibri" panose="020F0502020204030204" pitchFamily="34" charset="0"/>
              </a:rPr>
              <a:t>Summer</a:t>
            </a:r>
            <a:r>
              <a:rPr lang="en-US" sz="1200" dirty="0">
                <a:latin typeface="Calibri" panose="020F0502020204030204" pitchFamily="34" charset="0"/>
                <a:cs typeface="Calibri" panose="020F0502020204030204" pitchFamily="34" charset="0"/>
              </a:rPr>
              <a:t> (</a:t>
            </a:r>
            <a:r>
              <a:rPr lang="en-US" sz="1200" b="1" dirty="0">
                <a:solidFill>
                  <a:schemeClr val="accent4">
                    <a:lumMod val="75000"/>
                  </a:schemeClr>
                </a:solidFill>
                <a:latin typeface="Calibri" panose="020F0502020204030204" pitchFamily="34" charset="0"/>
                <a:cs typeface="Calibri" panose="020F0502020204030204" pitchFamily="34" charset="0"/>
              </a:rPr>
              <a:t>1,129,991</a:t>
            </a:r>
            <a:r>
              <a:rPr lang="en-US" sz="1200" dirty="0">
                <a:latin typeface="Calibri" panose="020F0502020204030204" pitchFamily="34" charset="0"/>
                <a:cs typeface="Calibri" panose="020F0502020204030204" pitchFamily="34" charset="0"/>
              </a:rPr>
              <a:t> rides), their longest average ride duration occurred in the </a:t>
            </a:r>
            <a:r>
              <a:rPr lang="en-US" sz="1200" b="1" dirty="0">
                <a:solidFill>
                  <a:schemeClr val="accent4">
                    <a:lumMod val="75000"/>
                  </a:schemeClr>
                </a:solidFill>
                <a:latin typeface="Calibri" panose="020F0502020204030204" pitchFamily="34" charset="0"/>
                <a:cs typeface="Calibri" panose="020F0502020204030204" pitchFamily="34" charset="0"/>
              </a:rPr>
              <a:t>Summer</a:t>
            </a:r>
            <a:r>
              <a:rPr lang="en-US" sz="1200" dirty="0">
                <a:latin typeface="Calibri" panose="020F0502020204030204" pitchFamily="34" charset="0"/>
                <a:cs typeface="Calibri" panose="020F0502020204030204" pitchFamily="34" charset="0"/>
              </a:rPr>
              <a:t> (</a:t>
            </a:r>
            <a:r>
              <a:rPr lang="en-US" sz="1200" b="1" dirty="0">
                <a:solidFill>
                  <a:schemeClr val="accent4">
                    <a:lumMod val="75000"/>
                  </a:schemeClr>
                </a:solidFill>
                <a:latin typeface="Calibri" panose="020F0502020204030204" pitchFamily="34" charset="0"/>
                <a:cs typeface="Calibri" panose="020F0502020204030204" pitchFamily="34" charset="0"/>
              </a:rPr>
              <a:t>14.09</a:t>
            </a:r>
            <a:r>
              <a:rPr lang="en-US" sz="1200" dirty="0">
                <a:latin typeface="Calibri" panose="020F0502020204030204" pitchFamily="34" charset="0"/>
                <a:cs typeface="Calibri" panose="020F0502020204030204" pitchFamily="34" charset="0"/>
              </a:rPr>
              <a:t> minutes) too. Naturally, </a:t>
            </a:r>
            <a:r>
              <a:rPr lang="en-US" sz="1200" b="1" dirty="0">
                <a:latin typeface="Calibri" panose="020F0502020204030204" pitchFamily="34" charset="0"/>
                <a:cs typeface="Calibri" panose="020F0502020204030204" pitchFamily="34" charset="0"/>
              </a:rPr>
              <a:t>Winter</a:t>
            </a:r>
            <a:r>
              <a:rPr lang="en-US" sz="1200" dirty="0">
                <a:latin typeface="Calibri" panose="020F0502020204030204" pitchFamily="34" charset="0"/>
                <a:cs typeface="Calibri" panose="020F0502020204030204" pitchFamily="34" charset="0"/>
              </a:rPr>
              <a:t> saw the shortest amount of rides, however, both types of riders took more significantly more rides in the </a:t>
            </a:r>
            <a:r>
              <a:rPr lang="en-US" sz="1200" b="1" dirty="0">
                <a:latin typeface="Calibri" panose="020F0502020204030204" pitchFamily="34" charset="0"/>
                <a:cs typeface="Calibri" panose="020F0502020204030204" pitchFamily="34" charset="0"/>
              </a:rPr>
              <a:t>Fall</a:t>
            </a:r>
            <a:r>
              <a:rPr lang="en-US" sz="1200" dirty="0">
                <a:latin typeface="Calibri" panose="020F0502020204030204" pitchFamily="34" charset="0"/>
                <a:cs typeface="Calibri" panose="020F0502020204030204" pitchFamily="34" charset="0"/>
              </a:rPr>
              <a:t> than in the Spring, even though they rode for longer during the latter.</a:t>
            </a:r>
          </a:p>
        </p:txBody>
      </p:sp>
      <p:sp>
        <p:nvSpPr>
          <p:cNvPr id="35" name="Rectangle 34">
            <a:extLst>
              <a:ext uri="{FF2B5EF4-FFF2-40B4-BE49-F238E27FC236}">
                <a16:creationId xmlns:a16="http://schemas.microsoft.com/office/drawing/2014/main" xmlns="" id="{857F5370-BF8E-406B-BEAE-B1224615626A}"/>
              </a:ext>
            </a:extLst>
          </p:cNvPr>
          <p:cNvSpPr/>
          <p:nvPr/>
        </p:nvSpPr>
        <p:spPr>
          <a:xfrm>
            <a:off x="112647" y="4421436"/>
            <a:ext cx="2717287" cy="2436564"/>
          </a:xfrm>
          <a:prstGeom prst="rect">
            <a:avLst/>
          </a:prstGeom>
        </p:spPr>
        <p:txBody>
          <a:bodyPr wrap="square" lIns="0" tIns="0" rIns="0" bIns="0" anchor="t">
            <a:spAutoFit/>
          </a:bodyPr>
          <a:lstStyle/>
          <a:p>
            <a:pPr algn="just">
              <a:lnSpc>
                <a:spcPts val="1900"/>
              </a:lnSpc>
            </a:pPr>
            <a:r>
              <a:rPr lang="en-US" sz="1200" dirty="0">
                <a:latin typeface="Calibri" panose="020F0502020204030204" pitchFamily="34" charset="0"/>
                <a:cs typeface="Calibri" panose="020F0502020204030204" pitchFamily="34" charset="0"/>
              </a:rPr>
              <a:t>As for the monthly data, </a:t>
            </a:r>
            <a:r>
              <a:rPr lang="en-US" sz="1200" dirty="0" smtClean="0">
                <a:latin typeface="Calibri" panose="020F0502020204030204" pitchFamily="34" charset="0"/>
                <a:cs typeface="Calibri" panose="020F0502020204030204" pitchFamily="34" charset="0"/>
              </a:rPr>
              <a:t>casual </a:t>
            </a:r>
            <a:r>
              <a:rPr lang="en-US" sz="1200" dirty="0">
                <a:latin typeface="Calibri" panose="020F0502020204030204" pitchFamily="34" charset="0"/>
                <a:cs typeface="Calibri" panose="020F0502020204030204" pitchFamily="34" charset="0"/>
              </a:rPr>
              <a:t>riders rode for longer in </a:t>
            </a:r>
            <a:r>
              <a:rPr lang="en-US" sz="1200" b="1" dirty="0">
                <a:solidFill>
                  <a:schemeClr val="accent3">
                    <a:lumMod val="75000"/>
                  </a:schemeClr>
                </a:solidFill>
                <a:latin typeface="Calibri" panose="020F0502020204030204" pitchFamily="34" charset="0"/>
                <a:cs typeface="Calibri" panose="020F0502020204030204" pitchFamily="34" charset="0"/>
              </a:rPr>
              <a:t>May</a:t>
            </a:r>
            <a:r>
              <a:rPr lang="en-US" sz="1200" dirty="0">
                <a:latin typeface="Calibri" panose="020F0502020204030204" pitchFamily="34" charset="0"/>
                <a:cs typeface="Calibri" panose="020F0502020204030204" pitchFamily="34" charset="0"/>
              </a:rPr>
              <a:t> (</a:t>
            </a:r>
            <a:r>
              <a:rPr lang="en-US" sz="1200" b="1" dirty="0">
                <a:solidFill>
                  <a:schemeClr val="accent3">
                    <a:lumMod val="75000"/>
                  </a:schemeClr>
                </a:solidFill>
                <a:latin typeface="Calibri" panose="020F0502020204030204" pitchFamily="34" charset="0"/>
                <a:cs typeface="Calibri" panose="020F0502020204030204" pitchFamily="34" charset="0"/>
              </a:rPr>
              <a:t>41.58</a:t>
            </a:r>
            <a:r>
              <a:rPr lang="en-US" sz="1200" dirty="0">
                <a:latin typeface="Calibri" panose="020F0502020204030204" pitchFamily="34" charset="0"/>
                <a:cs typeface="Calibri" panose="020F0502020204030204" pitchFamily="34" charset="0"/>
              </a:rPr>
              <a:t> minutes) followed by </a:t>
            </a:r>
            <a:r>
              <a:rPr lang="en-US" sz="1200" b="1" dirty="0">
                <a:solidFill>
                  <a:schemeClr val="accent3">
                    <a:lumMod val="75000"/>
                  </a:schemeClr>
                </a:solidFill>
                <a:latin typeface="Calibri" panose="020F0502020204030204" pitchFamily="34" charset="0"/>
                <a:cs typeface="Calibri" panose="020F0502020204030204" pitchFamily="34" charset="0"/>
              </a:rPr>
              <a:t>March</a:t>
            </a:r>
            <a:r>
              <a:rPr lang="en-US" sz="1200" dirty="0">
                <a:latin typeface="Calibri" panose="020F0502020204030204" pitchFamily="34" charset="0"/>
                <a:cs typeface="Calibri" panose="020F0502020204030204" pitchFamily="34" charset="0"/>
              </a:rPr>
              <a:t> (</a:t>
            </a:r>
            <a:r>
              <a:rPr lang="en-US" sz="1200" b="1" dirty="0">
                <a:solidFill>
                  <a:schemeClr val="accent3">
                    <a:lumMod val="75000"/>
                  </a:schemeClr>
                </a:solidFill>
                <a:latin typeface="Calibri" panose="020F0502020204030204" pitchFamily="34" charset="0"/>
                <a:cs typeface="Calibri" panose="020F0502020204030204" pitchFamily="34" charset="0"/>
              </a:rPr>
              <a:t>41.07</a:t>
            </a:r>
            <a:r>
              <a:rPr lang="en-US" sz="1200" dirty="0">
                <a:latin typeface="Calibri" panose="020F0502020204030204" pitchFamily="34" charset="0"/>
                <a:cs typeface="Calibri" panose="020F0502020204030204" pitchFamily="34" charset="0"/>
              </a:rPr>
              <a:t> minutes), but they took more rides during </a:t>
            </a:r>
            <a:r>
              <a:rPr lang="en-US" sz="1200" b="1" dirty="0">
                <a:solidFill>
                  <a:schemeClr val="accent3">
                    <a:lumMod val="75000"/>
                  </a:schemeClr>
                </a:solidFill>
                <a:latin typeface="Calibri" panose="020F0502020204030204" pitchFamily="34" charset="0"/>
                <a:cs typeface="Calibri" panose="020F0502020204030204" pitchFamily="34" charset="0"/>
              </a:rPr>
              <a:t>August</a:t>
            </a:r>
            <a:r>
              <a:rPr lang="en-US" sz="1200" dirty="0">
                <a:latin typeface="Calibri" panose="020F0502020204030204" pitchFamily="34" charset="0"/>
                <a:cs typeface="Calibri" panose="020F0502020204030204" pitchFamily="34" charset="0"/>
              </a:rPr>
              <a:t> (</a:t>
            </a:r>
            <a:r>
              <a:rPr lang="en-US" sz="1200" b="1" dirty="0">
                <a:solidFill>
                  <a:schemeClr val="accent3">
                    <a:lumMod val="75000"/>
                  </a:schemeClr>
                </a:solidFill>
                <a:latin typeface="Calibri" panose="020F0502020204030204" pitchFamily="34" charset="0"/>
                <a:cs typeface="Calibri" panose="020F0502020204030204" pitchFamily="34" charset="0"/>
              </a:rPr>
              <a:t>186,625</a:t>
            </a:r>
            <a:r>
              <a:rPr lang="en-US" sz="1200" dirty="0">
                <a:latin typeface="Calibri" panose="020F0502020204030204" pitchFamily="34" charset="0"/>
                <a:cs typeface="Calibri" panose="020F0502020204030204" pitchFamily="34" charset="0"/>
              </a:rPr>
              <a:t> rides), </a:t>
            </a:r>
            <a:r>
              <a:rPr lang="en-US" sz="1200" dirty="0" smtClean="0">
                <a:latin typeface="Calibri" panose="020F0502020204030204" pitchFamily="34" charset="0"/>
                <a:cs typeface="Calibri" panose="020F0502020204030204" pitchFamily="34" charset="0"/>
              </a:rPr>
              <a:t>and </a:t>
            </a:r>
            <a:r>
              <a:rPr lang="en-US" sz="1200" b="1" dirty="0">
                <a:solidFill>
                  <a:schemeClr val="accent3">
                    <a:lumMod val="75000"/>
                  </a:schemeClr>
                </a:solidFill>
                <a:latin typeface="Calibri" panose="020F0502020204030204" pitchFamily="34" charset="0"/>
                <a:cs typeface="Calibri" panose="020F0502020204030204" pitchFamily="34" charset="0"/>
              </a:rPr>
              <a:t>July</a:t>
            </a:r>
            <a:r>
              <a:rPr lang="en-US" sz="1200" dirty="0">
                <a:latin typeface="Calibri" panose="020F0502020204030204" pitchFamily="34" charset="0"/>
                <a:cs typeface="Calibri" panose="020F0502020204030204" pitchFamily="34" charset="0"/>
              </a:rPr>
              <a:t> (</a:t>
            </a:r>
            <a:r>
              <a:rPr lang="en-US" sz="1200" b="1" dirty="0">
                <a:solidFill>
                  <a:schemeClr val="accent3">
                    <a:lumMod val="75000"/>
                  </a:schemeClr>
                </a:solidFill>
                <a:latin typeface="Calibri" panose="020F0502020204030204" pitchFamily="34" charset="0"/>
                <a:cs typeface="Calibri" panose="020F0502020204030204" pitchFamily="34" charset="0"/>
              </a:rPr>
              <a:t>175,433</a:t>
            </a:r>
            <a:r>
              <a:rPr lang="en-US" sz="1200" dirty="0">
                <a:latin typeface="Calibri" panose="020F0502020204030204" pitchFamily="34" charset="0"/>
                <a:cs typeface="Calibri" panose="020F0502020204030204" pitchFamily="34" charset="0"/>
              </a:rPr>
              <a:t> rides). Members also saw the most rides taken during </a:t>
            </a:r>
            <a:r>
              <a:rPr lang="en-US" sz="1200" b="1" dirty="0">
                <a:solidFill>
                  <a:schemeClr val="accent4">
                    <a:lumMod val="75000"/>
                  </a:schemeClr>
                </a:solidFill>
                <a:latin typeface="Calibri" panose="020F0502020204030204" pitchFamily="34" charset="0"/>
                <a:cs typeface="Calibri" panose="020F0502020204030204" pitchFamily="34" charset="0"/>
              </a:rPr>
              <a:t>August</a:t>
            </a:r>
            <a:r>
              <a:rPr lang="en-US" sz="1200" dirty="0">
                <a:latin typeface="Calibri" panose="020F0502020204030204" pitchFamily="34" charset="0"/>
                <a:cs typeface="Calibri" panose="020F0502020204030204" pitchFamily="34" charset="0"/>
              </a:rPr>
              <a:t> (</a:t>
            </a:r>
            <a:r>
              <a:rPr lang="en-US" sz="1200" b="1" dirty="0">
                <a:solidFill>
                  <a:schemeClr val="accent4">
                    <a:lumMod val="75000"/>
                  </a:schemeClr>
                </a:solidFill>
                <a:latin typeface="Calibri" panose="020F0502020204030204" pitchFamily="34" charset="0"/>
                <a:cs typeface="Calibri" panose="020F0502020204030204" pitchFamily="34" charset="0"/>
              </a:rPr>
              <a:t>403,241</a:t>
            </a:r>
            <a:r>
              <a:rPr lang="en-US" sz="1200" dirty="0">
                <a:latin typeface="Calibri" panose="020F0502020204030204" pitchFamily="34" charset="0"/>
                <a:cs typeface="Calibri" panose="020F0502020204030204" pitchFamily="34" charset="0"/>
              </a:rPr>
              <a:t> rides) and July (</a:t>
            </a:r>
            <a:r>
              <a:rPr lang="en-US" sz="1200" b="1" dirty="0">
                <a:solidFill>
                  <a:schemeClr val="accent4">
                    <a:lumMod val="75000"/>
                  </a:schemeClr>
                </a:solidFill>
                <a:latin typeface="Calibri" panose="020F0502020204030204" pitchFamily="34" charset="0"/>
                <a:cs typeface="Calibri" panose="020F0502020204030204" pitchFamily="34" charset="0"/>
              </a:rPr>
              <a:t>381,615</a:t>
            </a:r>
            <a:r>
              <a:rPr lang="en-US" sz="1200" dirty="0">
                <a:latin typeface="Calibri" panose="020F0502020204030204" pitchFamily="34" charset="0"/>
                <a:cs typeface="Calibri" panose="020F0502020204030204" pitchFamily="34" charset="0"/>
              </a:rPr>
              <a:t> rides), with their longest rides taking place in </a:t>
            </a:r>
            <a:r>
              <a:rPr lang="en-US" sz="1200" b="1" dirty="0">
                <a:solidFill>
                  <a:schemeClr val="accent4">
                    <a:lumMod val="75000"/>
                  </a:schemeClr>
                </a:solidFill>
                <a:latin typeface="Calibri" panose="020F0502020204030204" pitchFamily="34" charset="0"/>
                <a:cs typeface="Calibri" panose="020F0502020204030204" pitchFamily="34" charset="0"/>
              </a:rPr>
              <a:t>July</a:t>
            </a:r>
            <a:r>
              <a:rPr lang="en-US" sz="1200" dirty="0">
                <a:latin typeface="Calibri" panose="020F0502020204030204" pitchFamily="34" charset="0"/>
                <a:cs typeface="Calibri" panose="020F0502020204030204" pitchFamily="34" charset="0"/>
              </a:rPr>
              <a:t> (</a:t>
            </a:r>
            <a:r>
              <a:rPr lang="en-US" sz="1200" b="1" dirty="0">
                <a:solidFill>
                  <a:schemeClr val="accent4">
                    <a:lumMod val="75000"/>
                  </a:schemeClr>
                </a:solidFill>
                <a:latin typeface="Calibri" panose="020F0502020204030204" pitchFamily="34" charset="0"/>
                <a:cs typeface="Calibri" panose="020F0502020204030204" pitchFamily="34" charset="0"/>
              </a:rPr>
              <a:t>14.35</a:t>
            </a:r>
            <a:r>
              <a:rPr lang="en-US" sz="1200" dirty="0">
                <a:latin typeface="Calibri" panose="020F0502020204030204" pitchFamily="34" charset="0"/>
                <a:cs typeface="Calibri" panose="020F0502020204030204" pitchFamily="34" charset="0"/>
              </a:rPr>
              <a:t> minutes) ahead of </a:t>
            </a:r>
            <a:r>
              <a:rPr lang="en-US" sz="1200" b="1" dirty="0">
                <a:solidFill>
                  <a:schemeClr val="accent4">
                    <a:lumMod val="75000"/>
                  </a:schemeClr>
                </a:solidFill>
                <a:latin typeface="Calibri" panose="020F0502020204030204" pitchFamily="34" charset="0"/>
                <a:cs typeface="Calibri" panose="020F0502020204030204" pitchFamily="34" charset="0"/>
              </a:rPr>
              <a:t>June</a:t>
            </a:r>
            <a:r>
              <a:rPr lang="en-US" sz="1200" dirty="0">
                <a:latin typeface="Calibri" panose="020F0502020204030204" pitchFamily="34" charset="0"/>
                <a:cs typeface="Calibri" panose="020F0502020204030204" pitchFamily="34" charset="0"/>
              </a:rPr>
              <a:t> (</a:t>
            </a:r>
            <a:r>
              <a:rPr lang="en-US" sz="1200" b="1" dirty="0">
                <a:solidFill>
                  <a:schemeClr val="accent4">
                    <a:lumMod val="75000"/>
                  </a:schemeClr>
                </a:solidFill>
                <a:latin typeface="Calibri" panose="020F0502020204030204" pitchFamily="34" charset="0"/>
                <a:cs typeface="Calibri" panose="020F0502020204030204" pitchFamily="34" charset="0"/>
              </a:rPr>
              <a:t>14.04</a:t>
            </a:r>
            <a:r>
              <a:rPr lang="en-US" sz="1200" b="1" dirty="0">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minutes</a:t>
            </a:r>
            <a:r>
              <a:rPr lang="en-US" sz="1200" dirty="0" smtClean="0">
                <a:latin typeface="Calibri" panose="020F0502020204030204" pitchFamily="34" charset="0"/>
                <a:cs typeface="Calibri" panose="020F0502020204030204" pitchFamily="34" charset="0"/>
              </a:rPr>
              <a:t>).</a:t>
            </a:r>
            <a:endParaRPr lang="en-US" sz="1200" dirty="0">
              <a:latin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xmlns="" id="{98F5A313-1C6C-4AEE-8556-576074B1BF06}"/>
              </a:ext>
            </a:extLst>
          </p:cNvPr>
          <p:cNvSpPr/>
          <p:nvPr/>
        </p:nvSpPr>
        <p:spPr>
          <a:xfrm>
            <a:off x="3378351" y="5168199"/>
            <a:ext cx="5139047" cy="1685333"/>
          </a:xfrm>
          <a:prstGeom prst="rect">
            <a:avLst/>
          </a:prstGeom>
        </p:spPr>
        <p:txBody>
          <a:bodyPr wrap="square" lIns="0" tIns="0" rIns="0" bIns="0" anchor="t">
            <a:spAutoFit/>
          </a:bodyPr>
          <a:lstStyle/>
          <a:p>
            <a:pPr algn="just">
              <a:lnSpc>
                <a:spcPts val="1900"/>
              </a:lnSpc>
            </a:pPr>
            <a:r>
              <a:rPr lang="en-US" sz="1200" dirty="0">
                <a:latin typeface="Calibri" panose="020F0502020204030204" pitchFamily="34" charset="0"/>
                <a:cs typeface="Calibri" panose="020F0502020204030204" pitchFamily="34" charset="0"/>
              </a:rPr>
              <a:t>When looking at hours, casual riders travelled the longest from </a:t>
            </a:r>
            <a:r>
              <a:rPr lang="en-US" sz="1200" b="1" dirty="0">
                <a:solidFill>
                  <a:schemeClr val="accent3">
                    <a:lumMod val="75000"/>
                  </a:schemeClr>
                </a:solidFill>
                <a:latin typeface="Calibri" panose="020F0502020204030204" pitchFamily="34" charset="0"/>
                <a:cs typeface="Calibri" panose="020F0502020204030204" pitchFamily="34" charset="0"/>
              </a:rPr>
              <a:t>10:00-11:00</a:t>
            </a:r>
            <a:r>
              <a:rPr lang="en-US" sz="1200" dirty="0">
                <a:latin typeface="Calibri" panose="020F0502020204030204" pitchFamily="34" charset="0"/>
                <a:cs typeface="Calibri" panose="020F0502020204030204" pitchFamily="34" charset="0"/>
              </a:rPr>
              <a:t> (</a:t>
            </a:r>
            <a:r>
              <a:rPr lang="en-US" sz="1200" b="1" dirty="0">
                <a:solidFill>
                  <a:schemeClr val="accent3">
                    <a:lumMod val="75000"/>
                  </a:schemeClr>
                </a:solidFill>
                <a:latin typeface="Calibri" panose="020F0502020204030204" pitchFamily="34" charset="0"/>
                <a:cs typeface="Calibri" panose="020F0502020204030204" pitchFamily="34" charset="0"/>
              </a:rPr>
              <a:t>46.43</a:t>
            </a:r>
            <a:r>
              <a:rPr lang="en-US" sz="1200" dirty="0">
                <a:latin typeface="Calibri" panose="020F0502020204030204" pitchFamily="34" charset="0"/>
                <a:cs typeface="Calibri" panose="020F0502020204030204" pitchFamily="34" charset="0"/>
              </a:rPr>
              <a:t> minutes) this trend continued until </a:t>
            </a:r>
            <a:r>
              <a:rPr lang="en-US" sz="1200" b="1" dirty="0">
                <a:solidFill>
                  <a:schemeClr val="accent3">
                    <a:lumMod val="75000"/>
                  </a:schemeClr>
                </a:solidFill>
                <a:latin typeface="Calibri" panose="020F0502020204030204" pitchFamily="34" charset="0"/>
                <a:cs typeface="Calibri" panose="020F0502020204030204" pitchFamily="34" charset="0"/>
              </a:rPr>
              <a:t>14:00</a:t>
            </a:r>
            <a:r>
              <a:rPr lang="en-US" sz="1200" dirty="0">
                <a:latin typeface="Calibri" panose="020F0502020204030204" pitchFamily="34" charset="0"/>
                <a:cs typeface="Calibri" panose="020F0502020204030204" pitchFamily="34" charset="0"/>
              </a:rPr>
              <a:t>; however, the largest number of rides take place between </a:t>
            </a:r>
            <a:r>
              <a:rPr lang="en-US" sz="1200" b="1" dirty="0">
                <a:solidFill>
                  <a:schemeClr val="accent3">
                    <a:lumMod val="75000"/>
                  </a:schemeClr>
                </a:solidFill>
                <a:latin typeface="Calibri" panose="020F0502020204030204" pitchFamily="34" charset="0"/>
                <a:cs typeface="Calibri" panose="020F0502020204030204" pitchFamily="34" charset="0"/>
              </a:rPr>
              <a:t>17:00-18:00 </a:t>
            </a:r>
            <a:r>
              <a:rPr lang="en-US" sz="1200" dirty="0">
                <a:latin typeface="Calibri" panose="020F0502020204030204" pitchFamily="34" charset="0"/>
                <a:cs typeface="Calibri" panose="020F0502020204030204" pitchFamily="34" charset="0"/>
              </a:rPr>
              <a:t>(</a:t>
            </a:r>
            <a:r>
              <a:rPr lang="en-US" sz="1200" b="1" dirty="0">
                <a:solidFill>
                  <a:schemeClr val="accent3">
                    <a:lumMod val="75000"/>
                  </a:schemeClr>
                </a:solidFill>
                <a:latin typeface="Calibri" panose="020F0502020204030204" pitchFamily="34" charset="0"/>
                <a:cs typeface="Calibri" panose="020F0502020204030204" pitchFamily="34" charset="0"/>
              </a:rPr>
              <a:t>86,642</a:t>
            </a:r>
            <a:r>
              <a:rPr lang="en-US" sz="1200" dirty="0">
                <a:latin typeface="Calibri" panose="020F0502020204030204" pitchFamily="34" charset="0"/>
                <a:cs typeface="Calibri" panose="020F0502020204030204" pitchFamily="34" charset="0"/>
              </a:rPr>
              <a:t> rides), although this is the peak ridership is usually high from </a:t>
            </a:r>
            <a:r>
              <a:rPr lang="en-US" sz="1200" b="1" dirty="0">
                <a:solidFill>
                  <a:schemeClr val="accent3">
                    <a:lumMod val="75000"/>
                  </a:schemeClr>
                </a:solidFill>
                <a:latin typeface="Calibri" panose="020F0502020204030204" pitchFamily="34" charset="0"/>
                <a:cs typeface="Calibri" panose="020F0502020204030204" pitchFamily="34" charset="0"/>
              </a:rPr>
              <a:t>13:00</a:t>
            </a:r>
            <a:r>
              <a:rPr lang="en-US" sz="1200" dirty="0">
                <a:latin typeface="Calibri" panose="020F0502020204030204" pitchFamily="34" charset="0"/>
                <a:cs typeface="Calibri" panose="020F0502020204030204" pitchFamily="34" charset="0"/>
              </a:rPr>
              <a:t>. Members travelled the longest from </a:t>
            </a:r>
            <a:r>
              <a:rPr lang="en-US" sz="1200" b="1" dirty="0">
                <a:solidFill>
                  <a:schemeClr val="accent4">
                    <a:lumMod val="75000"/>
                  </a:schemeClr>
                </a:solidFill>
                <a:latin typeface="Calibri" panose="020F0502020204030204" pitchFamily="34" charset="0"/>
                <a:cs typeface="Calibri" panose="020F0502020204030204" pitchFamily="34" charset="0"/>
              </a:rPr>
              <a:t>17:00-18:00</a:t>
            </a:r>
            <a:r>
              <a:rPr lang="en-US" sz="1200" dirty="0">
                <a:latin typeface="Calibri" panose="020F0502020204030204" pitchFamily="34" charset="0"/>
                <a:cs typeface="Calibri" panose="020F0502020204030204" pitchFamily="34" charset="0"/>
              </a:rPr>
              <a:t> (</a:t>
            </a:r>
            <a:r>
              <a:rPr lang="en-US" sz="1200" b="1" dirty="0">
                <a:solidFill>
                  <a:schemeClr val="accent4">
                    <a:lumMod val="75000"/>
                  </a:schemeClr>
                </a:solidFill>
                <a:latin typeface="Calibri" panose="020F0502020204030204" pitchFamily="34" charset="0"/>
                <a:cs typeface="Calibri" panose="020F0502020204030204" pitchFamily="34" charset="0"/>
              </a:rPr>
              <a:t>13.77</a:t>
            </a:r>
            <a:r>
              <a:rPr lang="en-US" sz="1200" dirty="0">
                <a:latin typeface="Calibri" panose="020F0502020204030204" pitchFamily="34" charset="0"/>
                <a:cs typeface="Calibri" panose="020F0502020204030204" pitchFamily="34" charset="0"/>
              </a:rPr>
              <a:t> minutes) the next longest starts at </a:t>
            </a:r>
            <a:r>
              <a:rPr lang="en-US" sz="1200" b="1" dirty="0">
                <a:solidFill>
                  <a:schemeClr val="accent4">
                    <a:lumMod val="75000"/>
                  </a:schemeClr>
                </a:solidFill>
                <a:latin typeface="Calibri" panose="020F0502020204030204" pitchFamily="34" charset="0"/>
                <a:cs typeface="Calibri" panose="020F0502020204030204" pitchFamily="34" charset="0"/>
              </a:rPr>
              <a:t>12:00</a:t>
            </a:r>
            <a:r>
              <a:rPr lang="en-US" sz="1200" dirty="0">
                <a:latin typeface="Calibri" panose="020F0502020204030204" pitchFamily="34" charset="0"/>
                <a:cs typeface="Calibri" panose="020F0502020204030204" pitchFamily="34" charset="0"/>
              </a:rPr>
              <a:t>; furthermore, the largest number of rides also take place between </a:t>
            </a:r>
            <a:r>
              <a:rPr lang="en-US" sz="1200" b="1" dirty="0">
                <a:solidFill>
                  <a:schemeClr val="accent4">
                    <a:lumMod val="75000"/>
                  </a:schemeClr>
                </a:solidFill>
                <a:latin typeface="Calibri" panose="020F0502020204030204" pitchFamily="34" charset="0"/>
                <a:cs typeface="Calibri" panose="020F0502020204030204" pitchFamily="34" charset="0"/>
              </a:rPr>
              <a:t>17:00-18:00</a:t>
            </a:r>
            <a:r>
              <a:rPr lang="en-US" sz="1200" b="1" dirty="0">
                <a:solidFill>
                  <a:schemeClr val="accent3">
                    <a:lumMod val="75000"/>
                  </a:schemeClr>
                </a:solidFill>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a:t>
            </a:r>
            <a:r>
              <a:rPr lang="en-US" sz="1200" b="1" dirty="0">
                <a:solidFill>
                  <a:schemeClr val="accent4">
                    <a:lumMod val="75000"/>
                  </a:schemeClr>
                </a:solidFill>
                <a:latin typeface="Calibri" panose="020F0502020204030204" pitchFamily="34" charset="0"/>
                <a:cs typeface="Calibri" panose="020F0502020204030204" pitchFamily="34" charset="0"/>
              </a:rPr>
              <a:t>86,642</a:t>
            </a:r>
            <a:r>
              <a:rPr lang="en-US" sz="1200" dirty="0">
                <a:latin typeface="Calibri" panose="020F0502020204030204" pitchFamily="34" charset="0"/>
                <a:cs typeface="Calibri" panose="020F0502020204030204" pitchFamily="34" charset="0"/>
              </a:rPr>
              <a:t> rides), with the next two </a:t>
            </a:r>
            <a:r>
              <a:rPr lang="en-US" sz="1200" dirty="0" smtClean="0">
                <a:latin typeface="Calibri" panose="020F0502020204030204" pitchFamily="34" charset="0"/>
                <a:cs typeface="Calibri" panose="020F0502020204030204" pitchFamily="34" charset="0"/>
              </a:rPr>
              <a:t>time slots </a:t>
            </a:r>
            <a:r>
              <a:rPr lang="en-US" sz="1200" dirty="0">
                <a:latin typeface="Calibri" panose="020F0502020204030204" pitchFamily="34" charset="0"/>
                <a:cs typeface="Calibri" panose="020F0502020204030204" pitchFamily="34" charset="0"/>
              </a:rPr>
              <a:t>starting at: </a:t>
            </a:r>
            <a:r>
              <a:rPr lang="en-US" sz="1200" b="1" dirty="0">
                <a:solidFill>
                  <a:schemeClr val="accent4">
                    <a:lumMod val="75000"/>
                  </a:schemeClr>
                </a:solidFill>
                <a:latin typeface="Calibri" panose="020F0502020204030204" pitchFamily="34" charset="0"/>
                <a:cs typeface="Calibri" panose="020F0502020204030204" pitchFamily="34" charset="0"/>
              </a:rPr>
              <a:t>16:00</a:t>
            </a:r>
            <a:r>
              <a:rPr lang="en-US" sz="1200" dirty="0">
                <a:latin typeface="Calibri" panose="020F0502020204030204" pitchFamily="34" charset="0"/>
                <a:cs typeface="Calibri" panose="020F0502020204030204" pitchFamily="34" charset="0"/>
              </a:rPr>
              <a:t> and</a:t>
            </a:r>
            <a:r>
              <a:rPr lang="en-US" sz="1200" b="1" dirty="0">
                <a:solidFill>
                  <a:schemeClr val="accent3">
                    <a:lumMod val="75000"/>
                  </a:schemeClr>
                </a:solidFill>
                <a:latin typeface="Calibri" panose="020F0502020204030204" pitchFamily="34" charset="0"/>
                <a:cs typeface="Calibri" panose="020F0502020204030204" pitchFamily="34" charset="0"/>
              </a:rPr>
              <a:t> </a:t>
            </a:r>
            <a:r>
              <a:rPr lang="en-US" sz="1200" b="1" dirty="0">
                <a:solidFill>
                  <a:schemeClr val="accent4">
                    <a:lumMod val="75000"/>
                  </a:schemeClr>
                </a:solidFill>
                <a:latin typeface="Calibri" panose="020F0502020204030204" pitchFamily="34" charset="0"/>
                <a:cs typeface="Calibri" panose="020F0502020204030204" pitchFamily="34" charset="0"/>
              </a:rPr>
              <a:t>8:00</a:t>
            </a:r>
            <a:r>
              <a:rPr lang="en-US" sz="1200" dirty="0">
                <a:latin typeface="Calibri" panose="020F0502020204030204" pitchFamily="34" charset="0"/>
                <a:cs typeface="Calibri" panose="020F0502020204030204" pitchFamily="34" charset="0"/>
              </a:rPr>
              <a:t>.</a:t>
            </a:r>
            <a:endParaRPr lang="en-US" sz="1200"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7" name="Rectangle 36">
            <a:extLst>
              <a:ext uri="{FF2B5EF4-FFF2-40B4-BE49-F238E27FC236}">
                <a16:creationId xmlns:a16="http://schemas.microsoft.com/office/drawing/2014/main" xmlns="" id="{0C310CC8-6624-4352-A642-89EF6FA7DCE6}"/>
              </a:ext>
            </a:extLst>
          </p:cNvPr>
          <p:cNvSpPr/>
          <p:nvPr/>
        </p:nvSpPr>
        <p:spPr>
          <a:xfrm>
            <a:off x="9019486" y="5168199"/>
            <a:ext cx="2943914" cy="1874872"/>
          </a:xfrm>
          <a:prstGeom prst="rect">
            <a:avLst/>
          </a:prstGeom>
        </p:spPr>
        <p:txBody>
          <a:bodyPr wrap="square" lIns="0" tIns="0" rIns="0" bIns="0" anchor="t">
            <a:spAutoFit/>
          </a:bodyPr>
          <a:lstStyle/>
          <a:p>
            <a:pPr algn="just">
              <a:lnSpc>
                <a:spcPts val="1900"/>
              </a:lnSpc>
            </a:pPr>
            <a:r>
              <a:rPr lang="en-US" sz="1200" dirty="0">
                <a:latin typeface="Calibri" panose="020F0502020204030204" pitchFamily="34" charset="0"/>
                <a:cs typeface="Calibri" panose="020F0502020204030204" pitchFamily="34" charset="0"/>
              </a:rPr>
              <a:t>Both </a:t>
            </a:r>
            <a:r>
              <a:rPr lang="en-US" sz="1200" dirty="0" smtClean="0">
                <a:latin typeface="Calibri" panose="020F0502020204030204" pitchFamily="34" charset="0"/>
                <a:cs typeface="Calibri" panose="020F0502020204030204" pitchFamily="34" charset="0"/>
              </a:rPr>
              <a:t>casual riders </a:t>
            </a:r>
            <a:r>
              <a:rPr lang="en-US" sz="1200" dirty="0">
                <a:latin typeface="Calibri" panose="020F0502020204030204" pitchFamily="34" charset="0"/>
                <a:cs typeface="Calibri" panose="020F0502020204030204" pitchFamily="34" charset="0"/>
              </a:rPr>
              <a:t>(</a:t>
            </a:r>
            <a:r>
              <a:rPr lang="en-US" sz="1200" b="1" dirty="0">
                <a:solidFill>
                  <a:schemeClr val="accent3">
                    <a:lumMod val="75000"/>
                  </a:schemeClr>
                </a:solidFill>
                <a:latin typeface="Calibri" panose="020F0502020204030204" pitchFamily="34" charset="0"/>
                <a:cs typeface="Calibri" panose="020F0502020204030204" pitchFamily="34" charset="0"/>
              </a:rPr>
              <a:t>50%</a:t>
            </a:r>
            <a:r>
              <a:rPr lang="en-US" sz="1200" dirty="0">
                <a:latin typeface="Calibri" panose="020F0502020204030204" pitchFamily="34" charset="0"/>
                <a:cs typeface="Calibri" panose="020F0502020204030204" pitchFamily="34" charset="0"/>
              </a:rPr>
              <a:t>) and </a:t>
            </a:r>
            <a:r>
              <a:rPr lang="en-US" sz="1200" dirty="0" smtClean="0">
                <a:latin typeface="Calibri" panose="020F0502020204030204" pitchFamily="34" charset="0"/>
                <a:cs typeface="Calibri" panose="020F0502020204030204" pitchFamily="34" charset="0"/>
              </a:rPr>
              <a:t>members </a:t>
            </a:r>
            <a:r>
              <a:rPr lang="en-US" sz="1200" dirty="0">
                <a:latin typeface="Calibri" panose="020F0502020204030204" pitchFamily="34" charset="0"/>
                <a:cs typeface="Calibri" panose="020F0502020204030204" pitchFamily="34" charset="0"/>
              </a:rPr>
              <a:t>(</a:t>
            </a:r>
            <a:r>
              <a:rPr lang="en-US" sz="1200" b="1" dirty="0">
                <a:solidFill>
                  <a:schemeClr val="accent4">
                    <a:lumMod val="75000"/>
                  </a:schemeClr>
                </a:solidFill>
                <a:latin typeface="Calibri" panose="020F0502020204030204" pitchFamily="34" charset="0"/>
                <a:cs typeface="Calibri" panose="020F0502020204030204" pitchFamily="34" charset="0"/>
              </a:rPr>
              <a:t>63%</a:t>
            </a:r>
            <a:r>
              <a:rPr lang="en-US" sz="1200" dirty="0">
                <a:latin typeface="Calibri" panose="020F0502020204030204" pitchFamily="34" charset="0"/>
                <a:cs typeface="Calibri" panose="020F0502020204030204" pitchFamily="34" charset="0"/>
              </a:rPr>
              <a:t>) preferred classic bikes, but casual riders were more likely to use other types of bikes, the second most popular amongst them being the electric bike (which </a:t>
            </a:r>
            <a:r>
              <a:rPr lang="en-US" sz="1200" b="1" dirty="0">
                <a:solidFill>
                  <a:schemeClr val="accent3">
                    <a:lumMod val="75000"/>
                  </a:schemeClr>
                </a:solidFill>
                <a:latin typeface="Calibri" panose="020F0502020204030204" pitchFamily="34" charset="0"/>
                <a:cs typeface="Calibri" panose="020F0502020204030204" pitchFamily="34" charset="0"/>
              </a:rPr>
              <a:t>36%</a:t>
            </a:r>
            <a:r>
              <a:rPr lang="en-US" sz="1200" dirty="0">
                <a:latin typeface="Calibri" panose="020F0502020204030204" pitchFamily="34" charset="0"/>
                <a:cs typeface="Calibri" panose="020F0502020204030204" pitchFamily="34" charset="0"/>
              </a:rPr>
              <a:t> of casual riders take</a:t>
            </a:r>
            <a:r>
              <a:rPr lang="en-US" sz="1200" dirty="0" smtClean="0">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C</a:t>
            </a:r>
            <a:r>
              <a:rPr lang="en-US" sz="1200" dirty="0" smtClean="0">
                <a:latin typeface="Calibri" panose="020F0502020204030204" pitchFamily="34" charset="0"/>
                <a:cs typeface="Calibri" panose="020F0502020204030204" pitchFamily="34" charset="0"/>
              </a:rPr>
              <a:t>asual riders account </a:t>
            </a:r>
            <a:r>
              <a:rPr lang="en-US" sz="1200" dirty="0">
                <a:latin typeface="Calibri" panose="020F0502020204030204" pitchFamily="34" charset="0"/>
                <a:cs typeface="Calibri" panose="020F0502020204030204" pitchFamily="34" charset="0"/>
              </a:rPr>
              <a:t>for: </a:t>
            </a:r>
            <a:r>
              <a:rPr lang="en-US" sz="1200" b="1" dirty="0">
                <a:solidFill>
                  <a:schemeClr val="accent3">
                    <a:lumMod val="75000"/>
                  </a:schemeClr>
                </a:solidFill>
                <a:latin typeface="Calibri" panose="020F0502020204030204" pitchFamily="34" charset="0"/>
                <a:cs typeface="Calibri" panose="020F0502020204030204" pitchFamily="34" charset="0"/>
              </a:rPr>
              <a:t>77.4%</a:t>
            </a:r>
            <a:r>
              <a:rPr lang="en-US" sz="1200" dirty="0">
                <a:latin typeface="Calibri" panose="020F0502020204030204" pitchFamily="34" charset="0"/>
                <a:cs typeface="Calibri" panose="020F0502020204030204" pitchFamily="34" charset="0"/>
              </a:rPr>
              <a:t> of the </a:t>
            </a:r>
            <a:r>
              <a:rPr lang="en-US" sz="1200" b="1" dirty="0">
                <a:latin typeface="Calibri" panose="020F0502020204030204" pitchFamily="34" charset="0"/>
                <a:cs typeface="Calibri" panose="020F0502020204030204" pitchFamily="34" charset="0"/>
              </a:rPr>
              <a:t>1,947</a:t>
            </a:r>
            <a:r>
              <a:rPr lang="en-US" sz="1200" dirty="0">
                <a:latin typeface="Calibri" panose="020F0502020204030204" pitchFamily="34" charset="0"/>
                <a:cs typeface="Calibri" panose="020F0502020204030204" pitchFamily="34" charset="0"/>
              </a:rPr>
              <a:t> bikes not returned within 24 hours, this year.</a:t>
            </a:r>
          </a:p>
          <a:p>
            <a:pPr algn="just"/>
            <a:endParaRPr lang="en-US" sz="1200" dirty="0">
              <a:latin typeface="Calibri" panose="020F0502020204030204" pitchFamily="34" charset="0"/>
              <a:cs typeface="Calibri" panose="020F0502020204030204" pitchFamily="34" charset="0"/>
            </a:endParaRPr>
          </a:p>
        </p:txBody>
      </p:sp>
      <p:grpSp>
        <p:nvGrpSpPr>
          <p:cNvPr id="2" name="Group 1"/>
          <p:cNvGrpSpPr/>
          <p:nvPr/>
        </p:nvGrpSpPr>
        <p:grpSpPr>
          <a:xfrm>
            <a:off x="3537829" y="2123231"/>
            <a:ext cx="4727424" cy="2601770"/>
            <a:chOff x="3378351" y="2123231"/>
            <a:chExt cx="5118346" cy="2798976"/>
          </a:xfrm>
        </p:grpSpPr>
        <p:sp>
          <p:nvSpPr>
            <p:cNvPr id="3" name="Circle: Hollow 2">
              <a:extLst>
                <a:ext uri="{FF2B5EF4-FFF2-40B4-BE49-F238E27FC236}">
                  <a16:creationId xmlns:a16="http://schemas.microsoft.com/office/drawing/2014/main" xmlns="" id="{8DC8DEBA-4D8D-4704-A04E-32A1E0BF41F4}"/>
                </a:ext>
                <a:ext uri="{C183D7F6-B498-43B3-948B-1728B52AA6E4}">
                  <adec:decorative xmlns:adec="http://schemas.microsoft.com/office/drawing/2017/decorative" xmlns="" val="1"/>
                </a:ext>
              </a:extLst>
            </p:cNvPr>
            <p:cNvSpPr/>
            <p:nvPr/>
          </p:nvSpPr>
          <p:spPr>
            <a:xfrm>
              <a:off x="3378351" y="2123231"/>
              <a:ext cx="1593858" cy="1593858"/>
            </a:xfrm>
            <a:prstGeom prst="donut">
              <a:avLst>
                <a:gd name="adj" fmla="val 12255"/>
              </a:avLst>
            </a:prstGeom>
            <a:solidFill>
              <a:schemeClr val="accent3">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cs typeface="Calibri" panose="020F0502020204030204" pitchFamily="34" charset="0"/>
              </a:endParaRPr>
            </a:p>
          </p:txBody>
        </p:sp>
        <p:sp>
          <p:nvSpPr>
            <p:cNvPr id="22" name="Circle: Hollow 21">
              <a:extLst>
                <a:ext uri="{FF2B5EF4-FFF2-40B4-BE49-F238E27FC236}">
                  <a16:creationId xmlns:a16="http://schemas.microsoft.com/office/drawing/2014/main" xmlns="" id="{769CE3F0-8651-4FF1-8CAF-1E986C3831C4}"/>
                </a:ext>
                <a:ext uri="{C183D7F6-B498-43B3-948B-1728B52AA6E4}">
                  <adec:decorative xmlns:adec="http://schemas.microsoft.com/office/drawing/2017/decorative" xmlns="" val="1"/>
                </a:ext>
              </a:extLst>
            </p:cNvPr>
            <p:cNvSpPr/>
            <p:nvPr/>
          </p:nvSpPr>
          <p:spPr>
            <a:xfrm>
              <a:off x="4788146" y="2123231"/>
              <a:ext cx="1593858" cy="1593858"/>
            </a:xfrm>
            <a:prstGeom prst="donut">
              <a:avLst>
                <a:gd name="adj" fmla="val 12255"/>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cs typeface="Calibri" panose="020F0502020204030204" pitchFamily="34" charset="0"/>
              </a:endParaRPr>
            </a:p>
          </p:txBody>
        </p:sp>
        <p:sp>
          <p:nvSpPr>
            <p:cNvPr id="23" name="Circle: Hollow 22">
              <a:extLst>
                <a:ext uri="{FF2B5EF4-FFF2-40B4-BE49-F238E27FC236}">
                  <a16:creationId xmlns:a16="http://schemas.microsoft.com/office/drawing/2014/main" xmlns="" id="{59423939-1DC9-4306-AA5D-6C0111336356}"/>
                </a:ext>
                <a:ext uri="{C183D7F6-B498-43B3-948B-1728B52AA6E4}">
                  <adec:decorative xmlns:adec="http://schemas.microsoft.com/office/drawing/2017/decorative" xmlns="" val="1"/>
                </a:ext>
              </a:extLst>
            </p:cNvPr>
            <p:cNvSpPr/>
            <p:nvPr/>
          </p:nvSpPr>
          <p:spPr>
            <a:xfrm>
              <a:off x="6197942" y="2123231"/>
              <a:ext cx="1593858" cy="1593858"/>
            </a:xfrm>
            <a:prstGeom prst="donut">
              <a:avLst>
                <a:gd name="adj" fmla="val 12255"/>
              </a:avLst>
            </a:prstGeom>
            <a:solidFill>
              <a:schemeClr val="accent3">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cs typeface="Calibri" panose="020F0502020204030204" pitchFamily="34" charset="0"/>
              </a:endParaRPr>
            </a:p>
          </p:txBody>
        </p:sp>
        <p:sp>
          <p:nvSpPr>
            <p:cNvPr id="24" name="Circle: Hollow 23">
              <a:extLst>
                <a:ext uri="{FF2B5EF4-FFF2-40B4-BE49-F238E27FC236}">
                  <a16:creationId xmlns:a16="http://schemas.microsoft.com/office/drawing/2014/main" xmlns="" id="{A838DD0B-E018-44D0-A4C0-13DF2FD0288D}"/>
                </a:ext>
                <a:ext uri="{C183D7F6-B498-43B3-948B-1728B52AA6E4}">
                  <adec:decorative xmlns:adec="http://schemas.microsoft.com/office/drawing/2017/decorative" xmlns="" val="1"/>
                </a:ext>
              </a:extLst>
            </p:cNvPr>
            <p:cNvSpPr/>
            <p:nvPr/>
          </p:nvSpPr>
          <p:spPr>
            <a:xfrm>
              <a:off x="4083248" y="3328349"/>
              <a:ext cx="1593858" cy="1593858"/>
            </a:xfrm>
            <a:prstGeom prst="donut">
              <a:avLst>
                <a:gd name="adj" fmla="val 12255"/>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cs typeface="Calibri" panose="020F0502020204030204" pitchFamily="34" charset="0"/>
              </a:endParaRPr>
            </a:p>
          </p:txBody>
        </p:sp>
        <p:sp>
          <p:nvSpPr>
            <p:cNvPr id="25" name="Circle: Hollow 24">
              <a:extLst>
                <a:ext uri="{FF2B5EF4-FFF2-40B4-BE49-F238E27FC236}">
                  <a16:creationId xmlns:a16="http://schemas.microsoft.com/office/drawing/2014/main" xmlns="" id="{B5265A05-9A0F-4DEC-9382-F51EEE742251}"/>
                </a:ext>
                <a:ext uri="{C183D7F6-B498-43B3-948B-1728B52AA6E4}">
                  <adec:decorative xmlns:adec="http://schemas.microsoft.com/office/drawing/2017/decorative" xmlns="" val="1"/>
                </a:ext>
              </a:extLst>
            </p:cNvPr>
            <p:cNvSpPr/>
            <p:nvPr/>
          </p:nvSpPr>
          <p:spPr>
            <a:xfrm>
              <a:off x="5493044" y="3328349"/>
              <a:ext cx="1593858" cy="1593858"/>
            </a:xfrm>
            <a:prstGeom prst="donut">
              <a:avLst>
                <a:gd name="adj" fmla="val 12255"/>
              </a:avLst>
            </a:prstGeom>
            <a:solidFill>
              <a:schemeClr val="accent3">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tx1"/>
                </a:solidFill>
                <a:latin typeface="Calibri" panose="020F0502020204030204" pitchFamily="34" charset="0"/>
                <a:cs typeface="Calibri" panose="020F0502020204030204" pitchFamily="34" charset="0"/>
              </a:endParaRPr>
            </a:p>
          </p:txBody>
        </p:sp>
        <p:sp>
          <p:nvSpPr>
            <p:cNvPr id="29" name="Circle: Hollow 28">
              <a:extLst>
                <a:ext uri="{FF2B5EF4-FFF2-40B4-BE49-F238E27FC236}">
                  <a16:creationId xmlns:a16="http://schemas.microsoft.com/office/drawing/2014/main" xmlns="" id="{8770E695-5D11-488D-931B-4C4259EC25FF}"/>
                </a:ext>
                <a:ext uri="{C183D7F6-B498-43B3-948B-1728B52AA6E4}">
                  <adec:decorative xmlns:adec="http://schemas.microsoft.com/office/drawing/2017/decorative" xmlns="" val="1"/>
                </a:ext>
              </a:extLst>
            </p:cNvPr>
            <p:cNvSpPr/>
            <p:nvPr/>
          </p:nvSpPr>
          <p:spPr>
            <a:xfrm>
              <a:off x="6902839" y="3328349"/>
              <a:ext cx="1593858" cy="1593858"/>
            </a:xfrm>
            <a:prstGeom prst="donut">
              <a:avLst>
                <a:gd name="adj" fmla="val 12255"/>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cs typeface="Calibri" panose="020F0502020204030204" pitchFamily="34" charset="0"/>
              </a:endParaRPr>
            </a:p>
          </p:txBody>
        </p:sp>
        <p:grpSp>
          <p:nvGrpSpPr>
            <p:cNvPr id="41" name="Group 40" descr="Icon of human being and speech bubble. ">
              <a:extLst>
                <a:ext uri="{FF2B5EF4-FFF2-40B4-BE49-F238E27FC236}">
                  <a16:creationId xmlns:a16="http://schemas.microsoft.com/office/drawing/2014/main" xmlns="" id="{F9B9D0B7-66BB-408F-A1CC-EA2209284AAD}"/>
                </a:ext>
              </a:extLst>
            </p:cNvPr>
            <p:cNvGrpSpPr/>
            <p:nvPr/>
          </p:nvGrpSpPr>
          <p:grpSpPr>
            <a:xfrm>
              <a:off x="3986169" y="2730647"/>
              <a:ext cx="378221" cy="380335"/>
              <a:chOff x="3171788" y="779462"/>
              <a:chExt cx="284163" cy="285751"/>
            </a:xfrm>
            <a:solidFill>
              <a:schemeClr val="accent3">
                <a:lumMod val="75000"/>
              </a:schemeClr>
            </a:solidFill>
          </p:grpSpPr>
          <p:sp>
            <p:nvSpPr>
              <p:cNvPr id="42" name="Freeform 2993">
                <a:extLst>
                  <a:ext uri="{FF2B5EF4-FFF2-40B4-BE49-F238E27FC236}">
                    <a16:creationId xmlns:a16="http://schemas.microsoft.com/office/drawing/2014/main" xmlns="" id="{214A5167-4E01-4042-851A-88AFE72AE2DD}"/>
                  </a:ext>
                </a:extLst>
              </p:cNvPr>
              <p:cNvSpPr>
                <a:spLocks noEditPoints="1"/>
              </p:cNvSpPr>
              <p:nvPr/>
            </p:nvSpPr>
            <p:spPr bwMode="auto">
              <a:xfrm>
                <a:off x="3290851" y="779462"/>
                <a:ext cx="165100" cy="196850"/>
              </a:xfrm>
              <a:custGeom>
                <a:avLst/>
                <a:gdLst>
                  <a:gd name="T0" fmla="*/ 291 w 416"/>
                  <a:gd name="T1" fmla="*/ 221 h 493"/>
                  <a:gd name="T2" fmla="*/ 339 w 416"/>
                  <a:gd name="T3" fmla="*/ 173 h 493"/>
                  <a:gd name="T4" fmla="*/ 242 w 416"/>
                  <a:gd name="T5" fmla="*/ 221 h 493"/>
                  <a:gd name="T6" fmla="*/ 195 w 416"/>
                  <a:gd name="T7" fmla="*/ 173 h 493"/>
                  <a:gd name="T8" fmla="*/ 242 w 416"/>
                  <a:gd name="T9" fmla="*/ 221 h 493"/>
                  <a:gd name="T10" fmla="*/ 99 w 416"/>
                  <a:gd name="T11" fmla="*/ 221 h 493"/>
                  <a:gd name="T12" fmla="*/ 147 w 416"/>
                  <a:gd name="T13" fmla="*/ 173 h 493"/>
                  <a:gd name="T14" fmla="*/ 208 w 416"/>
                  <a:gd name="T15" fmla="*/ 0 h 493"/>
                  <a:gd name="T16" fmla="*/ 166 w 416"/>
                  <a:gd name="T17" fmla="*/ 3 h 493"/>
                  <a:gd name="T18" fmla="*/ 127 w 416"/>
                  <a:gd name="T19" fmla="*/ 15 h 493"/>
                  <a:gd name="T20" fmla="*/ 92 w 416"/>
                  <a:gd name="T21" fmla="*/ 33 h 493"/>
                  <a:gd name="T22" fmla="*/ 61 w 416"/>
                  <a:gd name="T23" fmla="*/ 57 h 493"/>
                  <a:gd name="T24" fmla="*/ 35 w 416"/>
                  <a:gd name="T25" fmla="*/ 85 h 493"/>
                  <a:gd name="T26" fmla="*/ 16 w 416"/>
                  <a:gd name="T27" fmla="*/ 117 h 493"/>
                  <a:gd name="T28" fmla="*/ 4 w 416"/>
                  <a:gd name="T29" fmla="*/ 153 h 493"/>
                  <a:gd name="T30" fmla="*/ 0 w 416"/>
                  <a:gd name="T31" fmla="*/ 192 h 493"/>
                  <a:gd name="T32" fmla="*/ 0 w 416"/>
                  <a:gd name="T33" fmla="*/ 194 h 493"/>
                  <a:gd name="T34" fmla="*/ 26 w 416"/>
                  <a:gd name="T35" fmla="*/ 204 h 493"/>
                  <a:gd name="T36" fmla="*/ 47 w 416"/>
                  <a:gd name="T37" fmla="*/ 220 h 493"/>
                  <a:gd name="T38" fmla="*/ 64 w 416"/>
                  <a:gd name="T39" fmla="*/ 238 h 493"/>
                  <a:gd name="T40" fmla="*/ 72 w 416"/>
                  <a:gd name="T41" fmla="*/ 260 h 493"/>
                  <a:gd name="T42" fmla="*/ 76 w 416"/>
                  <a:gd name="T43" fmla="*/ 277 h 493"/>
                  <a:gd name="T44" fmla="*/ 76 w 416"/>
                  <a:gd name="T45" fmla="*/ 293 h 493"/>
                  <a:gd name="T46" fmla="*/ 73 w 416"/>
                  <a:gd name="T47" fmla="*/ 311 h 493"/>
                  <a:gd name="T48" fmla="*/ 67 w 416"/>
                  <a:gd name="T49" fmla="*/ 330 h 493"/>
                  <a:gd name="T50" fmla="*/ 70 w 416"/>
                  <a:gd name="T51" fmla="*/ 333 h 493"/>
                  <a:gd name="T52" fmla="*/ 77 w 416"/>
                  <a:gd name="T53" fmla="*/ 349 h 493"/>
                  <a:gd name="T54" fmla="*/ 94 w 416"/>
                  <a:gd name="T55" fmla="*/ 361 h 493"/>
                  <a:gd name="T56" fmla="*/ 114 w 416"/>
                  <a:gd name="T57" fmla="*/ 371 h 493"/>
                  <a:gd name="T58" fmla="*/ 132 w 416"/>
                  <a:gd name="T59" fmla="*/ 378 h 493"/>
                  <a:gd name="T60" fmla="*/ 153 w 416"/>
                  <a:gd name="T61" fmla="*/ 383 h 493"/>
                  <a:gd name="T62" fmla="*/ 153 w 416"/>
                  <a:gd name="T63" fmla="*/ 428 h 493"/>
                  <a:gd name="T64" fmla="*/ 153 w 416"/>
                  <a:gd name="T65" fmla="*/ 465 h 493"/>
                  <a:gd name="T66" fmla="*/ 173 w 416"/>
                  <a:gd name="T67" fmla="*/ 473 h 493"/>
                  <a:gd name="T68" fmla="*/ 203 w 416"/>
                  <a:gd name="T69" fmla="*/ 446 h 493"/>
                  <a:gd name="T70" fmla="*/ 249 w 416"/>
                  <a:gd name="T71" fmla="*/ 406 h 493"/>
                  <a:gd name="T72" fmla="*/ 274 w 416"/>
                  <a:gd name="T73" fmla="*/ 385 h 493"/>
                  <a:gd name="T74" fmla="*/ 290 w 416"/>
                  <a:gd name="T75" fmla="*/ 371 h 493"/>
                  <a:gd name="T76" fmla="*/ 317 w 416"/>
                  <a:gd name="T77" fmla="*/ 358 h 493"/>
                  <a:gd name="T78" fmla="*/ 342 w 416"/>
                  <a:gd name="T79" fmla="*/ 341 h 493"/>
                  <a:gd name="T80" fmla="*/ 364 w 416"/>
                  <a:gd name="T81" fmla="*/ 321 h 493"/>
                  <a:gd name="T82" fmla="*/ 383 w 416"/>
                  <a:gd name="T83" fmla="*/ 299 h 493"/>
                  <a:gd name="T84" fmla="*/ 397 w 416"/>
                  <a:gd name="T85" fmla="*/ 276 h 493"/>
                  <a:gd name="T86" fmla="*/ 408 w 416"/>
                  <a:gd name="T87" fmla="*/ 249 h 493"/>
                  <a:gd name="T88" fmla="*/ 415 w 416"/>
                  <a:gd name="T89" fmla="*/ 222 h 493"/>
                  <a:gd name="T90" fmla="*/ 416 w 416"/>
                  <a:gd name="T91" fmla="*/ 192 h 493"/>
                  <a:gd name="T92" fmla="*/ 412 w 416"/>
                  <a:gd name="T93" fmla="*/ 154 h 493"/>
                  <a:gd name="T94" fmla="*/ 400 w 416"/>
                  <a:gd name="T95" fmla="*/ 117 h 493"/>
                  <a:gd name="T96" fmla="*/ 381 w 416"/>
                  <a:gd name="T97" fmla="*/ 85 h 493"/>
                  <a:gd name="T98" fmla="*/ 355 w 416"/>
                  <a:gd name="T99" fmla="*/ 57 h 493"/>
                  <a:gd name="T100" fmla="*/ 324 w 416"/>
                  <a:gd name="T101" fmla="*/ 33 h 493"/>
                  <a:gd name="T102" fmla="*/ 289 w 416"/>
                  <a:gd name="T103" fmla="*/ 15 h 493"/>
                  <a:gd name="T104" fmla="*/ 251 w 416"/>
                  <a:gd name="T105" fmla="*/ 3 h 493"/>
                  <a:gd name="T106" fmla="*/ 208 w 416"/>
                  <a:gd name="T107" fmla="*/ 0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6" h="493">
                    <a:moveTo>
                      <a:pt x="339" y="221"/>
                    </a:moveTo>
                    <a:lnTo>
                      <a:pt x="291" y="221"/>
                    </a:lnTo>
                    <a:lnTo>
                      <a:pt x="291" y="173"/>
                    </a:lnTo>
                    <a:lnTo>
                      <a:pt x="339" y="173"/>
                    </a:lnTo>
                    <a:lnTo>
                      <a:pt x="339" y="221"/>
                    </a:lnTo>
                    <a:close/>
                    <a:moveTo>
                      <a:pt x="242" y="221"/>
                    </a:moveTo>
                    <a:lnTo>
                      <a:pt x="195" y="221"/>
                    </a:lnTo>
                    <a:lnTo>
                      <a:pt x="195" y="173"/>
                    </a:lnTo>
                    <a:lnTo>
                      <a:pt x="242" y="173"/>
                    </a:lnTo>
                    <a:lnTo>
                      <a:pt x="242" y="221"/>
                    </a:lnTo>
                    <a:close/>
                    <a:moveTo>
                      <a:pt x="147" y="221"/>
                    </a:moveTo>
                    <a:lnTo>
                      <a:pt x="99" y="221"/>
                    </a:lnTo>
                    <a:lnTo>
                      <a:pt x="99" y="173"/>
                    </a:lnTo>
                    <a:lnTo>
                      <a:pt x="147" y="173"/>
                    </a:lnTo>
                    <a:lnTo>
                      <a:pt x="147" y="221"/>
                    </a:lnTo>
                    <a:close/>
                    <a:moveTo>
                      <a:pt x="208" y="0"/>
                    </a:moveTo>
                    <a:lnTo>
                      <a:pt x="186" y="1"/>
                    </a:lnTo>
                    <a:lnTo>
                      <a:pt x="166" y="3"/>
                    </a:lnTo>
                    <a:lnTo>
                      <a:pt x="146" y="8"/>
                    </a:lnTo>
                    <a:lnTo>
                      <a:pt x="127" y="15"/>
                    </a:lnTo>
                    <a:lnTo>
                      <a:pt x="109" y="23"/>
                    </a:lnTo>
                    <a:lnTo>
                      <a:pt x="92" y="33"/>
                    </a:lnTo>
                    <a:lnTo>
                      <a:pt x="76" y="44"/>
                    </a:lnTo>
                    <a:lnTo>
                      <a:pt x="61" y="57"/>
                    </a:lnTo>
                    <a:lnTo>
                      <a:pt x="47" y="70"/>
                    </a:lnTo>
                    <a:lnTo>
                      <a:pt x="35" y="85"/>
                    </a:lnTo>
                    <a:lnTo>
                      <a:pt x="25" y="101"/>
                    </a:lnTo>
                    <a:lnTo>
                      <a:pt x="16" y="117"/>
                    </a:lnTo>
                    <a:lnTo>
                      <a:pt x="9" y="135"/>
                    </a:lnTo>
                    <a:lnTo>
                      <a:pt x="4" y="153"/>
                    </a:lnTo>
                    <a:lnTo>
                      <a:pt x="1" y="173"/>
                    </a:lnTo>
                    <a:lnTo>
                      <a:pt x="0" y="192"/>
                    </a:lnTo>
                    <a:lnTo>
                      <a:pt x="0" y="192"/>
                    </a:lnTo>
                    <a:lnTo>
                      <a:pt x="0" y="194"/>
                    </a:lnTo>
                    <a:lnTo>
                      <a:pt x="14" y="198"/>
                    </a:lnTo>
                    <a:lnTo>
                      <a:pt x="26" y="204"/>
                    </a:lnTo>
                    <a:lnTo>
                      <a:pt x="38" y="211"/>
                    </a:lnTo>
                    <a:lnTo>
                      <a:pt x="47" y="220"/>
                    </a:lnTo>
                    <a:lnTo>
                      <a:pt x="57" y="228"/>
                    </a:lnTo>
                    <a:lnTo>
                      <a:pt x="64" y="238"/>
                    </a:lnTo>
                    <a:lnTo>
                      <a:pt x="69" y="248"/>
                    </a:lnTo>
                    <a:lnTo>
                      <a:pt x="72" y="260"/>
                    </a:lnTo>
                    <a:lnTo>
                      <a:pt x="74" y="268"/>
                    </a:lnTo>
                    <a:lnTo>
                      <a:pt x="76" y="277"/>
                    </a:lnTo>
                    <a:lnTo>
                      <a:pt x="76" y="285"/>
                    </a:lnTo>
                    <a:lnTo>
                      <a:pt x="76" y="293"/>
                    </a:lnTo>
                    <a:lnTo>
                      <a:pt x="74" y="303"/>
                    </a:lnTo>
                    <a:lnTo>
                      <a:pt x="73" y="311"/>
                    </a:lnTo>
                    <a:lnTo>
                      <a:pt x="71" y="321"/>
                    </a:lnTo>
                    <a:lnTo>
                      <a:pt x="67" y="330"/>
                    </a:lnTo>
                    <a:lnTo>
                      <a:pt x="69" y="332"/>
                    </a:lnTo>
                    <a:lnTo>
                      <a:pt x="70" y="333"/>
                    </a:lnTo>
                    <a:lnTo>
                      <a:pt x="73" y="341"/>
                    </a:lnTo>
                    <a:lnTo>
                      <a:pt x="77" y="349"/>
                    </a:lnTo>
                    <a:lnTo>
                      <a:pt x="85" y="355"/>
                    </a:lnTo>
                    <a:lnTo>
                      <a:pt x="94" y="361"/>
                    </a:lnTo>
                    <a:lnTo>
                      <a:pt x="104" y="366"/>
                    </a:lnTo>
                    <a:lnTo>
                      <a:pt x="114" y="371"/>
                    </a:lnTo>
                    <a:lnTo>
                      <a:pt x="123" y="374"/>
                    </a:lnTo>
                    <a:lnTo>
                      <a:pt x="132" y="378"/>
                    </a:lnTo>
                    <a:lnTo>
                      <a:pt x="142" y="380"/>
                    </a:lnTo>
                    <a:lnTo>
                      <a:pt x="153" y="383"/>
                    </a:lnTo>
                    <a:lnTo>
                      <a:pt x="153" y="403"/>
                    </a:lnTo>
                    <a:lnTo>
                      <a:pt x="153" y="428"/>
                    </a:lnTo>
                    <a:lnTo>
                      <a:pt x="153" y="449"/>
                    </a:lnTo>
                    <a:lnTo>
                      <a:pt x="153" y="465"/>
                    </a:lnTo>
                    <a:lnTo>
                      <a:pt x="153" y="493"/>
                    </a:lnTo>
                    <a:lnTo>
                      <a:pt x="173" y="473"/>
                    </a:lnTo>
                    <a:lnTo>
                      <a:pt x="185" y="462"/>
                    </a:lnTo>
                    <a:lnTo>
                      <a:pt x="203" y="446"/>
                    </a:lnTo>
                    <a:lnTo>
                      <a:pt x="227" y="427"/>
                    </a:lnTo>
                    <a:lnTo>
                      <a:pt x="249" y="406"/>
                    </a:lnTo>
                    <a:lnTo>
                      <a:pt x="262" y="395"/>
                    </a:lnTo>
                    <a:lnTo>
                      <a:pt x="274" y="385"/>
                    </a:lnTo>
                    <a:lnTo>
                      <a:pt x="284" y="377"/>
                    </a:lnTo>
                    <a:lnTo>
                      <a:pt x="290" y="371"/>
                    </a:lnTo>
                    <a:lnTo>
                      <a:pt x="304" y="365"/>
                    </a:lnTo>
                    <a:lnTo>
                      <a:pt x="317" y="358"/>
                    </a:lnTo>
                    <a:lnTo>
                      <a:pt x="330" y="349"/>
                    </a:lnTo>
                    <a:lnTo>
                      <a:pt x="342" y="341"/>
                    </a:lnTo>
                    <a:lnTo>
                      <a:pt x="353" y="332"/>
                    </a:lnTo>
                    <a:lnTo>
                      <a:pt x="364" y="321"/>
                    </a:lnTo>
                    <a:lnTo>
                      <a:pt x="373" y="310"/>
                    </a:lnTo>
                    <a:lnTo>
                      <a:pt x="383" y="299"/>
                    </a:lnTo>
                    <a:lnTo>
                      <a:pt x="390" y="288"/>
                    </a:lnTo>
                    <a:lnTo>
                      <a:pt x="397" y="276"/>
                    </a:lnTo>
                    <a:lnTo>
                      <a:pt x="403" y="263"/>
                    </a:lnTo>
                    <a:lnTo>
                      <a:pt x="408" y="249"/>
                    </a:lnTo>
                    <a:lnTo>
                      <a:pt x="411" y="235"/>
                    </a:lnTo>
                    <a:lnTo>
                      <a:pt x="415" y="222"/>
                    </a:lnTo>
                    <a:lnTo>
                      <a:pt x="416" y="208"/>
                    </a:lnTo>
                    <a:lnTo>
                      <a:pt x="416" y="192"/>
                    </a:lnTo>
                    <a:lnTo>
                      <a:pt x="416" y="173"/>
                    </a:lnTo>
                    <a:lnTo>
                      <a:pt x="412" y="154"/>
                    </a:lnTo>
                    <a:lnTo>
                      <a:pt x="408" y="135"/>
                    </a:lnTo>
                    <a:lnTo>
                      <a:pt x="400" y="117"/>
                    </a:lnTo>
                    <a:lnTo>
                      <a:pt x="391" y="101"/>
                    </a:lnTo>
                    <a:lnTo>
                      <a:pt x="381" y="85"/>
                    </a:lnTo>
                    <a:lnTo>
                      <a:pt x="368" y="70"/>
                    </a:lnTo>
                    <a:lnTo>
                      <a:pt x="355" y="57"/>
                    </a:lnTo>
                    <a:lnTo>
                      <a:pt x="341" y="44"/>
                    </a:lnTo>
                    <a:lnTo>
                      <a:pt x="324" y="33"/>
                    </a:lnTo>
                    <a:lnTo>
                      <a:pt x="308" y="23"/>
                    </a:lnTo>
                    <a:lnTo>
                      <a:pt x="289" y="15"/>
                    </a:lnTo>
                    <a:lnTo>
                      <a:pt x="270" y="8"/>
                    </a:lnTo>
                    <a:lnTo>
                      <a:pt x="251" y="3"/>
                    </a:lnTo>
                    <a:lnTo>
                      <a:pt x="229" y="1"/>
                    </a:lnTo>
                    <a:lnTo>
                      <a:pt x="20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52" name="Freeform 2994">
                <a:extLst>
                  <a:ext uri="{FF2B5EF4-FFF2-40B4-BE49-F238E27FC236}">
                    <a16:creationId xmlns:a16="http://schemas.microsoft.com/office/drawing/2014/main" xmlns="" id="{EF3D2201-62FC-4C65-ADA0-327F681139C4}"/>
                  </a:ext>
                </a:extLst>
              </p:cNvPr>
              <p:cNvSpPr>
                <a:spLocks/>
              </p:cNvSpPr>
              <p:nvPr/>
            </p:nvSpPr>
            <p:spPr bwMode="auto">
              <a:xfrm>
                <a:off x="3171788" y="863600"/>
                <a:ext cx="190500" cy="201613"/>
              </a:xfrm>
              <a:custGeom>
                <a:avLst/>
                <a:gdLst>
                  <a:gd name="T0" fmla="*/ 393 w 480"/>
                  <a:gd name="T1" fmla="*/ 357 h 507"/>
                  <a:gd name="T2" fmla="*/ 312 w 480"/>
                  <a:gd name="T3" fmla="*/ 312 h 507"/>
                  <a:gd name="T4" fmla="*/ 320 w 480"/>
                  <a:gd name="T5" fmla="*/ 267 h 507"/>
                  <a:gd name="T6" fmla="*/ 324 w 480"/>
                  <a:gd name="T7" fmla="*/ 261 h 507"/>
                  <a:gd name="T8" fmla="*/ 329 w 480"/>
                  <a:gd name="T9" fmla="*/ 254 h 507"/>
                  <a:gd name="T10" fmla="*/ 332 w 480"/>
                  <a:gd name="T11" fmla="*/ 244 h 507"/>
                  <a:gd name="T12" fmla="*/ 336 w 480"/>
                  <a:gd name="T13" fmla="*/ 231 h 507"/>
                  <a:gd name="T14" fmla="*/ 338 w 480"/>
                  <a:gd name="T15" fmla="*/ 219 h 507"/>
                  <a:gd name="T16" fmla="*/ 339 w 480"/>
                  <a:gd name="T17" fmla="*/ 203 h 507"/>
                  <a:gd name="T18" fmla="*/ 350 w 480"/>
                  <a:gd name="T19" fmla="*/ 190 h 507"/>
                  <a:gd name="T20" fmla="*/ 354 w 480"/>
                  <a:gd name="T21" fmla="*/ 185 h 507"/>
                  <a:gd name="T22" fmla="*/ 356 w 480"/>
                  <a:gd name="T23" fmla="*/ 179 h 507"/>
                  <a:gd name="T24" fmla="*/ 357 w 480"/>
                  <a:gd name="T25" fmla="*/ 173 h 507"/>
                  <a:gd name="T26" fmla="*/ 358 w 480"/>
                  <a:gd name="T27" fmla="*/ 166 h 507"/>
                  <a:gd name="T28" fmla="*/ 357 w 480"/>
                  <a:gd name="T29" fmla="*/ 149 h 507"/>
                  <a:gd name="T30" fmla="*/ 354 w 480"/>
                  <a:gd name="T31" fmla="*/ 140 h 507"/>
                  <a:gd name="T32" fmla="*/ 350 w 480"/>
                  <a:gd name="T33" fmla="*/ 131 h 507"/>
                  <a:gd name="T34" fmla="*/ 343 w 480"/>
                  <a:gd name="T35" fmla="*/ 125 h 507"/>
                  <a:gd name="T36" fmla="*/ 355 w 480"/>
                  <a:gd name="T37" fmla="*/ 84 h 507"/>
                  <a:gd name="T38" fmla="*/ 353 w 480"/>
                  <a:gd name="T39" fmla="*/ 54 h 507"/>
                  <a:gd name="T40" fmla="*/ 336 w 480"/>
                  <a:gd name="T41" fmla="*/ 28 h 507"/>
                  <a:gd name="T42" fmla="*/ 305 w 480"/>
                  <a:gd name="T43" fmla="*/ 9 h 507"/>
                  <a:gd name="T44" fmla="*/ 286 w 480"/>
                  <a:gd name="T45" fmla="*/ 4 h 507"/>
                  <a:gd name="T46" fmla="*/ 267 w 480"/>
                  <a:gd name="T47" fmla="*/ 0 h 507"/>
                  <a:gd name="T48" fmla="*/ 251 w 480"/>
                  <a:gd name="T49" fmla="*/ 0 h 507"/>
                  <a:gd name="T50" fmla="*/ 232 w 480"/>
                  <a:gd name="T51" fmla="*/ 2 h 507"/>
                  <a:gd name="T52" fmla="*/ 217 w 480"/>
                  <a:gd name="T53" fmla="*/ 4 h 507"/>
                  <a:gd name="T54" fmla="*/ 203 w 480"/>
                  <a:gd name="T55" fmla="*/ 8 h 507"/>
                  <a:gd name="T56" fmla="*/ 192 w 480"/>
                  <a:gd name="T57" fmla="*/ 11 h 507"/>
                  <a:gd name="T58" fmla="*/ 157 w 480"/>
                  <a:gd name="T59" fmla="*/ 38 h 507"/>
                  <a:gd name="T60" fmla="*/ 154 w 480"/>
                  <a:gd name="T61" fmla="*/ 44 h 507"/>
                  <a:gd name="T62" fmla="*/ 140 w 480"/>
                  <a:gd name="T63" fmla="*/ 46 h 507"/>
                  <a:gd name="T64" fmla="*/ 131 w 480"/>
                  <a:gd name="T65" fmla="*/ 48 h 507"/>
                  <a:gd name="T66" fmla="*/ 126 w 480"/>
                  <a:gd name="T67" fmla="*/ 53 h 507"/>
                  <a:gd name="T68" fmla="*/ 123 w 480"/>
                  <a:gd name="T69" fmla="*/ 56 h 507"/>
                  <a:gd name="T70" fmla="*/ 118 w 480"/>
                  <a:gd name="T71" fmla="*/ 66 h 507"/>
                  <a:gd name="T72" fmla="*/ 118 w 480"/>
                  <a:gd name="T73" fmla="*/ 75 h 507"/>
                  <a:gd name="T74" fmla="*/ 118 w 480"/>
                  <a:gd name="T75" fmla="*/ 84 h 507"/>
                  <a:gd name="T76" fmla="*/ 121 w 480"/>
                  <a:gd name="T77" fmla="*/ 92 h 507"/>
                  <a:gd name="T78" fmla="*/ 123 w 480"/>
                  <a:gd name="T79" fmla="*/ 100 h 507"/>
                  <a:gd name="T80" fmla="*/ 125 w 480"/>
                  <a:gd name="T81" fmla="*/ 109 h 507"/>
                  <a:gd name="T82" fmla="*/ 132 w 480"/>
                  <a:gd name="T83" fmla="*/ 125 h 507"/>
                  <a:gd name="T84" fmla="*/ 116 w 480"/>
                  <a:gd name="T85" fmla="*/ 148 h 507"/>
                  <a:gd name="T86" fmla="*/ 115 w 480"/>
                  <a:gd name="T87" fmla="*/ 174 h 507"/>
                  <a:gd name="T88" fmla="*/ 118 w 480"/>
                  <a:gd name="T89" fmla="*/ 185 h 507"/>
                  <a:gd name="T90" fmla="*/ 124 w 480"/>
                  <a:gd name="T91" fmla="*/ 193 h 507"/>
                  <a:gd name="T92" fmla="*/ 130 w 480"/>
                  <a:gd name="T93" fmla="*/ 199 h 507"/>
                  <a:gd name="T94" fmla="*/ 138 w 480"/>
                  <a:gd name="T95" fmla="*/ 216 h 507"/>
                  <a:gd name="T96" fmla="*/ 144 w 480"/>
                  <a:gd name="T97" fmla="*/ 242 h 507"/>
                  <a:gd name="T98" fmla="*/ 161 w 480"/>
                  <a:gd name="T99" fmla="*/ 268 h 507"/>
                  <a:gd name="T100" fmla="*/ 168 w 480"/>
                  <a:gd name="T101" fmla="*/ 312 h 507"/>
                  <a:gd name="T102" fmla="*/ 87 w 480"/>
                  <a:gd name="T103" fmla="*/ 357 h 507"/>
                  <a:gd name="T104" fmla="*/ 19 w 480"/>
                  <a:gd name="T105" fmla="*/ 399 h 507"/>
                  <a:gd name="T106" fmla="*/ 2 w 480"/>
                  <a:gd name="T107" fmla="*/ 420 h 507"/>
                  <a:gd name="T108" fmla="*/ 4 w 480"/>
                  <a:gd name="T109" fmla="*/ 504 h 507"/>
                  <a:gd name="T110" fmla="*/ 473 w 480"/>
                  <a:gd name="T111" fmla="*/ 506 h 507"/>
                  <a:gd name="T112" fmla="*/ 480 w 480"/>
                  <a:gd name="T113" fmla="*/ 424 h 507"/>
                  <a:gd name="T114" fmla="*/ 471 w 480"/>
                  <a:gd name="T115" fmla="*/ 408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0" h="507">
                    <a:moveTo>
                      <a:pt x="446" y="388"/>
                    </a:moveTo>
                    <a:lnTo>
                      <a:pt x="435" y="380"/>
                    </a:lnTo>
                    <a:lnTo>
                      <a:pt x="418" y="370"/>
                    </a:lnTo>
                    <a:lnTo>
                      <a:pt x="393" y="357"/>
                    </a:lnTo>
                    <a:lnTo>
                      <a:pt x="367" y="344"/>
                    </a:lnTo>
                    <a:lnTo>
                      <a:pt x="339" y="331"/>
                    </a:lnTo>
                    <a:lnTo>
                      <a:pt x="312" y="319"/>
                    </a:lnTo>
                    <a:lnTo>
                      <a:pt x="312" y="312"/>
                    </a:lnTo>
                    <a:lnTo>
                      <a:pt x="312" y="280"/>
                    </a:lnTo>
                    <a:lnTo>
                      <a:pt x="312" y="274"/>
                    </a:lnTo>
                    <a:lnTo>
                      <a:pt x="316" y="272"/>
                    </a:lnTo>
                    <a:lnTo>
                      <a:pt x="320" y="267"/>
                    </a:lnTo>
                    <a:lnTo>
                      <a:pt x="320" y="266"/>
                    </a:lnTo>
                    <a:lnTo>
                      <a:pt x="320" y="266"/>
                    </a:lnTo>
                    <a:lnTo>
                      <a:pt x="323" y="263"/>
                    </a:lnTo>
                    <a:lnTo>
                      <a:pt x="324" y="261"/>
                    </a:lnTo>
                    <a:lnTo>
                      <a:pt x="325" y="260"/>
                    </a:lnTo>
                    <a:lnTo>
                      <a:pt x="325" y="260"/>
                    </a:lnTo>
                    <a:lnTo>
                      <a:pt x="326" y="256"/>
                    </a:lnTo>
                    <a:lnTo>
                      <a:pt x="329" y="254"/>
                    </a:lnTo>
                    <a:lnTo>
                      <a:pt x="329" y="253"/>
                    </a:lnTo>
                    <a:lnTo>
                      <a:pt x="329" y="251"/>
                    </a:lnTo>
                    <a:lnTo>
                      <a:pt x="331" y="248"/>
                    </a:lnTo>
                    <a:lnTo>
                      <a:pt x="332" y="244"/>
                    </a:lnTo>
                    <a:lnTo>
                      <a:pt x="332" y="243"/>
                    </a:lnTo>
                    <a:lnTo>
                      <a:pt x="332" y="243"/>
                    </a:lnTo>
                    <a:lnTo>
                      <a:pt x="335" y="237"/>
                    </a:lnTo>
                    <a:lnTo>
                      <a:pt x="336" y="231"/>
                    </a:lnTo>
                    <a:lnTo>
                      <a:pt x="336" y="231"/>
                    </a:lnTo>
                    <a:lnTo>
                      <a:pt x="336" y="231"/>
                    </a:lnTo>
                    <a:lnTo>
                      <a:pt x="337" y="225"/>
                    </a:lnTo>
                    <a:lnTo>
                      <a:pt x="338" y="219"/>
                    </a:lnTo>
                    <a:lnTo>
                      <a:pt x="338" y="217"/>
                    </a:lnTo>
                    <a:lnTo>
                      <a:pt x="338" y="215"/>
                    </a:lnTo>
                    <a:lnTo>
                      <a:pt x="339" y="209"/>
                    </a:lnTo>
                    <a:lnTo>
                      <a:pt x="339" y="203"/>
                    </a:lnTo>
                    <a:lnTo>
                      <a:pt x="345" y="197"/>
                    </a:lnTo>
                    <a:lnTo>
                      <a:pt x="350" y="191"/>
                    </a:lnTo>
                    <a:lnTo>
                      <a:pt x="350" y="190"/>
                    </a:lnTo>
                    <a:lnTo>
                      <a:pt x="350" y="190"/>
                    </a:lnTo>
                    <a:lnTo>
                      <a:pt x="353" y="187"/>
                    </a:lnTo>
                    <a:lnTo>
                      <a:pt x="354" y="185"/>
                    </a:lnTo>
                    <a:lnTo>
                      <a:pt x="354" y="185"/>
                    </a:lnTo>
                    <a:lnTo>
                      <a:pt x="354" y="185"/>
                    </a:lnTo>
                    <a:lnTo>
                      <a:pt x="355" y="182"/>
                    </a:lnTo>
                    <a:lnTo>
                      <a:pt x="355" y="180"/>
                    </a:lnTo>
                    <a:lnTo>
                      <a:pt x="355" y="179"/>
                    </a:lnTo>
                    <a:lnTo>
                      <a:pt x="356" y="179"/>
                    </a:lnTo>
                    <a:lnTo>
                      <a:pt x="356" y="176"/>
                    </a:lnTo>
                    <a:lnTo>
                      <a:pt x="357" y="174"/>
                    </a:lnTo>
                    <a:lnTo>
                      <a:pt x="357" y="173"/>
                    </a:lnTo>
                    <a:lnTo>
                      <a:pt x="357" y="173"/>
                    </a:lnTo>
                    <a:lnTo>
                      <a:pt x="357" y="169"/>
                    </a:lnTo>
                    <a:lnTo>
                      <a:pt x="357" y="167"/>
                    </a:lnTo>
                    <a:lnTo>
                      <a:pt x="358" y="167"/>
                    </a:lnTo>
                    <a:lnTo>
                      <a:pt x="358" y="166"/>
                    </a:lnTo>
                    <a:lnTo>
                      <a:pt x="358" y="163"/>
                    </a:lnTo>
                    <a:lnTo>
                      <a:pt x="358" y="160"/>
                    </a:lnTo>
                    <a:lnTo>
                      <a:pt x="358" y="155"/>
                    </a:lnTo>
                    <a:lnTo>
                      <a:pt x="357" y="149"/>
                    </a:lnTo>
                    <a:lnTo>
                      <a:pt x="357" y="149"/>
                    </a:lnTo>
                    <a:lnTo>
                      <a:pt x="357" y="148"/>
                    </a:lnTo>
                    <a:lnTo>
                      <a:pt x="356" y="143"/>
                    </a:lnTo>
                    <a:lnTo>
                      <a:pt x="354" y="140"/>
                    </a:lnTo>
                    <a:lnTo>
                      <a:pt x="354" y="138"/>
                    </a:lnTo>
                    <a:lnTo>
                      <a:pt x="354" y="138"/>
                    </a:lnTo>
                    <a:lnTo>
                      <a:pt x="353" y="135"/>
                    </a:lnTo>
                    <a:lnTo>
                      <a:pt x="350" y="131"/>
                    </a:lnTo>
                    <a:lnTo>
                      <a:pt x="349" y="131"/>
                    </a:lnTo>
                    <a:lnTo>
                      <a:pt x="349" y="131"/>
                    </a:lnTo>
                    <a:lnTo>
                      <a:pt x="347" y="128"/>
                    </a:lnTo>
                    <a:lnTo>
                      <a:pt x="343" y="125"/>
                    </a:lnTo>
                    <a:lnTo>
                      <a:pt x="344" y="122"/>
                    </a:lnTo>
                    <a:lnTo>
                      <a:pt x="347" y="117"/>
                    </a:lnTo>
                    <a:lnTo>
                      <a:pt x="351" y="100"/>
                    </a:lnTo>
                    <a:lnTo>
                      <a:pt x="355" y="84"/>
                    </a:lnTo>
                    <a:lnTo>
                      <a:pt x="355" y="77"/>
                    </a:lnTo>
                    <a:lnTo>
                      <a:pt x="355" y="69"/>
                    </a:lnTo>
                    <a:lnTo>
                      <a:pt x="354" y="61"/>
                    </a:lnTo>
                    <a:lnTo>
                      <a:pt x="353" y="54"/>
                    </a:lnTo>
                    <a:lnTo>
                      <a:pt x="350" y="47"/>
                    </a:lnTo>
                    <a:lnTo>
                      <a:pt x="347" y="40"/>
                    </a:lnTo>
                    <a:lnTo>
                      <a:pt x="342" y="34"/>
                    </a:lnTo>
                    <a:lnTo>
                      <a:pt x="336" y="28"/>
                    </a:lnTo>
                    <a:lnTo>
                      <a:pt x="330" y="22"/>
                    </a:lnTo>
                    <a:lnTo>
                      <a:pt x="323" y="17"/>
                    </a:lnTo>
                    <a:lnTo>
                      <a:pt x="314" y="12"/>
                    </a:lnTo>
                    <a:lnTo>
                      <a:pt x="305" y="9"/>
                    </a:lnTo>
                    <a:lnTo>
                      <a:pt x="305" y="9"/>
                    </a:lnTo>
                    <a:lnTo>
                      <a:pt x="305" y="9"/>
                    </a:lnTo>
                    <a:lnTo>
                      <a:pt x="295" y="6"/>
                    </a:lnTo>
                    <a:lnTo>
                      <a:pt x="286" y="4"/>
                    </a:lnTo>
                    <a:lnTo>
                      <a:pt x="276" y="2"/>
                    </a:lnTo>
                    <a:lnTo>
                      <a:pt x="267" y="0"/>
                    </a:lnTo>
                    <a:lnTo>
                      <a:pt x="267" y="0"/>
                    </a:lnTo>
                    <a:lnTo>
                      <a:pt x="267" y="0"/>
                    </a:lnTo>
                    <a:lnTo>
                      <a:pt x="263" y="0"/>
                    </a:lnTo>
                    <a:lnTo>
                      <a:pt x="260" y="0"/>
                    </a:lnTo>
                    <a:lnTo>
                      <a:pt x="255" y="0"/>
                    </a:lnTo>
                    <a:lnTo>
                      <a:pt x="251" y="0"/>
                    </a:lnTo>
                    <a:lnTo>
                      <a:pt x="244" y="0"/>
                    </a:lnTo>
                    <a:lnTo>
                      <a:pt x="237" y="0"/>
                    </a:lnTo>
                    <a:lnTo>
                      <a:pt x="235" y="0"/>
                    </a:lnTo>
                    <a:lnTo>
                      <a:pt x="232" y="2"/>
                    </a:lnTo>
                    <a:lnTo>
                      <a:pt x="229" y="2"/>
                    </a:lnTo>
                    <a:lnTo>
                      <a:pt x="224" y="3"/>
                    </a:lnTo>
                    <a:lnTo>
                      <a:pt x="220" y="3"/>
                    </a:lnTo>
                    <a:lnTo>
                      <a:pt x="217" y="4"/>
                    </a:lnTo>
                    <a:lnTo>
                      <a:pt x="215" y="4"/>
                    </a:lnTo>
                    <a:lnTo>
                      <a:pt x="212" y="5"/>
                    </a:lnTo>
                    <a:lnTo>
                      <a:pt x="207" y="6"/>
                    </a:lnTo>
                    <a:lnTo>
                      <a:pt x="203" y="8"/>
                    </a:lnTo>
                    <a:lnTo>
                      <a:pt x="199" y="9"/>
                    </a:lnTo>
                    <a:lnTo>
                      <a:pt x="195" y="10"/>
                    </a:lnTo>
                    <a:lnTo>
                      <a:pt x="193" y="10"/>
                    </a:lnTo>
                    <a:lnTo>
                      <a:pt x="192" y="11"/>
                    </a:lnTo>
                    <a:lnTo>
                      <a:pt x="181" y="16"/>
                    </a:lnTo>
                    <a:lnTo>
                      <a:pt x="172" y="23"/>
                    </a:lnTo>
                    <a:lnTo>
                      <a:pt x="163" y="30"/>
                    </a:lnTo>
                    <a:lnTo>
                      <a:pt x="157" y="38"/>
                    </a:lnTo>
                    <a:lnTo>
                      <a:pt x="157" y="38"/>
                    </a:lnTo>
                    <a:lnTo>
                      <a:pt x="156" y="38"/>
                    </a:lnTo>
                    <a:lnTo>
                      <a:pt x="155" y="42"/>
                    </a:lnTo>
                    <a:lnTo>
                      <a:pt x="154" y="44"/>
                    </a:lnTo>
                    <a:lnTo>
                      <a:pt x="150" y="44"/>
                    </a:lnTo>
                    <a:lnTo>
                      <a:pt x="148" y="44"/>
                    </a:lnTo>
                    <a:lnTo>
                      <a:pt x="143" y="44"/>
                    </a:lnTo>
                    <a:lnTo>
                      <a:pt x="140" y="46"/>
                    </a:lnTo>
                    <a:lnTo>
                      <a:pt x="138" y="46"/>
                    </a:lnTo>
                    <a:lnTo>
                      <a:pt x="137" y="46"/>
                    </a:lnTo>
                    <a:lnTo>
                      <a:pt x="135" y="47"/>
                    </a:lnTo>
                    <a:lnTo>
                      <a:pt x="131" y="48"/>
                    </a:lnTo>
                    <a:lnTo>
                      <a:pt x="131" y="48"/>
                    </a:lnTo>
                    <a:lnTo>
                      <a:pt x="130" y="49"/>
                    </a:lnTo>
                    <a:lnTo>
                      <a:pt x="128" y="50"/>
                    </a:lnTo>
                    <a:lnTo>
                      <a:pt x="126" y="53"/>
                    </a:lnTo>
                    <a:lnTo>
                      <a:pt x="125" y="53"/>
                    </a:lnTo>
                    <a:lnTo>
                      <a:pt x="125" y="53"/>
                    </a:lnTo>
                    <a:lnTo>
                      <a:pt x="124" y="55"/>
                    </a:lnTo>
                    <a:lnTo>
                      <a:pt x="123" y="56"/>
                    </a:lnTo>
                    <a:lnTo>
                      <a:pt x="121" y="60"/>
                    </a:lnTo>
                    <a:lnTo>
                      <a:pt x="119" y="63"/>
                    </a:lnTo>
                    <a:lnTo>
                      <a:pt x="119" y="65"/>
                    </a:lnTo>
                    <a:lnTo>
                      <a:pt x="118" y="66"/>
                    </a:lnTo>
                    <a:lnTo>
                      <a:pt x="118" y="68"/>
                    </a:lnTo>
                    <a:lnTo>
                      <a:pt x="118" y="71"/>
                    </a:lnTo>
                    <a:lnTo>
                      <a:pt x="118" y="73"/>
                    </a:lnTo>
                    <a:lnTo>
                      <a:pt x="118" y="75"/>
                    </a:lnTo>
                    <a:lnTo>
                      <a:pt x="118" y="77"/>
                    </a:lnTo>
                    <a:lnTo>
                      <a:pt x="118" y="79"/>
                    </a:lnTo>
                    <a:lnTo>
                      <a:pt x="118" y="81"/>
                    </a:lnTo>
                    <a:lnTo>
                      <a:pt x="118" y="84"/>
                    </a:lnTo>
                    <a:lnTo>
                      <a:pt x="119" y="85"/>
                    </a:lnTo>
                    <a:lnTo>
                      <a:pt x="119" y="87"/>
                    </a:lnTo>
                    <a:lnTo>
                      <a:pt x="119" y="90"/>
                    </a:lnTo>
                    <a:lnTo>
                      <a:pt x="121" y="92"/>
                    </a:lnTo>
                    <a:lnTo>
                      <a:pt x="121" y="94"/>
                    </a:lnTo>
                    <a:lnTo>
                      <a:pt x="122" y="96"/>
                    </a:lnTo>
                    <a:lnTo>
                      <a:pt x="122" y="98"/>
                    </a:lnTo>
                    <a:lnTo>
                      <a:pt x="123" y="100"/>
                    </a:lnTo>
                    <a:lnTo>
                      <a:pt x="124" y="103"/>
                    </a:lnTo>
                    <a:lnTo>
                      <a:pt x="125" y="106"/>
                    </a:lnTo>
                    <a:lnTo>
                      <a:pt x="125" y="107"/>
                    </a:lnTo>
                    <a:lnTo>
                      <a:pt x="125" y="109"/>
                    </a:lnTo>
                    <a:lnTo>
                      <a:pt x="129" y="117"/>
                    </a:lnTo>
                    <a:lnTo>
                      <a:pt x="132" y="125"/>
                    </a:lnTo>
                    <a:lnTo>
                      <a:pt x="132" y="125"/>
                    </a:lnTo>
                    <a:lnTo>
                      <a:pt x="132" y="125"/>
                    </a:lnTo>
                    <a:lnTo>
                      <a:pt x="126" y="130"/>
                    </a:lnTo>
                    <a:lnTo>
                      <a:pt x="122" y="136"/>
                    </a:lnTo>
                    <a:lnTo>
                      <a:pt x="118" y="142"/>
                    </a:lnTo>
                    <a:lnTo>
                      <a:pt x="116" y="148"/>
                    </a:lnTo>
                    <a:lnTo>
                      <a:pt x="115" y="155"/>
                    </a:lnTo>
                    <a:lnTo>
                      <a:pt x="115" y="163"/>
                    </a:lnTo>
                    <a:lnTo>
                      <a:pt x="115" y="168"/>
                    </a:lnTo>
                    <a:lnTo>
                      <a:pt x="115" y="174"/>
                    </a:lnTo>
                    <a:lnTo>
                      <a:pt x="116" y="175"/>
                    </a:lnTo>
                    <a:lnTo>
                      <a:pt x="116" y="175"/>
                    </a:lnTo>
                    <a:lnTo>
                      <a:pt x="117" y="180"/>
                    </a:lnTo>
                    <a:lnTo>
                      <a:pt x="118" y="185"/>
                    </a:lnTo>
                    <a:lnTo>
                      <a:pt x="119" y="186"/>
                    </a:lnTo>
                    <a:lnTo>
                      <a:pt x="119" y="187"/>
                    </a:lnTo>
                    <a:lnTo>
                      <a:pt x="122" y="190"/>
                    </a:lnTo>
                    <a:lnTo>
                      <a:pt x="124" y="193"/>
                    </a:lnTo>
                    <a:lnTo>
                      <a:pt x="125" y="194"/>
                    </a:lnTo>
                    <a:lnTo>
                      <a:pt x="125" y="195"/>
                    </a:lnTo>
                    <a:lnTo>
                      <a:pt x="128" y="198"/>
                    </a:lnTo>
                    <a:lnTo>
                      <a:pt x="130" y="199"/>
                    </a:lnTo>
                    <a:lnTo>
                      <a:pt x="134" y="201"/>
                    </a:lnTo>
                    <a:lnTo>
                      <a:pt x="137" y="203"/>
                    </a:lnTo>
                    <a:lnTo>
                      <a:pt x="137" y="210"/>
                    </a:lnTo>
                    <a:lnTo>
                      <a:pt x="138" y="216"/>
                    </a:lnTo>
                    <a:lnTo>
                      <a:pt x="138" y="218"/>
                    </a:lnTo>
                    <a:lnTo>
                      <a:pt x="138" y="220"/>
                    </a:lnTo>
                    <a:lnTo>
                      <a:pt x="141" y="231"/>
                    </a:lnTo>
                    <a:lnTo>
                      <a:pt x="144" y="242"/>
                    </a:lnTo>
                    <a:lnTo>
                      <a:pt x="148" y="250"/>
                    </a:lnTo>
                    <a:lnTo>
                      <a:pt x="151" y="257"/>
                    </a:lnTo>
                    <a:lnTo>
                      <a:pt x="156" y="263"/>
                    </a:lnTo>
                    <a:lnTo>
                      <a:pt x="161" y="268"/>
                    </a:lnTo>
                    <a:lnTo>
                      <a:pt x="165" y="272"/>
                    </a:lnTo>
                    <a:lnTo>
                      <a:pt x="168" y="275"/>
                    </a:lnTo>
                    <a:lnTo>
                      <a:pt x="168" y="281"/>
                    </a:lnTo>
                    <a:lnTo>
                      <a:pt x="168" y="312"/>
                    </a:lnTo>
                    <a:lnTo>
                      <a:pt x="168" y="319"/>
                    </a:lnTo>
                    <a:lnTo>
                      <a:pt x="142" y="331"/>
                    </a:lnTo>
                    <a:lnTo>
                      <a:pt x="115" y="344"/>
                    </a:lnTo>
                    <a:lnTo>
                      <a:pt x="87" y="357"/>
                    </a:lnTo>
                    <a:lnTo>
                      <a:pt x="62" y="370"/>
                    </a:lnTo>
                    <a:lnTo>
                      <a:pt x="47" y="380"/>
                    </a:lnTo>
                    <a:lnTo>
                      <a:pt x="34" y="388"/>
                    </a:lnTo>
                    <a:lnTo>
                      <a:pt x="19" y="399"/>
                    </a:lnTo>
                    <a:lnTo>
                      <a:pt x="9" y="408"/>
                    </a:lnTo>
                    <a:lnTo>
                      <a:pt x="5" y="413"/>
                    </a:lnTo>
                    <a:lnTo>
                      <a:pt x="3" y="417"/>
                    </a:lnTo>
                    <a:lnTo>
                      <a:pt x="2" y="420"/>
                    </a:lnTo>
                    <a:lnTo>
                      <a:pt x="0" y="424"/>
                    </a:lnTo>
                    <a:lnTo>
                      <a:pt x="0" y="495"/>
                    </a:lnTo>
                    <a:lnTo>
                      <a:pt x="2" y="500"/>
                    </a:lnTo>
                    <a:lnTo>
                      <a:pt x="4" y="504"/>
                    </a:lnTo>
                    <a:lnTo>
                      <a:pt x="8" y="506"/>
                    </a:lnTo>
                    <a:lnTo>
                      <a:pt x="12" y="507"/>
                    </a:lnTo>
                    <a:lnTo>
                      <a:pt x="468" y="507"/>
                    </a:lnTo>
                    <a:lnTo>
                      <a:pt x="473" y="506"/>
                    </a:lnTo>
                    <a:lnTo>
                      <a:pt x="476" y="504"/>
                    </a:lnTo>
                    <a:lnTo>
                      <a:pt x="479" y="500"/>
                    </a:lnTo>
                    <a:lnTo>
                      <a:pt x="480" y="495"/>
                    </a:lnTo>
                    <a:lnTo>
                      <a:pt x="480" y="424"/>
                    </a:lnTo>
                    <a:lnTo>
                      <a:pt x="480" y="420"/>
                    </a:lnTo>
                    <a:lnTo>
                      <a:pt x="477" y="417"/>
                    </a:lnTo>
                    <a:lnTo>
                      <a:pt x="475" y="413"/>
                    </a:lnTo>
                    <a:lnTo>
                      <a:pt x="471" y="408"/>
                    </a:lnTo>
                    <a:lnTo>
                      <a:pt x="462" y="399"/>
                    </a:lnTo>
                    <a:lnTo>
                      <a:pt x="446" y="3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grpSp>
        <p:grpSp>
          <p:nvGrpSpPr>
            <p:cNvPr id="53" name="Group 52" descr="Icon of books. ">
              <a:extLst>
                <a:ext uri="{FF2B5EF4-FFF2-40B4-BE49-F238E27FC236}">
                  <a16:creationId xmlns:a16="http://schemas.microsoft.com/office/drawing/2014/main" xmlns="" id="{8567F01D-3435-4405-B8A9-9C2446E042DD}"/>
                </a:ext>
              </a:extLst>
            </p:cNvPr>
            <p:cNvGrpSpPr/>
            <p:nvPr/>
          </p:nvGrpSpPr>
          <p:grpSpPr>
            <a:xfrm>
              <a:off x="5412869" y="2728937"/>
              <a:ext cx="344413" cy="382447"/>
              <a:chOff x="2608263" y="1920875"/>
              <a:chExt cx="258763" cy="287338"/>
            </a:xfrm>
            <a:solidFill>
              <a:schemeClr val="accent4">
                <a:lumMod val="75000"/>
              </a:schemeClr>
            </a:solidFill>
          </p:grpSpPr>
          <p:sp>
            <p:nvSpPr>
              <p:cNvPr id="54" name="Rectangle 705">
                <a:extLst>
                  <a:ext uri="{FF2B5EF4-FFF2-40B4-BE49-F238E27FC236}">
                    <a16:creationId xmlns:a16="http://schemas.microsoft.com/office/drawing/2014/main" xmlns="" id="{D0A6A593-47E4-4B49-AA6D-52F8874CB4E1}"/>
                  </a:ext>
                </a:extLst>
              </p:cNvPr>
              <p:cNvSpPr>
                <a:spLocks noChangeArrowheads="1"/>
              </p:cNvSpPr>
              <p:nvPr/>
            </p:nvSpPr>
            <p:spPr bwMode="auto">
              <a:xfrm>
                <a:off x="2808288" y="2122488"/>
                <a:ext cx="58738"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55" name="Freeform 706">
                <a:extLst>
                  <a:ext uri="{FF2B5EF4-FFF2-40B4-BE49-F238E27FC236}">
                    <a16:creationId xmlns:a16="http://schemas.microsoft.com/office/drawing/2014/main" xmlns="" id="{B6E4140A-62C5-4AC5-9815-F2E1EC98F9F6}"/>
                  </a:ext>
                </a:extLst>
              </p:cNvPr>
              <p:cNvSpPr>
                <a:spLocks/>
              </p:cNvSpPr>
              <p:nvPr/>
            </p:nvSpPr>
            <p:spPr bwMode="auto">
              <a:xfrm>
                <a:off x="2808288" y="1920875"/>
                <a:ext cx="58738" cy="192088"/>
              </a:xfrm>
              <a:custGeom>
                <a:avLst/>
                <a:gdLst>
                  <a:gd name="T0" fmla="*/ 163 w 181"/>
                  <a:gd name="T1" fmla="*/ 0 h 602"/>
                  <a:gd name="T2" fmla="*/ 158 w 181"/>
                  <a:gd name="T3" fmla="*/ 3 h 602"/>
                  <a:gd name="T4" fmla="*/ 154 w 181"/>
                  <a:gd name="T5" fmla="*/ 7 h 602"/>
                  <a:gd name="T6" fmla="*/ 151 w 181"/>
                  <a:gd name="T7" fmla="*/ 12 h 602"/>
                  <a:gd name="T8" fmla="*/ 151 w 181"/>
                  <a:gd name="T9" fmla="*/ 211 h 602"/>
                  <a:gd name="T10" fmla="*/ 150 w 181"/>
                  <a:gd name="T11" fmla="*/ 222 h 602"/>
                  <a:gd name="T12" fmla="*/ 146 w 181"/>
                  <a:gd name="T13" fmla="*/ 234 h 602"/>
                  <a:gd name="T14" fmla="*/ 141 w 181"/>
                  <a:gd name="T15" fmla="*/ 245 h 602"/>
                  <a:gd name="T16" fmla="*/ 133 w 181"/>
                  <a:gd name="T17" fmla="*/ 254 h 602"/>
                  <a:gd name="T18" fmla="*/ 125 w 181"/>
                  <a:gd name="T19" fmla="*/ 261 h 602"/>
                  <a:gd name="T20" fmla="*/ 114 w 181"/>
                  <a:gd name="T21" fmla="*/ 266 h 602"/>
                  <a:gd name="T22" fmla="*/ 103 w 181"/>
                  <a:gd name="T23" fmla="*/ 270 h 602"/>
                  <a:gd name="T24" fmla="*/ 91 w 181"/>
                  <a:gd name="T25" fmla="*/ 271 h 602"/>
                  <a:gd name="T26" fmla="*/ 78 w 181"/>
                  <a:gd name="T27" fmla="*/ 270 h 602"/>
                  <a:gd name="T28" fmla="*/ 68 w 181"/>
                  <a:gd name="T29" fmla="*/ 266 h 602"/>
                  <a:gd name="T30" fmla="*/ 57 w 181"/>
                  <a:gd name="T31" fmla="*/ 261 h 602"/>
                  <a:gd name="T32" fmla="*/ 48 w 181"/>
                  <a:gd name="T33" fmla="*/ 254 h 602"/>
                  <a:gd name="T34" fmla="*/ 41 w 181"/>
                  <a:gd name="T35" fmla="*/ 245 h 602"/>
                  <a:gd name="T36" fmla="*/ 36 w 181"/>
                  <a:gd name="T37" fmla="*/ 234 h 602"/>
                  <a:gd name="T38" fmla="*/ 32 w 181"/>
                  <a:gd name="T39" fmla="*/ 224 h 602"/>
                  <a:gd name="T40" fmla="*/ 30 w 181"/>
                  <a:gd name="T41" fmla="*/ 211 h 602"/>
                  <a:gd name="T42" fmla="*/ 30 w 181"/>
                  <a:gd name="T43" fmla="*/ 12 h 602"/>
                  <a:gd name="T44" fmla="*/ 28 w 181"/>
                  <a:gd name="T45" fmla="*/ 7 h 602"/>
                  <a:gd name="T46" fmla="*/ 24 w 181"/>
                  <a:gd name="T47" fmla="*/ 3 h 602"/>
                  <a:gd name="T48" fmla="*/ 18 w 181"/>
                  <a:gd name="T49" fmla="*/ 0 h 602"/>
                  <a:gd name="T50" fmla="*/ 13 w 181"/>
                  <a:gd name="T51" fmla="*/ 0 h 602"/>
                  <a:gd name="T52" fmla="*/ 8 w 181"/>
                  <a:gd name="T53" fmla="*/ 3 h 602"/>
                  <a:gd name="T54" fmla="*/ 3 w 181"/>
                  <a:gd name="T55" fmla="*/ 7 h 602"/>
                  <a:gd name="T56" fmla="*/ 1 w 181"/>
                  <a:gd name="T57" fmla="*/ 12 h 602"/>
                  <a:gd name="T58" fmla="*/ 0 w 181"/>
                  <a:gd name="T59" fmla="*/ 211 h 602"/>
                  <a:gd name="T60" fmla="*/ 181 w 181"/>
                  <a:gd name="T61" fmla="*/ 602 h 602"/>
                  <a:gd name="T62" fmla="*/ 181 w 181"/>
                  <a:gd name="T63" fmla="*/ 15 h 602"/>
                  <a:gd name="T64" fmla="*/ 180 w 181"/>
                  <a:gd name="T65" fmla="*/ 9 h 602"/>
                  <a:gd name="T66" fmla="*/ 177 w 181"/>
                  <a:gd name="T67" fmla="*/ 5 h 602"/>
                  <a:gd name="T68" fmla="*/ 172 w 181"/>
                  <a:gd name="T69" fmla="*/ 2 h 602"/>
                  <a:gd name="T70" fmla="*/ 166 w 181"/>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602">
                    <a:moveTo>
                      <a:pt x="166" y="0"/>
                    </a:moveTo>
                    <a:lnTo>
                      <a:pt x="163" y="0"/>
                    </a:lnTo>
                    <a:lnTo>
                      <a:pt x="160" y="2"/>
                    </a:lnTo>
                    <a:lnTo>
                      <a:pt x="158" y="3"/>
                    </a:lnTo>
                    <a:lnTo>
                      <a:pt x="156" y="5"/>
                    </a:lnTo>
                    <a:lnTo>
                      <a:pt x="154" y="7"/>
                    </a:lnTo>
                    <a:lnTo>
                      <a:pt x="152" y="9"/>
                    </a:lnTo>
                    <a:lnTo>
                      <a:pt x="151" y="12"/>
                    </a:lnTo>
                    <a:lnTo>
                      <a:pt x="151" y="15"/>
                    </a:lnTo>
                    <a:lnTo>
                      <a:pt x="151" y="211"/>
                    </a:lnTo>
                    <a:lnTo>
                      <a:pt x="150" y="217"/>
                    </a:lnTo>
                    <a:lnTo>
                      <a:pt x="150" y="222"/>
                    </a:lnTo>
                    <a:lnTo>
                      <a:pt x="148" y="229"/>
                    </a:lnTo>
                    <a:lnTo>
                      <a:pt x="146" y="234"/>
                    </a:lnTo>
                    <a:lnTo>
                      <a:pt x="144" y="240"/>
                    </a:lnTo>
                    <a:lnTo>
                      <a:pt x="141" y="245"/>
                    </a:lnTo>
                    <a:lnTo>
                      <a:pt x="137" y="249"/>
                    </a:lnTo>
                    <a:lnTo>
                      <a:pt x="133" y="254"/>
                    </a:lnTo>
                    <a:lnTo>
                      <a:pt x="129" y="258"/>
                    </a:lnTo>
                    <a:lnTo>
                      <a:pt x="125" y="261"/>
                    </a:lnTo>
                    <a:lnTo>
                      <a:pt x="119" y="264"/>
                    </a:lnTo>
                    <a:lnTo>
                      <a:pt x="114" y="266"/>
                    </a:lnTo>
                    <a:lnTo>
                      <a:pt x="108" y="269"/>
                    </a:lnTo>
                    <a:lnTo>
                      <a:pt x="103" y="270"/>
                    </a:lnTo>
                    <a:lnTo>
                      <a:pt x="97" y="271"/>
                    </a:lnTo>
                    <a:lnTo>
                      <a:pt x="91" y="271"/>
                    </a:lnTo>
                    <a:lnTo>
                      <a:pt x="85" y="271"/>
                    </a:lnTo>
                    <a:lnTo>
                      <a:pt x="78" y="270"/>
                    </a:lnTo>
                    <a:lnTo>
                      <a:pt x="73" y="269"/>
                    </a:lnTo>
                    <a:lnTo>
                      <a:pt x="68" y="266"/>
                    </a:lnTo>
                    <a:lnTo>
                      <a:pt x="62" y="264"/>
                    </a:lnTo>
                    <a:lnTo>
                      <a:pt x="57" y="261"/>
                    </a:lnTo>
                    <a:lnTo>
                      <a:pt x="53" y="258"/>
                    </a:lnTo>
                    <a:lnTo>
                      <a:pt x="48" y="254"/>
                    </a:lnTo>
                    <a:lnTo>
                      <a:pt x="44" y="249"/>
                    </a:lnTo>
                    <a:lnTo>
                      <a:pt x="41" y="245"/>
                    </a:lnTo>
                    <a:lnTo>
                      <a:pt x="38" y="240"/>
                    </a:lnTo>
                    <a:lnTo>
                      <a:pt x="36" y="234"/>
                    </a:lnTo>
                    <a:lnTo>
                      <a:pt x="33" y="229"/>
                    </a:lnTo>
                    <a:lnTo>
                      <a:pt x="32" y="224"/>
                    </a:lnTo>
                    <a:lnTo>
                      <a:pt x="31" y="217"/>
                    </a:lnTo>
                    <a:lnTo>
                      <a:pt x="30" y="211"/>
                    </a:lnTo>
                    <a:lnTo>
                      <a:pt x="30" y="15"/>
                    </a:lnTo>
                    <a:lnTo>
                      <a:pt x="30" y="12"/>
                    </a:lnTo>
                    <a:lnTo>
                      <a:pt x="29" y="9"/>
                    </a:lnTo>
                    <a:lnTo>
                      <a:pt x="28" y="7"/>
                    </a:lnTo>
                    <a:lnTo>
                      <a:pt x="26" y="5"/>
                    </a:lnTo>
                    <a:lnTo>
                      <a:pt x="24" y="3"/>
                    </a:lnTo>
                    <a:lnTo>
                      <a:pt x="22" y="2"/>
                    </a:lnTo>
                    <a:lnTo>
                      <a:pt x="18" y="0"/>
                    </a:lnTo>
                    <a:lnTo>
                      <a:pt x="15" y="0"/>
                    </a:lnTo>
                    <a:lnTo>
                      <a:pt x="13" y="0"/>
                    </a:lnTo>
                    <a:lnTo>
                      <a:pt x="10" y="2"/>
                    </a:lnTo>
                    <a:lnTo>
                      <a:pt x="8" y="3"/>
                    </a:lnTo>
                    <a:lnTo>
                      <a:pt x="6" y="5"/>
                    </a:lnTo>
                    <a:lnTo>
                      <a:pt x="3" y="7"/>
                    </a:lnTo>
                    <a:lnTo>
                      <a:pt x="1" y="9"/>
                    </a:lnTo>
                    <a:lnTo>
                      <a:pt x="1" y="12"/>
                    </a:lnTo>
                    <a:lnTo>
                      <a:pt x="0" y="15"/>
                    </a:lnTo>
                    <a:lnTo>
                      <a:pt x="0" y="211"/>
                    </a:lnTo>
                    <a:lnTo>
                      <a:pt x="0" y="602"/>
                    </a:lnTo>
                    <a:lnTo>
                      <a:pt x="181" y="602"/>
                    </a:lnTo>
                    <a:lnTo>
                      <a:pt x="181" y="211"/>
                    </a:lnTo>
                    <a:lnTo>
                      <a:pt x="181" y="15"/>
                    </a:lnTo>
                    <a:lnTo>
                      <a:pt x="181" y="12"/>
                    </a:lnTo>
                    <a:lnTo>
                      <a:pt x="180" y="9"/>
                    </a:lnTo>
                    <a:lnTo>
                      <a:pt x="178" y="7"/>
                    </a:lnTo>
                    <a:lnTo>
                      <a:pt x="177" y="5"/>
                    </a:lnTo>
                    <a:lnTo>
                      <a:pt x="175" y="3"/>
                    </a:lnTo>
                    <a:lnTo>
                      <a:pt x="172" y="2"/>
                    </a:lnTo>
                    <a:lnTo>
                      <a:pt x="170" y="0"/>
                    </a:lnTo>
                    <a:lnTo>
                      <a:pt x="1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56" name="Freeform 707">
                <a:extLst>
                  <a:ext uri="{FF2B5EF4-FFF2-40B4-BE49-F238E27FC236}">
                    <a16:creationId xmlns:a16="http://schemas.microsoft.com/office/drawing/2014/main" xmlns="" id="{2BB05B54-8B23-444D-95F1-028389DEF5DE}"/>
                  </a:ext>
                </a:extLst>
              </p:cNvPr>
              <p:cNvSpPr>
                <a:spLocks/>
              </p:cNvSpPr>
              <p:nvPr/>
            </p:nvSpPr>
            <p:spPr bwMode="auto">
              <a:xfrm>
                <a:off x="2808288" y="2151063"/>
                <a:ext cx="58738" cy="57150"/>
              </a:xfrm>
              <a:custGeom>
                <a:avLst/>
                <a:gdLst>
                  <a:gd name="T0" fmla="*/ 0 w 181"/>
                  <a:gd name="T1" fmla="*/ 91 h 182"/>
                  <a:gd name="T2" fmla="*/ 1 w 181"/>
                  <a:gd name="T3" fmla="*/ 100 h 182"/>
                  <a:gd name="T4" fmla="*/ 2 w 181"/>
                  <a:gd name="T5" fmla="*/ 110 h 182"/>
                  <a:gd name="T6" fmla="*/ 4 w 181"/>
                  <a:gd name="T7" fmla="*/ 118 h 182"/>
                  <a:gd name="T8" fmla="*/ 8 w 181"/>
                  <a:gd name="T9" fmla="*/ 126 h 182"/>
                  <a:gd name="T10" fmla="*/ 12 w 181"/>
                  <a:gd name="T11" fmla="*/ 134 h 182"/>
                  <a:gd name="T12" fmla="*/ 16 w 181"/>
                  <a:gd name="T13" fmla="*/ 142 h 182"/>
                  <a:gd name="T14" fmla="*/ 22 w 181"/>
                  <a:gd name="T15" fmla="*/ 148 h 182"/>
                  <a:gd name="T16" fmla="*/ 27 w 181"/>
                  <a:gd name="T17" fmla="*/ 155 h 182"/>
                  <a:gd name="T18" fmla="*/ 33 w 181"/>
                  <a:gd name="T19" fmla="*/ 161 h 182"/>
                  <a:gd name="T20" fmla="*/ 41 w 181"/>
                  <a:gd name="T21" fmla="*/ 165 h 182"/>
                  <a:gd name="T22" fmla="*/ 47 w 181"/>
                  <a:gd name="T23" fmla="*/ 171 h 182"/>
                  <a:gd name="T24" fmla="*/ 56 w 181"/>
                  <a:gd name="T25" fmla="*/ 174 h 182"/>
                  <a:gd name="T26" fmla="*/ 65 w 181"/>
                  <a:gd name="T27" fmla="*/ 177 h 182"/>
                  <a:gd name="T28" fmla="*/ 73 w 181"/>
                  <a:gd name="T29" fmla="*/ 179 h 182"/>
                  <a:gd name="T30" fmla="*/ 82 w 181"/>
                  <a:gd name="T31" fmla="*/ 181 h 182"/>
                  <a:gd name="T32" fmla="*/ 91 w 181"/>
                  <a:gd name="T33" fmla="*/ 182 h 182"/>
                  <a:gd name="T34" fmla="*/ 100 w 181"/>
                  <a:gd name="T35" fmla="*/ 181 h 182"/>
                  <a:gd name="T36" fmla="*/ 110 w 181"/>
                  <a:gd name="T37" fmla="*/ 179 h 182"/>
                  <a:gd name="T38" fmla="*/ 118 w 181"/>
                  <a:gd name="T39" fmla="*/ 177 h 182"/>
                  <a:gd name="T40" fmla="*/ 126 w 181"/>
                  <a:gd name="T41" fmla="*/ 174 h 182"/>
                  <a:gd name="T42" fmla="*/ 134 w 181"/>
                  <a:gd name="T43" fmla="*/ 171 h 182"/>
                  <a:gd name="T44" fmla="*/ 142 w 181"/>
                  <a:gd name="T45" fmla="*/ 165 h 182"/>
                  <a:gd name="T46" fmla="*/ 148 w 181"/>
                  <a:gd name="T47" fmla="*/ 161 h 182"/>
                  <a:gd name="T48" fmla="*/ 155 w 181"/>
                  <a:gd name="T49" fmla="*/ 155 h 182"/>
                  <a:gd name="T50" fmla="*/ 161 w 181"/>
                  <a:gd name="T51" fmla="*/ 148 h 182"/>
                  <a:gd name="T52" fmla="*/ 165 w 181"/>
                  <a:gd name="T53" fmla="*/ 142 h 182"/>
                  <a:gd name="T54" fmla="*/ 171 w 181"/>
                  <a:gd name="T55" fmla="*/ 134 h 182"/>
                  <a:gd name="T56" fmla="*/ 174 w 181"/>
                  <a:gd name="T57" fmla="*/ 126 h 182"/>
                  <a:gd name="T58" fmla="*/ 177 w 181"/>
                  <a:gd name="T59" fmla="*/ 118 h 182"/>
                  <a:gd name="T60" fmla="*/ 179 w 181"/>
                  <a:gd name="T61" fmla="*/ 110 h 182"/>
                  <a:gd name="T62" fmla="*/ 180 w 181"/>
                  <a:gd name="T63" fmla="*/ 100 h 182"/>
                  <a:gd name="T64" fmla="*/ 181 w 181"/>
                  <a:gd name="T65" fmla="*/ 91 h 182"/>
                  <a:gd name="T66" fmla="*/ 181 w 181"/>
                  <a:gd name="T67" fmla="*/ 0 h 182"/>
                  <a:gd name="T68" fmla="*/ 0 w 181"/>
                  <a:gd name="T69" fmla="*/ 0 h 182"/>
                  <a:gd name="T70" fmla="*/ 0 w 181"/>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182">
                    <a:moveTo>
                      <a:pt x="0" y="91"/>
                    </a:moveTo>
                    <a:lnTo>
                      <a:pt x="1" y="100"/>
                    </a:lnTo>
                    <a:lnTo>
                      <a:pt x="2" y="110"/>
                    </a:lnTo>
                    <a:lnTo>
                      <a:pt x="4" y="118"/>
                    </a:lnTo>
                    <a:lnTo>
                      <a:pt x="8" y="126"/>
                    </a:lnTo>
                    <a:lnTo>
                      <a:pt x="12" y="134"/>
                    </a:lnTo>
                    <a:lnTo>
                      <a:pt x="16" y="142"/>
                    </a:lnTo>
                    <a:lnTo>
                      <a:pt x="22" y="148"/>
                    </a:lnTo>
                    <a:lnTo>
                      <a:pt x="27" y="155"/>
                    </a:lnTo>
                    <a:lnTo>
                      <a:pt x="33" y="161"/>
                    </a:lnTo>
                    <a:lnTo>
                      <a:pt x="41" y="165"/>
                    </a:lnTo>
                    <a:lnTo>
                      <a:pt x="47" y="171"/>
                    </a:lnTo>
                    <a:lnTo>
                      <a:pt x="56" y="174"/>
                    </a:lnTo>
                    <a:lnTo>
                      <a:pt x="65" y="177"/>
                    </a:lnTo>
                    <a:lnTo>
                      <a:pt x="73" y="179"/>
                    </a:lnTo>
                    <a:lnTo>
                      <a:pt x="82" y="181"/>
                    </a:lnTo>
                    <a:lnTo>
                      <a:pt x="91" y="182"/>
                    </a:lnTo>
                    <a:lnTo>
                      <a:pt x="100" y="181"/>
                    </a:lnTo>
                    <a:lnTo>
                      <a:pt x="110" y="179"/>
                    </a:lnTo>
                    <a:lnTo>
                      <a:pt x="118" y="177"/>
                    </a:lnTo>
                    <a:lnTo>
                      <a:pt x="126" y="174"/>
                    </a:lnTo>
                    <a:lnTo>
                      <a:pt x="134" y="171"/>
                    </a:lnTo>
                    <a:lnTo>
                      <a:pt x="142" y="165"/>
                    </a:lnTo>
                    <a:lnTo>
                      <a:pt x="148" y="161"/>
                    </a:lnTo>
                    <a:lnTo>
                      <a:pt x="155" y="155"/>
                    </a:lnTo>
                    <a:lnTo>
                      <a:pt x="161" y="148"/>
                    </a:lnTo>
                    <a:lnTo>
                      <a:pt x="165" y="142"/>
                    </a:lnTo>
                    <a:lnTo>
                      <a:pt x="171" y="134"/>
                    </a:lnTo>
                    <a:lnTo>
                      <a:pt x="174" y="126"/>
                    </a:lnTo>
                    <a:lnTo>
                      <a:pt x="177" y="118"/>
                    </a:lnTo>
                    <a:lnTo>
                      <a:pt x="179" y="110"/>
                    </a:lnTo>
                    <a:lnTo>
                      <a:pt x="180" y="100"/>
                    </a:lnTo>
                    <a:lnTo>
                      <a:pt x="181" y="91"/>
                    </a:lnTo>
                    <a:lnTo>
                      <a:pt x="181"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57" name="Freeform 708">
                <a:extLst>
                  <a:ext uri="{FF2B5EF4-FFF2-40B4-BE49-F238E27FC236}">
                    <a16:creationId xmlns:a16="http://schemas.microsoft.com/office/drawing/2014/main" xmlns="" id="{FCD192F6-CF13-4B1C-AF7D-85317A2D8C92}"/>
                  </a:ext>
                </a:extLst>
              </p:cNvPr>
              <p:cNvSpPr>
                <a:spLocks/>
              </p:cNvSpPr>
              <p:nvPr/>
            </p:nvSpPr>
            <p:spPr bwMode="auto">
              <a:xfrm>
                <a:off x="2833688" y="1930400"/>
                <a:ext cx="9525" cy="57150"/>
              </a:xfrm>
              <a:custGeom>
                <a:avLst/>
                <a:gdLst>
                  <a:gd name="T0" fmla="*/ 15 w 30"/>
                  <a:gd name="T1" fmla="*/ 181 h 181"/>
                  <a:gd name="T2" fmla="*/ 17 w 30"/>
                  <a:gd name="T3" fmla="*/ 181 h 181"/>
                  <a:gd name="T4" fmla="*/ 21 w 30"/>
                  <a:gd name="T5" fmla="*/ 180 h 181"/>
                  <a:gd name="T6" fmla="*/ 23 w 30"/>
                  <a:gd name="T7" fmla="*/ 179 h 181"/>
                  <a:gd name="T8" fmla="*/ 26 w 30"/>
                  <a:gd name="T9" fmla="*/ 176 h 181"/>
                  <a:gd name="T10" fmla="*/ 27 w 30"/>
                  <a:gd name="T11" fmla="*/ 174 h 181"/>
                  <a:gd name="T12" fmla="*/ 29 w 30"/>
                  <a:gd name="T13" fmla="*/ 172 h 181"/>
                  <a:gd name="T14" fmla="*/ 29 w 30"/>
                  <a:gd name="T15" fmla="*/ 169 h 181"/>
                  <a:gd name="T16" fmla="*/ 30 w 30"/>
                  <a:gd name="T17" fmla="*/ 166 h 181"/>
                  <a:gd name="T18" fmla="*/ 30 w 30"/>
                  <a:gd name="T19" fmla="*/ 16 h 181"/>
                  <a:gd name="T20" fmla="*/ 29 w 30"/>
                  <a:gd name="T21" fmla="*/ 12 h 181"/>
                  <a:gd name="T22" fmla="*/ 29 w 30"/>
                  <a:gd name="T23" fmla="*/ 9 h 181"/>
                  <a:gd name="T24" fmla="*/ 27 w 30"/>
                  <a:gd name="T25" fmla="*/ 7 h 181"/>
                  <a:gd name="T26" fmla="*/ 26 w 30"/>
                  <a:gd name="T27" fmla="*/ 5 h 181"/>
                  <a:gd name="T28" fmla="*/ 23 w 30"/>
                  <a:gd name="T29" fmla="*/ 3 h 181"/>
                  <a:gd name="T30" fmla="*/ 21 w 30"/>
                  <a:gd name="T31" fmla="*/ 2 h 181"/>
                  <a:gd name="T32" fmla="*/ 17 w 30"/>
                  <a:gd name="T33" fmla="*/ 0 h 181"/>
                  <a:gd name="T34" fmla="*/ 15 w 30"/>
                  <a:gd name="T35" fmla="*/ 0 h 181"/>
                  <a:gd name="T36" fmla="*/ 12 w 30"/>
                  <a:gd name="T37" fmla="*/ 0 h 181"/>
                  <a:gd name="T38" fmla="*/ 9 w 30"/>
                  <a:gd name="T39" fmla="*/ 2 h 181"/>
                  <a:gd name="T40" fmla="*/ 7 w 30"/>
                  <a:gd name="T41" fmla="*/ 3 h 181"/>
                  <a:gd name="T42" fmla="*/ 5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5 w 30"/>
                  <a:gd name="T61" fmla="*/ 176 h 181"/>
                  <a:gd name="T62" fmla="*/ 7 w 30"/>
                  <a:gd name="T63" fmla="*/ 179 h 181"/>
                  <a:gd name="T64" fmla="*/ 9 w 30"/>
                  <a:gd name="T65" fmla="*/ 180 h 181"/>
                  <a:gd name="T66" fmla="*/ 12 w 30"/>
                  <a:gd name="T67" fmla="*/ 181 h 181"/>
                  <a:gd name="T68" fmla="*/ 15 w 30"/>
                  <a:gd name="T69" fmla="*/ 181 h 181"/>
                  <a:gd name="T70" fmla="*/ 15 w 30"/>
                  <a:gd name="T71"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181">
                    <a:moveTo>
                      <a:pt x="15" y="181"/>
                    </a:moveTo>
                    <a:lnTo>
                      <a:pt x="17" y="181"/>
                    </a:lnTo>
                    <a:lnTo>
                      <a:pt x="21" y="180"/>
                    </a:lnTo>
                    <a:lnTo>
                      <a:pt x="23" y="179"/>
                    </a:lnTo>
                    <a:lnTo>
                      <a:pt x="26" y="176"/>
                    </a:lnTo>
                    <a:lnTo>
                      <a:pt x="27" y="174"/>
                    </a:lnTo>
                    <a:lnTo>
                      <a:pt x="29" y="172"/>
                    </a:lnTo>
                    <a:lnTo>
                      <a:pt x="29" y="169"/>
                    </a:lnTo>
                    <a:lnTo>
                      <a:pt x="30" y="166"/>
                    </a:lnTo>
                    <a:lnTo>
                      <a:pt x="30" y="16"/>
                    </a:lnTo>
                    <a:lnTo>
                      <a:pt x="29" y="12"/>
                    </a:lnTo>
                    <a:lnTo>
                      <a:pt x="29" y="9"/>
                    </a:lnTo>
                    <a:lnTo>
                      <a:pt x="27" y="7"/>
                    </a:lnTo>
                    <a:lnTo>
                      <a:pt x="26" y="5"/>
                    </a:lnTo>
                    <a:lnTo>
                      <a:pt x="23" y="3"/>
                    </a:lnTo>
                    <a:lnTo>
                      <a:pt x="21" y="2"/>
                    </a:lnTo>
                    <a:lnTo>
                      <a:pt x="17" y="0"/>
                    </a:lnTo>
                    <a:lnTo>
                      <a:pt x="15" y="0"/>
                    </a:lnTo>
                    <a:lnTo>
                      <a:pt x="12" y="0"/>
                    </a:lnTo>
                    <a:lnTo>
                      <a:pt x="9" y="2"/>
                    </a:lnTo>
                    <a:lnTo>
                      <a:pt x="7" y="3"/>
                    </a:lnTo>
                    <a:lnTo>
                      <a:pt x="5" y="5"/>
                    </a:lnTo>
                    <a:lnTo>
                      <a:pt x="2" y="7"/>
                    </a:lnTo>
                    <a:lnTo>
                      <a:pt x="1" y="9"/>
                    </a:lnTo>
                    <a:lnTo>
                      <a:pt x="0" y="12"/>
                    </a:lnTo>
                    <a:lnTo>
                      <a:pt x="0" y="16"/>
                    </a:lnTo>
                    <a:lnTo>
                      <a:pt x="0" y="166"/>
                    </a:lnTo>
                    <a:lnTo>
                      <a:pt x="0" y="169"/>
                    </a:lnTo>
                    <a:lnTo>
                      <a:pt x="1" y="172"/>
                    </a:lnTo>
                    <a:lnTo>
                      <a:pt x="2" y="174"/>
                    </a:lnTo>
                    <a:lnTo>
                      <a:pt x="5" y="176"/>
                    </a:lnTo>
                    <a:lnTo>
                      <a:pt x="7" y="179"/>
                    </a:lnTo>
                    <a:lnTo>
                      <a:pt x="9" y="180"/>
                    </a:lnTo>
                    <a:lnTo>
                      <a:pt x="12" y="181"/>
                    </a:lnTo>
                    <a:lnTo>
                      <a:pt x="15"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58" name="Freeform 709">
                <a:extLst>
                  <a:ext uri="{FF2B5EF4-FFF2-40B4-BE49-F238E27FC236}">
                    <a16:creationId xmlns:a16="http://schemas.microsoft.com/office/drawing/2014/main" xmlns="" id="{01062624-ADFC-42E8-A6C7-0C7AF44AC72F}"/>
                  </a:ext>
                </a:extLst>
              </p:cNvPr>
              <p:cNvSpPr>
                <a:spLocks/>
              </p:cNvSpPr>
              <p:nvPr/>
            </p:nvSpPr>
            <p:spPr bwMode="auto">
              <a:xfrm>
                <a:off x="2741613" y="1920875"/>
                <a:ext cx="57150" cy="192088"/>
              </a:xfrm>
              <a:custGeom>
                <a:avLst/>
                <a:gdLst>
                  <a:gd name="T0" fmla="*/ 162 w 180"/>
                  <a:gd name="T1" fmla="*/ 0 h 602"/>
                  <a:gd name="T2" fmla="*/ 157 w 180"/>
                  <a:gd name="T3" fmla="*/ 3 h 602"/>
                  <a:gd name="T4" fmla="*/ 153 w 180"/>
                  <a:gd name="T5" fmla="*/ 7 h 602"/>
                  <a:gd name="T6" fmla="*/ 151 w 180"/>
                  <a:gd name="T7" fmla="*/ 12 h 602"/>
                  <a:gd name="T8" fmla="*/ 150 w 180"/>
                  <a:gd name="T9" fmla="*/ 211 h 602"/>
                  <a:gd name="T10" fmla="*/ 149 w 180"/>
                  <a:gd name="T11" fmla="*/ 222 h 602"/>
                  <a:gd name="T12" fmla="*/ 146 w 180"/>
                  <a:gd name="T13" fmla="*/ 234 h 602"/>
                  <a:gd name="T14" fmla="*/ 140 w 180"/>
                  <a:gd name="T15" fmla="*/ 245 h 602"/>
                  <a:gd name="T16" fmla="*/ 133 w 180"/>
                  <a:gd name="T17" fmla="*/ 254 h 602"/>
                  <a:gd name="T18" fmla="*/ 123 w 180"/>
                  <a:gd name="T19" fmla="*/ 261 h 602"/>
                  <a:gd name="T20" fmla="*/ 114 w 180"/>
                  <a:gd name="T21" fmla="*/ 266 h 602"/>
                  <a:gd name="T22" fmla="*/ 102 w 180"/>
                  <a:gd name="T23" fmla="*/ 270 h 602"/>
                  <a:gd name="T24" fmla="*/ 90 w 180"/>
                  <a:gd name="T25" fmla="*/ 271 h 602"/>
                  <a:gd name="T26" fmla="*/ 78 w 180"/>
                  <a:gd name="T27" fmla="*/ 270 h 602"/>
                  <a:gd name="T28" fmla="*/ 66 w 180"/>
                  <a:gd name="T29" fmla="*/ 266 h 602"/>
                  <a:gd name="T30" fmla="*/ 57 w 180"/>
                  <a:gd name="T31" fmla="*/ 261 h 602"/>
                  <a:gd name="T32" fmla="*/ 47 w 180"/>
                  <a:gd name="T33" fmla="*/ 254 h 602"/>
                  <a:gd name="T34" fmla="*/ 41 w 180"/>
                  <a:gd name="T35" fmla="*/ 245 h 602"/>
                  <a:gd name="T36" fmla="*/ 34 w 180"/>
                  <a:gd name="T37" fmla="*/ 234 h 602"/>
                  <a:gd name="T38" fmla="*/ 31 w 180"/>
                  <a:gd name="T39" fmla="*/ 224 h 602"/>
                  <a:gd name="T40" fmla="*/ 30 w 180"/>
                  <a:gd name="T41" fmla="*/ 211 h 602"/>
                  <a:gd name="T42" fmla="*/ 30 w 180"/>
                  <a:gd name="T43" fmla="*/ 12 h 602"/>
                  <a:gd name="T44" fmla="*/ 28 w 180"/>
                  <a:gd name="T45" fmla="*/ 7 h 602"/>
                  <a:gd name="T46" fmla="*/ 24 w 180"/>
                  <a:gd name="T47" fmla="*/ 3 h 602"/>
                  <a:gd name="T48" fmla="*/ 18 w 180"/>
                  <a:gd name="T49" fmla="*/ 0 h 602"/>
                  <a:gd name="T50" fmla="*/ 12 w 180"/>
                  <a:gd name="T51" fmla="*/ 0 h 602"/>
                  <a:gd name="T52" fmla="*/ 6 w 180"/>
                  <a:gd name="T53" fmla="*/ 3 h 602"/>
                  <a:gd name="T54" fmla="*/ 2 w 180"/>
                  <a:gd name="T55" fmla="*/ 7 h 602"/>
                  <a:gd name="T56" fmla="*/ 0 w 180"/>
                  <a:gd name="T57" fmla="*/ 12 h 602"/>
                  <a:gd name="T58" fmla="*/ 0 w 180"/>
                  <a:gd name="T59" fmla="*/ 211 h 602"/>
                  <a:gd name="T60" fmla="*/ 180 w 180"/>
                  <a:gd name="T61" fmla="*/ 602 h 602"/>
                  <a:gd name="T62" fmla="*/ 180 w 180"/>
                  <a:gd name="T63" fmla="*/ 15 h 602"/>
                  <a:gd name="T64" fmla="*/ 179 w 180"/>
                  <a:gd name="T65" fmla="*/ 9 h 602"/>
                  <a:gd name="T66" fmla="*/ 176 w 180"/>
                  <a:gd name="T67" fmla="*/ 5 h 602"/>
                  <a:gd name="T68" fmla="*/ 172 w 180"/>
                  <a:gd name="T69" fmla="*/ 2 h 602"/>
                  <a:gd name="T70" fmla="*/ 165 w 180"/>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0" h="602">
                    <a:moveTo>
                      <a:pt x="165" y="0"/>
                    </a:moveTo>
                    <a:lnTo>
                      <a:pt x="162" y="0"/>
                    </a:lnTo>
                    <a:lnTo>
                      <a:pt x="160" y="2"/>
                    </a:lnTo>
                    <a:lnTo>
                      <a:pt x="157" y="3"/>
                    </a:lnTo>
                    <a:lnTo>
                      <a:pt x="154" y="5"/>
                    </a:lnTo>
                    <a:lnTo>
                      <a:pt x="153" y="7"/>
                    </a:lnTo>
                    <a:lnTo>
                      <a:pt x="151" y="9"/>
                    </a:lnTo>
                    <a:lnTo>
                      <a:pt x="151" y="12"/>
                    </a:lnTo>
                    <a:lnTo>
                      <a:pt x="150" y="15"/>
                    </a:lnTo>
                    <a:lnTo>
                      <a:pt x="150" y="211"/>
                    </a:lnTo>
                    <a:lnTo>
                      <a:pt x="150" y="217"/>
                    </a:lnTo>
                    <a:lnTo>
                      <a:pt x="149" y="222"/>
                    </a:lnTo>
                    <a:lnTo>
                      <a:pt x="148" y="229"/>
                    </a:lnTo>
                    <a:lnTo>
                      <a:pt x="146" y="234"/>
                    </a:lnTo>
                    <a:lnTo>
                      <a:pt x="143" y="240"/>
                    </a:lnTo>
                    <a:lnTo>
                      <a:pt x="140" y="245"/>
                    </a:lnTo>
                    <a:lnTo>
                      <a:pt x="136" y="249"/>
                    </a:lnTo>
                    <a:lnTo>
                      <a:pt x="133" y="254"/>
                    </a:lnTo>
                    <a:lnTo>
                      <a:pt x="129" y="258"/>
                    </a:lnTo>
                    <a:lnTo>
                      <a:pt x="123" y="261"/>
                    </a:lnTo>
                    <a:lnTo>
                      <a:pt x="119" y="264"/>
                    </a:lnTo>
                    <a:lnTo>
                      <a:pt x="114" y="266"/>
                    </a:lnTo>
                    <a:lnTo>
                      <a:pt x="108" y="269"/>
                    </a:lnTo>
                    <a:lnTo>
                      <a:pt x="102" y="270"/>
                    </a:lnTo>
                    <a:lnTo>
                      <a:pt x="96" y="271"/>
                    </a:lnTo>
                    <a:lnTo>
                      <a:pt x="90" y="271"/>
                    </a:lnTo>
                    <a:lnTo>
                      <a:pt x="84" y="271"/>
                    </a:lnTo>
                    <a:lnTo>
                      <a:pt x="78" y="270"/>
                    </a:lnTo>
                    <a:lnTo>
                      <a:pt x="72" y="269"/>
                    </a:lnTo>
                    <a:lnTo>
                      <a:pt x="66" y="266"/>
                    </a:lnTo>
                    <a:lnTo>
                      <a:pt x="61" y="264"/>
                    </a:lnTo>
                    <a:lnTo>
                      <a:pt x="57" y="261"/>
                    </a:lnTo>
                    <a:lnTo>
                      <a:pt x="51" y="258"/>
                    </a:lnTo>
                    <a:lnTo>
                      <a:pt x="47" y="254"/>
                    </a:lnTo>
                    <a:lnTo>
                      <a:pt x="44" y="249"/>
                    </a:lnTo>
                    <a:lnTo>
                      <a:pt x="41" y="245"/>
                    </a:lnTo>
                    <a:lnTo>
                      <a:pt x="37" y="240"/>
                    </a:lnTo>
                    <a:lnTo>
                      <a:pt x="34" y="234"/>
                    </a:lnTo>
                    <a:lnTo>
                      <a:pt x="32" y="229"/>
                    </a:lnTo>
                    <a:lnTo>
                      <a:pt x="31" y="224"/>
                    </a:lnTo>
                    <a:lnTo>
                      <a:pt x="30" y="217"/>
                    </a:lnTo>
                    <a:lnTo>
                      <a:pt x="30" y="211"/>
                    </a:lnTo>
                    <a:lnTo>
                      <a:pt x="30" y="15"/>
                    </a:lnTo>
                    <a:lnTo>
                      <a:pt x="30" y="12"/>
                    </a:lnTo>
                    <a:lnTo>
                      <a:pt x="29" y="9"/>
                    </a:lnTo>
                    <a:lnTo>
                      <a:pt x="28" y="7"/>
                    </a:lnTo>
                    <a:lnTo>
                      <a:pt x="26" y="5"/>
                    </a:lnTo>
                    <a:lnTo>
                      <a:pt x="24" y="3"/>
                    </a:lnTo>
                    <a:lnTo>
                      <a:pt x="20" y="2"/>
                    </a:lnTo>
                    <a:lnTo>
                      <a:pt x="18" y="0"/>
                    </a:lnTo>
                    <a:lnTo>
                      <a:pt x="15" y="0"/>
                    </a:lnTo>
                    <a:lnTo>
                      <a:pt x="12" y="0"/>
                    </a:lnTo>
                    <a:lnTo>
                      <a:pt x="9" y="2"/>
                    </a:lnTo>
                    <a:lnTo>
                      <a:pt x="6" y="3"/>
                    </a:lnTo>
                    <a:lnTo>
                      <a:pt x="4" y="5"/>
                    </a:lnTo>
                    <a:lnTo>
                      <a:pt x="2" y="7"/>
                    </a:lnTo>
                    <a:lnTo>
                      <a:pt x="1" y="9"/>
                    </a:lnTo>
                    <a:lnTo>
                      <a:pt x="0" y="12"/>
                    </a:lnTo>
                    <a:lnTo>
                      <a:pt x="0" y="15"/>
                    </a:lnTo>
                    <a:lnTo>
                      <a:pt x="0" y="211"/>
                    </a:lnTo>
                    <a:lnTo>
                      <a:pt x="0" y="602"/>
                    </a:lnTo>
                    <a:lnTo>
                      <a:pt x="180" y="602"/>
                    </a:lnTo>
                    <a:lnTo>
                      <a:pt x="180" y="211"/>
                    </a:lnTo>
                    <a:lnTo>
                      <a:pt x="180" y="15"/>
                    </a:lnTo>
                    <a:lnTo>
                      <a:pt x="180" y="12"/>
                    </a:lnTo>
                    <a:lnTo>
                      <a:pt x="179" y="9"/>
                    </a:lnTo>
                    <a:lnTo>
                      <a:pt x="178" y="7"/>
                    </a:lnTo>
                    <a:lnTo>
                      <a:pt x="176" y="5"/>
                    </a:lnTo>
                    <a:lnTo>
                      <a:pt x="174" y="3"/>
                    </a:lnTo>
                    <a:lnTo>
                      <a:pt x="172" y="2"/>
                    </a:lnTo>
                    <a:lnTo>
                      <a:pt x="168" y="0"/>
                    </a:lnTo>
                    <a:lnTo>
                      <a:pt x="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59" name="Freeform 710">
                <a:extLst>
                  <a:ext uri="{FF2B5EF4-FFF2-40B4-BE49-F238E27FC236}">
                    <a16:creationId xmlns:a16="http://schemas.microsoft.com/office/drawing/2014/main" xmlns="" id="{8AA6F9D2-5C11-4285-A4B0-23EFFF22BC80}"/>
                  </a:ext>
                </a:extLst>
              </p:cNvPr>
              <p:cNvSpPr>
                <a:spLocks/>
              </p:cNvSpPr>
              <p:nvPr/>
            </p:nvSpPr>
            <p:spPr bwMode="auto">
              <a:xfrm>
                <a:off x="2741613" y="2151063"/>
                <a:ext cx="57150" cy="57150"/>
              </a:xfrm>
              <a:custGeom>
                <a:avLst/>
                <a:gdLst>
                  <a:gd name="T0" fmla="*/ 0 w 180"/>
                  <a:gd name="T1" fmla="*/ 91 h 182"/>
                  <a:gd name="T2" fmla="*/ 0 w 180"/>
                  <a:gd name="T3" fmla="*/ 100 h 182"/>
                  <a:gd name="T4" fmla="*/ 2 w 180"/>
                  <a:gd name="T5" fmla="*/ 110 h 182"/>
                  <a:gd name="T6" fmla="*/ 4 w 180"/>
                  <a:gd name="T7" fmla="*/ 118 h 182"/>
                  <a:gd name="T8" fmla="*/ 7 w 180"/>
                  <a:gd name="T9" fmla="*/ 126 h 182"/>
                  <a:gd name="T10" fmla="*/ 11 w 180"/>
                  <a:gd name="T11" fmla="*/ 134 h 182"/>
                  <a:gd name="T12" fmla="*/ 15 w 180"/>
                  <a:gd name="T13" fmla="*/ 142 h 182"/>
                  <a:gd name="T14" fmla="*/ 20 w 180"/>
                  <a:gd name="T15" fmla="*/ 148 h 182"/>
                  <a:gd name="T16" fmla="*/ 27 w 180"/>
                  <a:gd name="T17" fmla="*/ 155 h 182"/>
                  <a:gd name="T18" fmla="*/ 33 w 180"/>
                  <a:gd name="T19" fmla="*/ 161 h 182"/>
                  <a:gd name="T20" fmla="*/ 40 w 180"/>
                  <a:gd name="T21" fmla="*/ 165 h 182"/>
                  <a:gd name="T22" fmla="*/ 47 w 180"/>
                  <a:gd name="T23" fmla="*/ 171 h 182"/>
                  <a:gd name="T24" fmla="*/ 55 w 180"/>
                  <a:gd name="T25" fmla="*/ 174 h 182"/>
                  <a:gd name="T26" fmla="*/ 63 w 180"/>
                  <a:gd name="T27" fmla="*/ 177 h 182"/>
                  <a:gd name="T28" fmla="*/ 72 w 180"/>
                  <a:gd name="T29" fmla="*/ 179 h 182"/>
                  <a:gd name="T30" fmla="*/ 80 w 180"/>
                  <a:gd name="T31" fmla="*/ 181 h 182"/>
                  <a:gd name="T32" fmla="*/ 90 w 180"/>
                  <a:gd name="T33" fmla="*/ 182 h 182"/>
                  <a:gd name="T34" fmla="*/ 100 w 180"/>
                  <a:gd name="T35" fmla="*/ 181 h 182"/>
                  <a:gd name="T36" fmla="*/ 108 w 180"/>
                  <a:gd name="T37" fmla="*/ 179 h 182"/>
                  <a:gd name="T38" fmla="*/ 117 w 180"/>
                  <a:gd name="T39" fmla="*/ 177 h 182"/>
                  <a:gd name="T40" fmla="*/ 125 w 180"/>
                  <a:gd name="T41" fmla="*/ 174 h 182"/>
                  <a:gd name="T42" fmla="*/ 133 w 180"/>
                  <a:gd name="T43" fmla="*/ 171 h 182"/>
                  <a:gd name="T44" fmla="*/ 140 w 180"/>
                  <a:gd name="T45" fmla="*/ 165 h 182"/>
                  <a:gd name="T46" fmla="*/ 148 w 180"/>
                  <a:gd name="T47" fmla="*/ 161 h 182"/>
                  <a:gd name="T48" fmla="*/ 154 w 180"/>
                  <a:gd name="T49" fmla="*/ 155 h 182"/>
                  <a:gd name="T50" fmla="*/ 160 w 180"/>
                  <a:gd name="T51" fmla="*/ 148 h 182"/>
                  <a:gd name="T52" fmla="*/ 165 w 180"/>
                  <a:gd name="T53" fmla="*/ 142 h 182"/>
                  <a:gd name="T54" fmla="*/ 169 w 180"/>
                  <a:gd name="T55" fmla="*/ 134 h 182"/>
                  <a:gd name="T56" fmla="*/ 174 w 180"/>
                  <a:gd name="T57" fmla="*/ 126 h 182"/>
                  <a:gd name="T58" fmla="*/ 177 w 180"/>
                  <a:gd name="T59" fmla="*/ 118 h 182"/>
                  <a:gd name="T60" fmla="*/ 179 w 180"/>
                  <a:gd name="T61" fmla="*/ 110 h 182"/>
                  <a:gd name="T62" fmla="*/ 180 w 180"/>
                  <a:gd name="T63" fmla="*/ 100 h 182"/>
                  <a:gd name="T64" fmla="*/ 180 w 180"/>
                  <a:gd name="T65" fmla="*/ 91 h 182"/>
                  <a:gd name="T66" fmla="*/ 180 w 180"/>
                  <a:gd name="T67" fmla="*/ 0 h 182"/>
                  <a:gd name="T68" fmla="*/ 0 w 180"/>
                  <a:gd name="T69" fmla="*/ 0 h 182"/>
                  <a:gd name="T70" fmla="*/ 0 w 180"/>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0" h="182">
                    <a:moveTo>
                      <a:pt x="0" y="91"/>
                    </a:moveTo>
                    <a:lnTo>
                      <a:pt x="0" y="100"/>
                    </a:lnTo>
                    <a:lnTo>
                      <a:pt x="2" y="110"/>
                    </a:lnTo>
                    <a:lnTo>
                      <a:pt x="4" y="118"/>
                    </a:lnTo>
                    <a:lnTo>
                      <a:pt x="7" y="126"/>
                    </a:lnTo>
                    <a:lnTo>
                      <a:pt x="11" y="134"/>
                    </a:lnTo>
                    <a:lnTo>
                      <a:pt x="15" y="142"/>
                    </a:lnTo>
                    <a:lnTo>
                      <a:pt x="20" y="148"/>
                    </a:lnTo>
                    <a:lnTo>
                      <a:pt x="27" y="155"/>
                    </a:lnTo>
                    <a:lnTo>
                      <a:pt x="33" y="161"/>
                    </a:lnTo>
                    <a:lnTo>
                      <a:pt x="40" y="165"/>
                    </a:lnTo>
                    <a:lnTo>
                      <a:pt x="47" y="171"/>
                    </a:lnTo>
                    <a:lnTo>
                      <a:pt x="55" y="174"/>
                    </a:lnTo>
                    <a:lnTo>
                      <a:pt x="63" y="177"/>
                    </a:lnTo>
                    <a:lnTo>
                      <a:pt x="72" y="179"/>
                    </a:lnTo>
                    <a:lnTo>
                      <a:pt x="80" y="181"/>
                    </a:lnTo>
                    <a:lnTo>
                      <a:pt x="90" y="182"/>
                    </a:lnTo>
                    <a:lnTo>
                      <a:pt x="100" y="181"/>
                    </a:lnTo>
                    <a:lnTo>
                      <a:pt x="108" y="179"/>
                    </a:lnTo>
                    <a:lnTo>
                      <a:pt x="117" y="177"/>
                    </a:lnTo>
                    <a:lnTo>
                      <a:pt x="125" y="174"/>
                    </a:lnTo>
                    <a:lnTo>
                      <a:pt x="133" y="171"/>
                    </a:lnTo>
                    <a:lnTo>
                      <a:pt x="140" y="165"/>
                    </a:lnTo>
                    <a:lnTo>
                      <a:pt x="148" y="161"/>
                    </a:lnTo>
                    <a:lnTo>
                      <a:pt x="154" y="155"/>
                    </a:lnTo>
                    <a:lnTo>
                      <a:pt x="160" y="148"/>
                    </a:lnTo>
                    <a:lnTo>
                      <a:pt x="165" y="142"/>
                    </a:lnTo>
                    <a:lnTo>
                      <a:pt x="169" y="134"/>
                    </a:lnTo>
                    <a:lnTo>
                      <a:pt x="174" y="126"/>
                    </a:lnTo>
                    <a:lnTo>
                      <a:pt x="177" y="118"/>
                    </a:lnTo>
                    <a:lnTo>
                      <a:pt x="179" y="110"/>
                    </a:lnTo>
                    <a:lnTo>
                      <a:pt x="180" y="100"/>
                    </a:lnTo>
                    <a:lnTo>
                      <a:pt x="180" y="91"/>
                    </a:lnTo>
                    <a:lnTo>
                      <a:pt x="180"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0" name="Rectangle 711">
                <a:extLst>
                  <a:ext uri="{FF2B5EF4-FFF2-40B4-BE49-F238E27FC236}">
                    <a16:creationId xmlns:a16="http://schemas.microsoft.com/office/drawing/2014/main" xmlns="" id="{972C0779-96D7-4A7C-B110-5886B8B5DF43}"/>
                  </a:ext>
                </a:extLst>
              </p:cNvPr>
              <p:cNvSpPr>
                <a:spLocks noChangeArrowheads="1"/>
              </p:cNvSpPr>
              <p:nvPr/>
            </p:nvSpPr>
            <p:spPr bwMode="auto">
              <a:xfrm>
                <a:off x="2741613" y="2122488"/>
                <a:ext cx="57150"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1" name="Freeform 712">
                <a:extLst>
                  <a:ext uri="{FF2B5EF4-FFF2-40B4-BE49-F238E27FC236}">
                    <a16:creationId xmlns:a16="http://schemas.microsoft.com/office/drawing/2014/main" xmlns="" id="{4533D40B-18F2-4A93-B829-E6C6A0AC582E}"/>
                  </a:ext>
                </a:extLst>
              </p:cNvPr>
              <p:cNvSpPr>
                <a:spLocks/>
              </p:cNvSpPr>
              <p:nvPr/>
            </p:nvSpPr>
            <p:spPr bwMode="auto">
              <a:xfrm>
                <a:off x="2765425" y="1930400"/>
                <a:ext cx="9525" cy="57150"/>
              </a:xfrm>
              <a:custGeom>
                <a:avLst/>
                <a:gdLst>
                  <a:gd name="T0" fmla="*/ 15 w 30"/>
                  <a:gd name="T1" fmla="*/ 181 h 181"/>
                  <a:gd name="T2" fmla="*/ 18 w 30"/>
                  <a:gd name="T3" fmla="*/ 181 h 181"/>
                  <a:gd name="T4" fmla="*/ 21 w 30"/>
                  <a:gd name="T5" fmla="*/ 180 h 181"/>
                  <a:gd name="T6" fmla="*/ 24 w 30"/>
                  <a:gd name="T7" fmla="*/ 179 h 181"/>
                  <a:gd name="T8" fmla="*/ 26 w 30"/>
                  <a:gd name="T9" fmla="*/ 176 h 181"/>
                  <a:gd name="T10" fmla="*/ 28 w 30"/>
                  <a:gd name="T11" fmla="*/ 174 h 181"/>
                  <a:gd name="T12" fmla="*/ 29 w 30"/>
                  <a:gd name="T13" fmla="*/ 172 h 181"/>
                  <a:gd name="T14" fmla="*/ 30 w 30"/>
                  <a:gd name="T15" fmla="*/ 169 h 181"/>
                  <a:gd name="T16" fmla="*/ 30 w 30"/>
                  <a:gd name="T17" fmla="*/ 166 h 181"/>
                  <a:gd name="T18" fmla="*/ 30 w 30"/>
                  <a:gd name="T19" fmla="*/ 16 h 181"/>
                  <a:gd name="T20" fmla="*/ 30 w 30"/>
                  <a:gd name="T21" fmla="*/ 12 h 181"/>
                  <a:gd name="T22" fmla="*/ 29 w 30"/>
                  <a:gd name="T23" fmla="*/ 9 h 181"/>
                  <a:gd name="T24" fmla="*/ 28 w 30"/>
                  <a:gd name="T25" fmla="*/ 7 h 181"/>
                  <a:gd name="T26" fmla="*/ 26 w 30"/>
                  <a:gd name="T27" fmla="*/ 5 h 181"/>
                  <a:gd name="T28" fmla="*/ 24 w 30"/>
                  <a:gd name="T29" fmla="*/ 3 h 181"/>
                  <a:gd name="T30" fmla="*/ 21 w 30"/>
                  <a:gd name="T31" fmla="*/ 2 h 181"/>
                  <a:gd name="T32" fmla="*/ 18 w 30"/>
                  <a:gd name="T33" fmla="*/ 0 h 181"/>
                  <a:gd name="T34" fmla="*/ 15 w 30"/>
                  <a:gd name="T35" fmla="*/ 0 h 181"/>
                  <a:gd name="T36" fmla="*/ 12 w 30"/>
                  <a:gd name="T37" fmla="*/ 0 h 181"/>
                  <a:gd name="T38" fmla="*/ 10 w 30"/>
                  <a:gd name="T39" fmla="*/ 2 h 181"/>
                  <a:gd name="T40" fmla="*/ 6 w 30"/>
                  <a:gd name="T41" fmla="*/ 3 h 181"/>
                  <a:gd name="T42" fmla="*/ 4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4 w 30"/>
                  <a:gd name="T61" fmla="*/ 176 h 181"/>
                  <a:gd name="T62" fmla="*/ 6 w 30"/>
                  <a:gd name="T63" fmla="*/ 179 h 181"/>
                  <a:gd name="T64" fmla="*/ 10 w 30"/>
                  <a:gd name="T65" fmla="*/ 180 h 181"/>
                  <a:gd name="T66" fmla="*/ 12 w 30"/>
                  <a:gd name="T67" fmla="*/ 181 h 181"/>
                  <a:gd name="T68" fmla="*/ 15 w 30"/>
                  <a:gd name="T69"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181">
                    <a:moveTo>
                      <a:pt x="15" y="181"/>
                    </a:moveTo>
                    <a:lnTo>
                      <a:pt x="18" y="181"/>
                    </a:lnTo>
                    <a:lnTo>
                      <a:pt x="21" y="180"/>
                    </a:lnTo>
                    <a:lnTo>
                      <a:pt x="24" y="179"/>
                    </a:lnTo>
                    <a:lnTo>
                      <a:pt x="26" y="176"/>
                    </a:lnTo>
                    <a:lnTo>
                      <a:pt x="28" y="174"/>
                    </a:lnTo>
                    <a:lnTo>
                      <a:pt x="29" y="172"/>
                    </a:lnTo>
                    <a:lnTo>
                      <a:pt x="30" y="169"/>
                    </a:lnTo>
                    <a:lnTo>
                      <a:pt x="30" y="166"/>
                    </a:lnTo>
                    <a:lnTo>
                      <a:pt x="30" y="16"/>
                    </a:lnTo>
                    <a:lnTo>
                      <a:pt x="30" y="12"/>
                    </a:lnTo>
                    <a:lnTo>
                      <a:pt x="29" y="9"/>
                    </a:lnTo>
                    <a:lnTo>
                      <a:pt x="28" y="7"/>
                    </a:lnTo>
                    <a:lnTo>
                      <a:pt x="26" y="5"/>
                    </a:lnTo>
                    <a:lnTo>
                      <a:pt x="24" y="3"/>
                    </a:lnTo>
                    <a:lnTo>
                      <a:pt x="21" y="2"/>
                    </a:lnTo>
                    <a:lnTo>
                      <a:pt x="18" y="0"/>
                    </a:lnTo>
                    <a:lnTo>
                      <a:pt x="15" y="0"/>
                    </a:lnTo>
                    <a:lnTo>
                      <a:pt x="12" y="0"/>
                    </a:lnTo>
                    <a:lnTo>
                      <a:pt x="10" y="2"/>
                    </a:lnTo>
                    <a:lnTo>
                      <a:pt x="6" y="3"/>
                    </a:lnTo>
                    <a:lnTo>
                      <a:pt x="4" y="5"/>
                    </a:lnTo>
                    <a:lnTo>
                      <a:pt x="2" y="7"/>
                    </a:lnTo>
                    <a:lnTo>
                      <a:pt x="1" y="9"/>
                    </a:lnTo>
                    <a:lnTo>
                      <a:pt x="0" y="12"/>
                    </a:lnTo>
                    <a:lnTo>
                      <a:pt x="0" y="16"/>
                    </a:lnTo>
                    <a:lnTo>
                      <a:pt x="0" y="166"/>
                    </a:lnTo>
                    <a:lnTo>
                      <a:pt x="0" y="169"/>
                    </a:lnTo>
                    <a:lnTo>
                      <a:pt x="1" y="172"/>
                    </a:lnTo>
                    <a:lnTo>
                      <a:pt x="2" y="174"/>
                    </a:lnTo>
                    <a:lnTo>
                      <a:pt x="4" y="176"/>
                    </a:lnTo>
                    <a:lnTo>
                      <a:pt x="6" y="179"/>
                    </a:lnTo>
                    <a:lnTo>
                      <a:pt x="10" y="180"/>
                    </a:lnTo>
                    <a:lnTo>
                      <a:pt x="12"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2" name="Freeform 713">
                <a:extLst>
                  <a:ext uri="{FF2B5EF4-FFF2-40B4-BE49-F238E27FC236}">
                    <a16:creationId xmlns:a16="http://schemas.microsoft.com/office/drawing/2014/main" xmlns="" id="{0B3AC97E-B521-48C2-8635-E6E2BFE55FC9}"/>
                  </a:ext>
                </a:extLst>
              </p:cNvPr>
              <p:cNvSpPr>
                <a:spLocks/>
              </p:cNvSpPr>
              <p:nvPr/>
            </p:nvSpPr>
            <p:spPr bwMode="auto">
              <a:xfrm>
                <a:off x="2674938" y="2151063"/>
                <a:ext cx="57150" cy="57150"/>
              </a:xfrm>
              <a:custGeom>
                <a:avLst/>
                <a:gdLst>
                  <a:gd name="T0" fmla="*/ 0 w 181"/>
                  <a:gd name="T1" fmla="*/ 91 h 182"/>
                  <a:gd name="T2" fmla="*/ 1 w 181"/>
                  <a:gd name="T3" fmla="*/ 100 h 182"/>
                  <a:gd name="T4" fmla="*/ 2 w 181"/>
                  <a:gd name="T5" fmla="*/ 110 h 182"/>
                  <a:gd name="T6" fmla="*/ 4 w 181"/>
                  <a:gd name="T7" fmla="*/ 118 h 182"/>
                  <a:gd name="T8" fmla="*/ 7 w 181"/>
                  <a:gd name="T9" fmla="*/ 126 h 182"/>
                  <a:gd name="T10" fmla="*/ 11 w 181"/>
                  <a:gd name="T11" fmla="*/ 134 h 182"/>
                  <a:gd name="T12" fmla="*/ 16 w 181"/>
                  <a:gd name="T13" fmla="*/ 142 h 182"/>
                  <a:gd name="T14" fmla="*/ 21 w 181"/>
                  <a:gd name="T15" fmla="*/ 148 h 182"/>
                  <a:gd name="T16" fmla="*/ 26 w 181"/>
                  <a:gd name="T17" fmla="*/ 155 h 182"/>
                  <a:gd name="T18" fmla="*/ 33 w 181"/>
                  <a:gd name="T19" fmla="*/ 161 h 182"/>
                  <a:gd name="T20" fmla="*/ 40 w 181"/>
                  <a:gd name="T21" fmla="*/ 165 h 182"/>
                  <a:gd name="T22" fmla="*/ 47 w 181"/>
                  <a:gd name="T23" fmla="*/ 171 h 182"/>
                  <a:gd name="T24" fmla="*/ 55 w 181"/>
                  <a:gd name="T25" fmla="*/ 174 h 182"/>
                  <a:gd name="T26" fmla="*/ 64 w 181"/>
                  <a:gd name="T27" fmla="*/ 177 h 182"/>
                  <a:gd name="T28" fmla="*/ 73 w 181"/>
                  <a:gd name="T29" fmla="*/ 179 h 182"/>
                  <a:gd name="T30" fmla="*/ 81 w 181"/>
                  <a:gd name="T31" fmla="*/ 181 h 182"/>
                  <a:gd name="T32" fmla="*/ 91 w 181"/>
                  <a:gd name="T33" fmla="*/ 182 h 182"/>
                  <a:gd name="T34" fmla="*/ 99 w 181"/>
                  <a:gd name="T35" fmla="*/ 181 h 182"/>
                  <a:gd name="T36" fmla="*/ 109 w 181"/>
                  <a:gd name="T37" fmla="*/ 179 h 182"/>
                  <a:gd name="T38" fmla="*/ 118 w 181"/>
                  <a:gd name="T39" fmla="*/ 177 h 182"/>
                  <a:gd name="T40" fmla="*/ 125 w 181"/>
                  <a:gd name="T41" fmla="*/ 174 h 182"/>
                  <a:gd name="T42" fmla="*/ 134 w 181"/>
                  <a:gd name="T43" fmla="*/ 171 h 182"/>
                  <a:gd name="T44" fmla="*/ 141 w 181"/>
                  <a:gd name="T45" fmla="*/ 165 h 182"/>
                  <a:gd name="T46" fmla="*/ 148 w 181"/>
                  <a:gd name="T47" fmla="*/ 161 h 182"/>
                  <a:gd name="T48" fmla="*/ 154 w 181"/>
                  <a:gd name="T49" fmla="*/ 155 h 182"/>
                  <a:gd name="T50" fmla="*/ 161 w 181"/>
                  <a:gd name="T51" fmla="*/ 148 h 182"/>
                  <a:gd name="T52" fmla="*/ 165 w 181"/>
                  <a:gd name="T53" fmla="*/ 142 h 182"/>
                  <a:gd name="T54" fmla="*/ 170 w 181"/>
                  <a:gd name="T55" fmla="*/ 134 h 182"/>
                  <a:gd name="T56" fmla="*/ 173 w 181"/>
                  <a:gd name="T57" fmla="*/ 126 h 182"/>
                  <a:gd name="T58" fmla="*/ 177 w 181"/>
                  <a:gd name="T59" fmla="*/ 118 h 182"/>
                  <a:gd name="T60" fmla="*/ 179 w 181"/>
                  <a:gd name="T61" fmla="*/ 110 h 182"/>
                  <a:gd name="T62" fmla="*/ 180 w 181"/>
                  <a:gd name="T63" fmla="*/ 100 h 182"/>
                  <a:gd name="T64" fmla="*/ 181 w 181"/>
                  <a:gd name="T65" fmla="*/ 91 h 182"/>
                  <a:gd name="T66" fmla="*/ 181 w 181"/>
                  <a:gd name="T67" fmla="*/ 0 h 182"/>
                  <a:gd name="T68" fmla="*/ 0 w 181"/>
                  <a:gd name="T69" fmla="*/ 0 h 182"/>
                  <a:gd name="T70" fmla="*/ 0 w 181"/>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182">
                    <a:moveTo>
                      <a:pt x="0" y="91"/>
                    </a:moveTo>
                    <a:lnTo>
                      <a:pt x="1" y="100"/>
                    </a:lnTo>
                    <a:lnTo>
                      <a:pt x="2" y="110"/>
                    </a:lnTo>
                    <a:lnTo>
                      <a:pt x="4" y="118"/>
                    </a:lnTo>
                    <a:lnTo>
                      <a:pt x="7" y="126"/>
                    </a:lnTo>
                    <a:lnTo>
                      <a:pt x="11" y="134"/>
                    </a:lnTo>
                    <a:lnTo>
                      <a:pt x="16" y="142"/>
                    </a:lnTo>
                    <a:lnTo>
                      <a:pt x="21" y="148"/>
                    </a:lnTo>
                    <a:lnTo>
                      <a:pt x="26" y="155"/>
                    </a:lnTo>
                    <a:lnTo>
                      <a:pt x="33" y="161"/>
                    </a:lnTo>
                    <a:lnTo>
                      <a:pt x="40" y="165"/>
                    </a:lnTo>
                    <a:lnTo>
                      <a:pt x="47" y="171"/>
                    </a:lnTo>
                    <a:lnTo>
                      <a:pt x="55" y="174"/>
                    </a:lnTo>
                    <a:lnTo>
                      <a:pt x="64" y="177"/>
                    </a:lnTo>
                    <a:lnTo>
                      <a:pt x="73" y="179"/>
                    </a:lnTo>
                    <a:lnTo>
                      <a:pt x="81" y="181"/>
                    </a:lnTo>
                    <a:lnTo>
                      <a:pt x="91" y="182"/>
                    </a:lnTo>
                    <a:lnTo>
                      <a:pt x="99" y="181"/>
                    </a:lnTo>
                    <a:lnTo>
                      <a:pt x="109" y="179"/>
                    </a:lnTo>
                    <a:lnTo>
                      <a:pt x="118" y="177"/>
                    </a:lnTo>
                    <a:lnTo>
                      <a:pt x="125" y="174"/>
                    </a:lnTo>
                    <a:lnTo>
                      <a:pt x="134" y="171"/>
                    </a:lnTo>
                    <a:lnTo>
                      <a:pt x="141" y="165"/>
                    </a:lnTo>
                    <a:lnTo>
                      <a:pt x="148" y="161"/>
                    </a:lnTo>
                    <a:lnTo>
                      <a:pt x="154" y="155"/>
                    </a:lnTo>
                    <a:lnTo>
                      <a:pt x="161" y="148"/>
                    </a:lnTo>
                    <a:lnTo>
                      <a:pt x="165" y="142"/>
                    </a:lnTo>
                    <a:lnTo>
                      <a:pt x="170" y="134"/>
                    </a:lnTo>
                    <a:lnTo>
                      <a:pt x="173" y="126"/>
                    </a:lnTo>
                    <a:lnTo>
                      <a:pt x="177" y="118"/>
                    </a:lnTo>
                    <a:lnTo>
                      <a:pt x="179" y="110"/>
                    </a:lnTo>
                    <a:lnTo>
                      <a:pt x="180" y="100"/>
                    </a:lnTo>
                    <a:lnTo>
                      <a:pt x="181" y="91"/>
                    </a:lnTo>
                    <a:lnTo>
                      <a:pt x="181"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3" name="Freeform 714">
                <a:extLst>
                  <a:ext uri="{FF2B5EF4-FFF2-40B4-BE49-F238E27FC236}">
                    <a16:creationId xmlns:a16="http://schemas.microsoft.com/office/drawing/2014/main" xmlns="" id="{7F864FC8-AB3C-49D8-83BB-14DA025641EE}"/>
                  </a:ext>
                </a:extLst>
              </p:cNvPr>
              <p:cNvSpPr>
                <a:spLocks/>
              </p:cNvSpPr>
              <p:nvPr/>
            </p:nvSpPr>
            <p:spPr bwMode="auto">
              <a:xfrm>
                <a:off x="2674938" y="1920875"/>
                <a:ext cx="57150" cy="192088"/>
              </a:xfrm>
              <a:custGeom>
                <a:avLst/>
                <a:gdLst>
                  <a:gd name="T0" fmla="*/ 163 w 181"/>
                  <a:gd name="T1" fmla="*/ 0 h 602"/>
                  <a:gd name="T2" fmla="*/ 157 w 181"/>
                  <a:gd name="T3" fmla="*/ 3 h 602"/>
                  <a:gd name="T4" fmla="*/ 153 w 181"/>
                  <a:gd name="T5" fmla="*/ 7 h 602"/>
                  <a:gd name="T6" fmla="*/ 151 w 181"/>
                  <a:gd name="T7" fmla="*/ 12 h 602"/>
                  <a:gd name="T8" fmla="*/ 151 w 181"/>
                  <a:gd name="T9" fmla="*/ 211 h 602"/>
                  <a:gd name="T10" fmla="*/ 150 w 181"/>
                  <a:gd name="T11" fmla="*/ 222 h 602"/>
                  <a:gd name="T12" fmla="*/ 146 w 181"/>
                  <a:gd name="T13" fmla="*/ 234 h 602"/>
                  <a:gd name="T14" fmla="*/ 140 w 181"/>
                  <a:gd name="T15" fmla="*/ 245 h 602"/>
                  <a:gd name="T16" fmla="*/ 133 w 181"/>
                  <a:gd name="T17" fmla="*/ 254 h 602"/>
                  <a:gd name="T18" fmla="*/ 124 w 181"/>
                  <a:gd name="T19" fmla="*/ 261 h 602"/>
                  <a:gd name="T20" fmla="*/ 113 w 181"/>
                  <a:gd name="T21" fmla="*/ 266 h 602"/>
                  <a:gd name="T22" fmla="*/ 103 w 181"/>
                  <a:gd name="T23" fmla="*/ 270 h 602"/>
                  <a:gd name="T24" fmla="*/ 91 w 181"/>
                  <a:gd name="T25" fmla="*/ 271 h 602"/>
                  <a:gd name="T26" fmla="*/ 78 w 181"/>
                  <a:gd name="T27" fmla="*/ 270 h 602"/>
                  <a:gd name="T28" fmla="*/ 67 w 181"/>
                  <a:gd name="T29" fmla="*/ 266 h 602"/>
                  <a:gd name="T30" fmla="*/ 57 w 181"/>
                  <a:gd name="T31" fmla="*/ 261 h 602"/>
                  <a:gd name="T32" fmla="*/ 48 w 181"/>
                  <a:gd name="T33" fmla="*/ 254 h 602"/>
                  <a:gd name="T34" fmla="*/ 40 w 181"/>
                  <a:gd name="T35" fmla="*/ 245 h 602"/>
                  <a:gd name="T36" fmla="*/ 35 w 181"/>
                  <a:gd name="T37" fmla="*/ 234 h 602"/>
                  <a:gd name="T38" fmla="*/ 32 w 181"/>
                  <a:gd name="T39" fmla="*/ 224 h 602"/>
                  <a:gd name="T40" fmla="*/ 30 w 181"/>
                  <a:gd name="T41" fmla="*/ 211 h 602"/>
                  <a:gd name="T42" fmla="*/ 30 w 181"/>
                  <a:gd name="T43" fmla="*/ 12 h 602"/>
                  <a:gd name="T44" fmla="*/ 28 w 181"/>
                  <a:gd name="T45" fmla="*/ 7 h 602"/>
                  <a:gd name="T46" fmla="*/ 23 w 181"/>
                  <a:gd name="T47" fmla="*/ 3 h 602"/>
                  <a:gd name="T48" fmla="*/ 18 w 181"/>
                  <a:gd name="T49" fmla="*/ 0 h 602"/>
                  <a:gd name="T50" fmla="*/ 13 w 181"/>
                  <a:gd name="T51" fmla="*/ 0 h 602"/>
                  <a:gd name="T52" fmla="*/ 7 w 181"/>
                  <a:gd name="T53" fmla="*/ 3 h 602"/>
                  <a:gd name="T54" fmla="*/ 3 w 181"/>
                  <a:gd name="T55" fmla="*/ 7 h 602"/>
                  <a:gd name="T56" fmla="*/ 1 w 181"/>
                  <a:gd name="T57" fmla="*/ 12 h 602"/>
                  <a:gd name="T58" fmla="*/ 0 w 181"/>
                  <a:gd name="T59" fmla="*/ 211 h 602"/>
                  <a:gd name="T60" fmla="*/ 181 w 181"/>
                  <a:gd name="T61" fmla="*/ 602 h 602"/>
                  <a:gd name="T62" fmla="*/ 181 w 181"/>
                  <a:gd name="T63" fmla="*/ 15 h 602"/>
                  <a:gd name="T64" fmla="*/ 180 w 181"/>
                  <a:gd name="T65" fmla="*/ 9 h 602"/>
                  <a:gd name="T66" fmla="*/ 177 w 181"/>
                  <a:gd name="T67" fmla="*/ 5 h 602"/>
                  <a:gd name="T68" fmla="*/ 171 w 181"/>
                  <a:gd name="T69" fmla="*/ 2 h 602"/>
                  <a:gd name="T70" fmla="*/ 166 w 181"/>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602">
                    <a:moveTo>
                      <a:pt x="166" y="0"/>
                    </a:moveTo>
                    <a:lnTo>
                      <a:pt x="163" y="0"/>
                    </a:lnTo>
                    <a:lnTo>
                      <a:pt x="159" y="2"/>
                    </a:lnTo>
                    <a:lnTo>
                      <a:pt x="157" y="3"/>
                    </a:lnTo>
                    <a:lnTo>
                      <a:pt x="155" y="5"/>
                    </a:lnTo>
                    <a:lnTo>
                      <a:pt x="153" y="7"/>
                    </a:lnTo>
                    <a:lnTo>
                      <a:pt x="152" y="9"/>
                    </a:lnTo>
                    <a:lnTo>
                      <a:pt x="151" y="12"/>
                    </a:lnTo>
                    <a:lnTo>
                      <a:pt x="151" y="15"/>
                    </a:lnTo>
                    <a:lnTo>
                      <a:pt x="151" y="211"/>
                    </a:lnTo>
                    <a:lnTo>
                      <a:pt x="150" y="217"/>
                    </a:lnTo>
                    <a:lnTo>
                      <a:pt x="150" y="222"/>
                    </a:lnTo>
                    <a:lnTo>
                      <a:pt x="148" y="229"/>
                    </a:lnTo>
                    <a:lnTo>
                      <a:pt x="146" y="234"/>
                    </a:lnTo>
                    <a:lnTo>
                      <a:pt x="143" y="240"/>
                    </a:lnTo>
                    <a:lnTo>
                      <a:pt x="140" y="245"/>
                    </a:lnTo>
                    <a:lnTo>
                      <a:pt x="137" y="249"/>
                    </a:lnTo>
                    <a:lnTo>
                      <a:pt x="133" y="254"/>
                    </a:lnTo>
                    <a:lnTo>
                      <a:pt x="128" y="258"/>
                    </a:lnTo>
                    <a:lnTo>
                      <a:pt x="124" y="261"/>
                    </a:lnTo>
                    <a:lnTo>
                      <a:pt x="119" y="264"/>
                    </a:lnTo>
                    <a:lnTo>
                      <a:pt x="113" y="266"/>
                    </a:lnTo>
                    <a:lnTo>
                      <a:pt x="108" y="269"/>
                    </a:lnTo>
                    <a:lnTo>
                      <a:pt x="103" y="270"/>
                    </a:lnTo>
                    <a:lnTo>
                      <a:pt x="96" y="271"/>
                    </a:lnTo>
                    <a:lnTo>
                      <a:pt x="91" y="271"/>
                    </a:lnTo>
                    <a:lnTo>
                      <a:pt x="84" y="271"/>
                    </a:lnTo>
                    <a:lnTo>
                      <a:pt x="78" y="270"/>
                    </a:lnTo>
                    <a:lnTo>
                      <a:pt x="73" y="269"/>
                    </a:lnTo>
                    <a:lnTo>
                      <a:pt x="67" y="266"/>
                    </a:lnTo>
                    <a:lnTo>
                      <a:pt x="62" y="264"/>
                    </a:lnTo>
                    <a:lnTo>
                      <a:pt x="57" y="261"/>
                    </a:lnTo>
                    <a:lnTo>
                      <a:pt x="52" y="258"/>
                    </a:lnTo>
                    <a:lnTo>
                      <a:pt x="48" y="254"/>
                    </a:lnTo>
                    <a:lnTo>
                      <a:pt x="44" y="249"/>
                    </a:lnTo>
                    <a:lnTo>
                      <a:pt x="40" y="245"/>
                    </a:lnTo>
                    <a:lnTo>
                      <a:pt x="37" y="240"/>
                    </a:lnTo>
                    <a:lnTo>
                      <a:pt x="35" y="234"/>
                    </a:lnTo>
                    <a:lnTo>
                      <a:pt x="33" y="229"/>
                    </a:lnTo>
                    <a:lnTo>
                      <a:pt x="32" y="224"/>
                    </a:lnTo>
                    <a:lnTo>
                      <a:pt x="31" y="217"/>
                    </a:lnTo>
                    <a:lnTo>
                      <a:pt x="30" y="211"/>
                    </a:lnTo>
                    <a:lnTo>
                      <a:pt x="30" y="15"/>
                    </a:lnTo>
                    <a:lnTo>
                      <a:pt x="30" y="12"/>
                    </a:lnTo>
                    <a:lnTo>
                      <a:pt x="29" y="9"/>
                    </a:lnTo>
                    <a:lnTo>
                      <a:pt x="28" y="7"/>
                    </a:lnTo>
                    <a:lnTo>
                      <a:pt x="25" y="5"/>
                    </a:lnTo>
                    <a:lnTo>
                      <a:pt x="23" y="3"/>
                    </a:lnTo>
                    <a:lnTo>
                      <a:pt x="21" y="2"/>
                    </a:lnTo>
                    <a:lnTo>
                      <a:pt x="18" y="0"/>
                    </a:lnTo>
                    <a:lnTo>
                      <a:pt x="15" y="0"/>
                    </a:lnTo>
                    <a:lnTo>
                      <a:pt x="13" y="0"/>
                    </a:lnTo>
                    <a:lnTo>
                      <a:pt x="9" y="2"/>
                    </a:lnTo>
                    <a:lnTo>
                      <a:pt x="7" y="3"/>
                    </a:lnTo>
                    <a:lnTo>
                      <a:pt x="5" y="5"/>
                    </a:lnTo>
                    <a:lnTo>
                      <a:pt x="3" y="7"/>
                    </a:lnTo>
                    <a:lnTo>
                      <a:pt x="2" y="9"/>
                    </a:lnTo>
                    <a:lnTo>
                      <a:pt x="1" y="12"/>
                    </a:lnTo>
                    <a:lnTo>
                      <a:pt x="0" y="15"/>
                    </a:lnTo>
                    <a:lnTo>
                      <a:pt x="0" y="211"/>
                    </a:lnTo>
                    <a:lnTo>
                      <a:pt x="0" y="602"/>
                    </a:lnTo>
                    <a:lnTo>
                      <a:pt x="181" y="602"/>
                    </a:lnTo>
                    <a:lnTo>
                      <a:pt x="181" y="211"/>
                    </a:lnTo>
                    <a:lnTo>
                      <a:pt x="181" y="15"/>
                    </a:lnTo>
                    <a:lnTo>
                      <a:pt x="181" y="12"/>
                    </a:lnTo>
                    <a:lnTo>
                      <a:pt x="180" y="9"/>
                    </a:lnTo>
                    <a:lnTo>
                      <a:pt x="178" y="7"/>
                    </a:lnTo>
                    <a:lnTo>
                      <a:pt x="177" y="5"/>
                    </a:lnTo>
                    <a:lnTo>
                      <a:pt x="174" y="3"/>
                    </a:lnTo>
                    <a:lnTo>
                      <a:pt x="171" y="2"/>
                    </a:lnTo>
                    <a:lnTo>
                      <a:pt x="169" y="0"/>
                    </a:lnTo>
                    <a:lnTo>
                      <a:pt x="1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4" name="Rectangle 715">
                <a:extLst>
                  <a:ext uri="{FF2B5EF4-FFF2-40B4-BE49-F238E27FC236}">
                    <a16:creationId xmlns:a16="http://schemas.microsoft.com/office/drawing/2014/main" xmlns="" id="{F62F4F23-3E58-4391-99F6-14D56BFAABEA}"/>
                  </a:ext>
                </a:extLst>
              </p:cNvPr>
              <p:cNvSpPr>
                <a:spLocks noChangeArrowheads="1"/>
              </p:cNvSpPr>
              <p:nvPr/>
            </p:nvSpPr>
            <p:spPr bwMode="auto">
              <a:xfrm>
                <a:off x="2674938" y="2122488"/>
                <a:ext cx="57150"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5" name="Freeform 716">
                <a:extLst>
                  <a:ext uri="{FF2B5EF4-FFF2-40B4-BE49-F238E27FC236}">
                    <a16:creationId xmlns:a16="http://schemas.microsoft.com/office/drawing/2014/main" xmlns="" id="{66455EB6-E255-40C5-AFB5-4353F1040930}"/>
                  </a:ext>
                </a:extLst>
              </p:cNvPr>
              <p:cNvSpPr>
                <a:spLocks/>
              </p:cNvSpPr>
              <p:nvPr/>
            </p:nvSpPr>
            <p:spPr bwMode="auto">
              <a:xfrm>
                <a:off x="2698750" y="1930400"/>
                <a:ext cx="9525" cy="57150"/>
              </a:xfrm>
              <a:custGeom>
                <a:avLst/>
                <a:gdLst>
                  <a:gd name="T0" fmla="*/ 15 w 30"/>
                  <a:gd name="T1" fmla="*/ 181 h 181"/>
                  <a:gd name="T2" fmla="*/ 17 w 30"/>
                  <a:gd name="T3" fmla="*/ 181 h 181"/>
                  <a:gd name="T4" fmla="*/ 20 w 30"/>
                  <a:gd name="T5" fmla="*/ 180 h 181"/>
                  <a:gd name="T6" fmla="*/ 22 w 30"/>
                  <a:gd name="T7" fmla="*/ 179 h 181"/>
                  <a:gd name="T8" fmla="*/ 26 w 30"/>
                  <a:gd name="T9" fmla="*/ 176 h 181"/>
                  <a:gd name="T10" fmla="*/ 27 w 30"/>
                  <a:gd name="T11" fmla="*/ 174 h 181"/>
                  <a:gd name="T12" fmla="*/ 29 w 30"/>
                  <a:gd name="T13" fmla="*/ 172 h 181"/>
                  <a:gd name="T14" fmla="*/ 29 w 30"/>
                  <a:gd name="T15" fmla="*/ 169 h 181"/>
                  <a:gd name="T16" fmla="*/ 30 w 30"/>
                  <a:gd name="T17" fmla="*/ 166 h 181"/>
                  <a:gd name="T18" fmla="*/ 30 w 30"/>
                  <a:gd name="T19" fmla="*/ 16 h 181"/>
                  <a:gd name="T20" fmla="*/ 29 w 30"/>
                  <a:gd name="T21" fmla="*/ 12 h 181"/>
                  <a:gd name="T22" fmla="*/ 29 w 30"/>
                  <a:gd name="T23" fmla="*/ 9 h 181"/>
                  <a:gd name="T24" fmla="*/ 27 w 30"/>
                  <a:gd name="T25" fmla="*/ 7 h 181"/>
                  <a:gd name="T26" fmla="*/ 26 w 30"/>
                  <a:gd name="T27" fmla="*/ 5 h 181"/>
                  <a:gd name="T28" fmla="*/ 22 w 30"/>
                  <a:gd name="T29" fmla="*/ 3 h 181"/>
                  <a:gd name="T30" fmla="*/ 20 w 30"/>
                  <a:gd name="T31" fmla="*/ 2 h 181"/>
                  <a:gd name="T32" fmla="*/ 17 w 30"/>
                  <a:gd name="T33" fmla="*/ 0 h 181"/>
                  <a:gd name="T34" fmla="*/ 15 w 30"/>
                  <a:gd name="T35" fmla="*/ 0 h 181"/>
                  <a:gd name="T36" fmla="*/ 12 w 30"/>
                  <a:gd name="T37" fmla="*/ 0 h 181"/>
                  <a:gd name="T38" fmla="*/ 8 w 30"/>
                  <a:gd name="T39" fmla="*/ 2 h 181"/>
                  <a:gd name="T40" fmla="*/ 6 w 30"/>
                  <a:gd name="T41" fmla="*/ 3 h 181"/>
                  <a:gd name="T42" fmla="*/ 4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4 w 30"/>
                  <a:gd name="T61" fmla="*/ 176 h 181"/>
                  <a:gd name="T62" fmla="*/ 6 w 30"/>
                  <a:gd name="T63" fmla="*/ 179 h 181"/>
                  <a:gd name="T64" fmla="*/ 8 w 30"/>
                  <a:gd name="T65" fmla="*/ 180 h 181"/>
                  <a:gd name="T66" fmla="*/ 12 w 30"/>
                  <a:gd name="T67" fmla="*/ 181 h 181"/>
                  <a:gd name="T68" fmla="*/ 15 w 30"/>
                  <a:gd name="T69" fmla="*/ 181 h 181"/>
                  <a:gd name="T70" fmla="*/ 15 w 30"/>
                  <a:gd name="T71"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181">
                    <a:moveTo>
                      <a:pt x="15" y="181"/>
                    </a:moveTo>
                    <a:lnTo>
                      <a:pt x="17" y="181"/>
                    </a:lnTo>
                    <a:lnTo>
                      <a:pt x="20" y="180"/>
                    </a:lnTo>
                    <a:lnTo>
                      <a:pt x="22" y="179"/>
                    </a:lnTo>
                    <a:lnTo>
                      <a:pt x="26" y="176"/>
                    </a:lnTo>
                    <a:lnTo>
                      <a:pt x="27" y="174"/>
                    </a:lnTo>
                    <a:lnTo>
                      <a:pt x="29" y="172"/>
                    </a:lnTo>
                    <a:lnTo>
                      <a:pt x="29" y="169"/>
                    </a:lnTo>
                    <a:lnTo>
                      <a:pt x="30" y="166"/>
                    </a:lnTo>
                    <a:lnTo>
                      <a:pt x="30" y="16"/>
                    </a:lnTo>
                    <a:lnTo>
                      <a:pt x="29" y="12"/>
                    </a:lnTo>
                    <a:lnTo>
                      <a:pt x="29" y="9"/>
                    </a:lnTo>
                    <a:lnTo>
                      <a:pt x="27" y="7"/>
                    </a:lnTo>
                    <a:lnTo>
                      <a:pt x="26" y="5"/>
                    </a:lnTo>
                    <a:lnTo>
                      <a:pt x="22" y="3"/>
                    </a:lnTo>
                    <a:lnTo>
                      <a:pt x="20" y="2"/>
                    </a:lnTo>
                    <a:lnTo>
                      <a:pt x="17" y="0"/>
                    </a:lnTo>
                    <a:lnTo>
                      <a:pt x="15" y="0"/>
                    </a:lnTo>
                    <a:lnTo>
                      <a:pt x="12" y="0"/>
                    </a:lnTo>
                    <a:lnTo>
                      <a:pt x="8" y="2"/>
                    </a:lnTo>
                    <a:lnTo>
                      <a:pt x="6" y="3"/>
                    </a:lnTo>
                    <a:lnTo>
                      <a:pt x="4" y="5"/>
                    </a:lnTo>
                    <a:lnTo>
                      <a:pt x="2" y="7"/>
                    </a:lnTo>
                    <a:lnTo>
                      <a:pt x="1" y="9"/>
                    </a:lnTo>
                    <a:lnTo>
                      <a:pt x="0" y="12"/>
                    </a:lnTo>
                    <a:lnTo>
                      <a:pt x="0" y="16"/>
                    </a:lnTo>
                    <a:lnTo>
                      <a:pt x="0" y="166"/>
                    </a:lnTo>
                    <a:lnTo>
                      <a:pt x="0" y="169"/>
                    </a:lnTo>
                    <a:lnTo>
                      <a:pt x="1" y="172"/>
                    </a:lnTo>
                    <a:lnTo>
                      <a:pt x="2" y="174"/>
                    </a:lnTo>
                    <a:lnTo>
                      <a:pt x="4" y="176"/>
                    </a:lnTo>
                    <a:lnTo>
                      <a:pt x="6" y="179"/>
                    </a:lnTo>
                    <a:lnTo>
                      <a:pt x="8" y="180"/>
                    </a:lnTo>
                    <a:lnTo>
                      <a:pt x="12" y="181"/>
                    </a:lnTo>
                    <a:lnTo>
                      <a:pt x="15"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6" name="Freeform 717">
                <a:extLst>
                  <a:ext uri="{FF2B5EF4-FFF2-40B4-BE49-F238E27FC236}">
                    <a16:creationId xmlns:a16="http://schemas.microsoft.com/office/drawing/2014/main" xmlns="" id="{ACB7783E-196C-43E0-BB10-D454ACB8E398}"/>
                  </a:ext>
                </a:extLst>
              </p:cNvPr>
              <p:cNvSpPr>
                <a:spLocks/>
              </p:cNvSpPr>
              <p:nvPr/>
            </p:nvSpPr>
            <p:spPr bwMode="auto">
              <a:xfrm>
                <a:off x="2608263" y="1920875"/>
                <a:ext cx="57150" cy="192088"/>
              </a:xfrm>
              <a:custGeom>
                <a:avLst/>
                <a:gdLst>
                  <a:gd name="T0" fmla="*/ 162 w 181"/>
                  <a:gd name="T1" fmla="*/ 0 h 602"/>
                  <a:gd name="T2" fmla="*/ 157 w 181"/>
                  <a:gd name="T3" fmla="*/ 3 h 602"/>
                  <a:gd name="T4" fmla="*/ 154 w 181"/>
                  <a:gd name="T5" fmla="*/ 7 h 602"/>
                  <a:gd name="T6" fmla="*/ 152 w 181"/>
                  <a:gd name="T7" fmla="*/ 12 h 602"/>
                  <a:gd name="T8" fmla="*/ 151 w 181"/>
                  <a:gd name="T9" fmla="*/ 211 h 602"/>
                  <a:gd name="T10" fmla="*/ 150 w 181"/>
                  <a:gd name="T11" fmla="*/ 222 h 602"/>
                  <a:gd name="T12" fmla="*/ 146 w 181"/>
                  <a:gd name="T13" fmla="*/ 234 h 602"/>
                  <a:gd name="T14" fmla="*/ 141 w 181"/>
                  <a:gd name="T15" fmla="*/ 245 h 602"/>
                  <a:gd name="T16" fmla="*/ 133 w 181"/>
                  <a:gd name="T17" fmla="*/ 254 h 602"/>
                  <a:gd name="T18" fmla="*/ 125 w 181"/>
                  <a:gd name="T19" fmla="*/ 261 h 602"/>
                  <a:gd name="T20" fmla="*/ 114 w 181"/>
                  <a:gd name="T21" fmla="*/ 266 h 602"/>
                  <a:gd name="T22" fmla="*/ 102 w 181"/>
                  <a:gd name="T23" fmla="*/ 270 h 602"/>
                  <a:gd name="T24" fmla="*/ 91 w 181"/>
                  <a:gd name="T25" fmla="*/ 271 h 602"/>
                  <a:gd name="T26" fmla="*/ 79 w 181"/>
                  <a:gd name="T27" fmla="*/ 270 h 602"/>
                  <a:gd name="T28" fmla="*/ 67 w 181"/>
                  <a:gd name="T29" fmla="*/ 266 h 602"/>
                  <a:gd name="T30" fmla="*/ 57 w 181"/>
                  <a:gd name="T31" fmla="*/ 261 h 602"/>
                  <a:gd name="T32" fmla="*/ 48 w 181"/>
                  <a:gd name="T33" fmla="*/ 254 h 602"/>
                  <a:gd name="T34" fmla="*/ 41 w 181"/>
                  <a:gd name="T35" fmla="*/ 245 h 602"/>
                  <a:gd name="T36" fmla="*/ 35 w 181"/>
                  <a:gd name="T37" fmla="*/ 234 h 602"/>
                  <a:gd name="T38" fmla="*/ 32 w 181"/>
                  <a:gd name="T39" fmla="*/ 224 h 602"/>
                  <a:gd name="T40" fmla="*/ 30 w 181"/>
                  <a:gd name="T41" fmla="*/ 211 h 602"/>
                  <a:gd name="T42" fmla="*/ 30 w 181"/>
                  <a:gd name="T43" fmla="*/ 12 h 602"/>
                  <a:gd name="T44" fmla="*/ 28 w 181"/>
                  <a:gd name="T45" fmla="*/ 7 h 602"/>
                  <a:gd name="T46" fmla="*/ 24 w 181"/>
                  <a:gd name="T47" fmla="*/ 3 h 602"/>
                  <a:gd name="T48" fmla="*/ 19 w 181"/>
                  <a:gd name="T49" fmla="*/ 0 h 602"/>
                  <a:gd name="T50" fmla="*/ 12 w 181"/>
                  <a:gd name="T51" fmla="*/ 0 h 602"/>
                  <a:gd name="T52" fmla="*/ 7 w 181"/>
                  <a:gd name="T53" fmla="*/ 3 h 602"/>
                  <a:gd name="T54" fmla="*/ 3 w 181"/>
                  <a:gd name="T55" fmla="*/ 7 h 602"/>
                  <a:gd name="T56" fmla="*/ 0 w 181"/>
                  <a:gd name="T57" fmla="*/ 12 h 602"/>
                  <a:gd name="T58" fmla="*/ 0 w 181"/>
                  <a:gd name="T59" fmla="*/ 211 h 602"/>
                  <a:gd name="T60" fmla="*/ 181 w 181"/>
                  <a:gd name="T61" fmla="*/ 602 h 602"/>
                  <a:gd name="T62" fmla="*/ 181 w 181"/>
                  <a:gd name="T63" fmla="*/ 15 h 602"/>
                  <a:gd name="T64" fmla="*/ 180 w 181"/>
                  <a:gd name="T65" fmla="*/ 9 h 602"/>
                  <a:gd name="T66" fmla="*/ 176 w 181"/>
                  <a:gd name="T67" fmla="*/ 5 h 602"/>
                  <a:gd name="T68" fmla="*/ 172 w 181"/>
                  <a:gd name="T69" fmla="*/ 2 h 602"/>
                  <a:gd name="T70" fmla="*/ 166 w 181"/>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602">
                    <a:moveTo>
                      <a:pt x="166" y="0"/>
                    </a:moveTo>
                    <a:lnTo>
                      <a:pt x="162" y="0"/>
                    </a:lnTo>
                    <a:lnTo>
                      <a:pt x="160" y="2"/>
                    </a:lnTo>
                    <a:lnTo>
                      <a:pt x="157" y="3"/>
                    </a:lnTo>
                    <a:lnTo>
                      <a:pt x="155" y="5"/>
                    </a:lnTo>
                    <a:lnTo>
                      <a:pt x="154" y="7"/>
                    </a:lnTo>
                    <a:lnTo>
                      <a:pt x="152" y="9"/>
                    </a:lnTo>
                    <a:lnTo>
                      <a:pt x="152" y="12"/>
                    </a:lnTo>
                    <a:lnTo>
                      <a:pt x="151" y="15"/>
                    </a:lnTo>
                    <a:lnTo>
                      <a:pt x="151" y="211"/>
                    </a:lnTo>
                    <a:lnTo>
                      <a:pt x="151" y="217"/>
                    </a:lnTo>
                    <a:lnTo>
                      <a:pt x="150" y="222"/>
                    </a:lnTo>
                    <a:lnTo>
                      <a:pt x="148" y="229"/>
                    </a:lnTo>
                    <a:lnTo>
                      <a:pt x="146" y="234"/>
                    </a:lnTo>
                    <a:lnTo>
                      <a:pt x="143" y="240"/>
                    </a:lnTo>
                    <a:lnTo>
                      <a:pt x="141" y="245"/>
                    </a:lnTo>
                    <a:lnTo>
                      <a:pt x="137" y="249"/>
                    </a:lnTo>
                    <a:lnTo>
                      <a:pt x="133" y="254"/>
                    </a:lnTo>
                    <a:lnTo>
                      <a:pt x="129" y="258"/>
                    </a:lnTo>
                    <a:lnTo>
                      <a:pt x="125" y="261"/>
                    </a:lnTo>
                    <a:lnTo>
                      <a:pt x="120" y="264"/>
                    </a:lnTo>
                    <a:lnTo>
                      <a:pt x="114" y="266"/>
                    </a:lnTo>
                    <a:lnTo>
                      <a:pt x="109" y="269"/>
                    </a:lnTo>
                    <a:lnTo>
                      <a:pt x="102" y="270"/>
                    </a:lnTo>
                    <a:lnTo>
                      <a:pt x="97" y="271"/>
                    </a:lnTo>
                    <a:lnTo>
                      <a:pt x="91" y="271"/>
                    </a:lnTo>
                    <a:lnTo>
                      <a:pt x="84" y="271"/>
                    </a:lnTo>
                    <a:lnTo>
                      <a:pt x="79" y="270"/>
                    </a:lnTo>
                    <a:lnTo>
                      <a:pt x="72" y="269"/>
                    </a:lnTo>
                    <a:lnTo>
                      <a:pt x="67" y="266"/>
                    </a:lnTo>
                    <a:lnTo>
                      <a:pt x="62" y="264"/>
                    </a:lnTo>
                    <a:lnTo>
                      <a:pt x="57" y="261"/>
                    </a:lnTo>
                    <a:lnTo>
                      <a:pt x="52" y="258"/>
                    </a:lnTo>
                    <a:lnTo>
                      <a:pt x="48" y="254"/>
                    </a:lnTo>
                    <a:lnTo>
                      <a:pt x="44" y="249"/>
                    </a:lnTo>
                    <a:lnTo>
                      <a:pt x="41" y="245"/>
                    </a:lnTo>
                    <a:lnTo>
                      <a:pt x="38" y="240"/>
                    </a:lnTo>
                    <a:lnTo>
                      <a:pt x="35" y="234"/>
                    </a:lnTo>
                    <a:lnTo>
                      <a:pt x="33" y="229"/>
                    </a:lnTo>
                    <a:lnTo>
                      <a:pt x="32" y="224"/>
                    </a:lnTo>
                    <a:lnTo>
                      <a:pt x="30" y="217"/>
                    </a:lnTo>
                    <a:lnTo>
                      <a:pt x="30" y="211"/>
                    </a:lnTo>
                    <a:lnTo>
                      <a:pt x="30" y="15"/>
                    </a:lnTo>
                    <a:lnTo>
                      <a:pt x="30" y="12"/>
                    </a:lnTo>
                    <a:lnTo>
                      <a:pt x="29" y="9"/>
                    </a:lnTo>
                    <a:lnTo>
                      <a:pt x="28" y="7"/>
                    </a:lnTo>
                    <a:lnTo>
                      <a:pt x="26" y="5"/>
                    </a:lnTo>
                    <a:lnTo>
                      <a:pt x="24" y="3"/>
                    </a:lnTo>
                    <a:lnTo>
                      <a:pt x="21" y="2"/>
                    </a:lnTo>
                    <a:lnTo>
                      <a:pt x="19" y="0"/>
                    </a:lnTo>
                    <a:lnTo>
                      <a:pt x="15" y="0"/>
                    </a:lnTo>
                    <a:lnTo>
                      <a:pt x="12" y="0"/>
                    </a:lnTo>
                    <a:lnTo>
                      <a:pt x="9" y="2"/>
                    </a:lnTo>
                    <a:lnTo>
                      <a:pt x="7" y="3"/>
                    </a:lnTo>
                    <a:lnTo>
                      <a:pt x="5" y="5"/>
                    </a:lnTo>
                    <a:lnTo>
                      <a:pt x="3" y="7"/>
                    </a:lnTo>
                    <a:lnTo>
                      <a:pt x="2" y="9"/>
                    </a:lnTo>
                    <a:lnTo>
                      <a:pt x="0" y="12"/>
                    </a:lnTo>
                    <a:lnTo>
                      <a:pt x="0" y="15"/>
                    </a:lnTo>
                    <a:lnTo>
                      <a:pt x="0" y="211"/>
                    </a:lnTo>
                    <a:lnTo>
                      <a:pt x="0" y="602"/>
                    </a:lnTo>
                    <a:lnTo>
                      <a:pt x="181" y="602"/>
                    </a:lnTo>
                    <a:lnTo>
                      <a:pt x="181" y="211"/>
                    </a:lnTo>
                    <a:lnTo>
                      <a:pt x="181" y="15"/>
                    </a:lnTo>
                    <a:lnTo>
                      <a:pt x="181" y="12"/>
                    </a:lnTo>
                    <a:lnTo>
                      <a:pt x="180" y="9"/>
                    </a:lnTo>
                    <a:lnTo>
                      <a:pt x="178" y="7"/>
                    </a:lnTo>
                    <a:lnTo>
                      <a:pt x="176" y="5"/>
                    </a:lnTo>
                    <a:lnTo>
                      <a:pt x="174" y="3"/>
                    </a:lnTo>
                    <a:lnTo>
                      <a:pt x="172" y="2"/>
                    </a:lnTo>
                    <a:lnTo>
                      <a:pt x="169" y="0"/>
                    </a:lnTo>
                    <a:lnTo>
                      <a:pt x="1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7" name="Rectangle 718">
                <a:extLst>
                  <a:ext uri="{FF2B5EF4-FFF2-40B4-BE49-F238E27FC236}">
                    <a16:creationId xmlns:a16="http://schemas.microsoft.com/office/drawing/2014/main" xmlns="" id="{CB587A79-A690-4BE1-9A7B-D4D179008449}"/>
                  </a:ext>
                </a:extLst>
              </p:cNvPr>
              <p:cNvSpPr>
                <a:spLocks noChangeArrowheads="1"/>
              </p:cNvSpPr>
              <p:nvPr/>
            </p:nvSpPr>
            <p:spPr bwMode="auto">
              <a:xfrm>
                <a:off x="2608263" y="2122488"/>
                <a:ext cx="57150"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8" name="Freeform 719">
                <a:extLst>
                  <a:ext uri="{FF2B5EF4-FFF2-40B4-BE49-F238E27FC236}">
                    <a16:creationId xmlns:a16="http://schemas.microsoft.com/office/drawing/2014/main" xmlns="" id="{9B27E552-9858-46C0-912C-4365788798C8}"/>
                  </a:ext>
                </a:extLst>
              </p:cNvPr>
              <p:cNvSpPr>
                <a:spLocks/>
              </p:cNvSpPr>
              <p:nvPr/>
            </p:nvSpPr>
            <p:spPr bwMode="auto">
              <a:xfrm>
                <a:off x="2608263" y="2151063"/>
                <a:ext cx="57150" cy="57150"/>
              </a:xfrm>
              <a:custGeom>
                <a:avLst/>
                <a:gdLst>
                  <a:gd name="T0" fmla="*/ 0 w 181"/>
                  <a:gd name="T1" fmla="*/ 91 h 182"/>
                  <a:gd name="T2" fmla="*/ 0 w 181"/>
                  <a:gd name="T3" fmla="*/ 100 h 182"/>
                  <a:gd name="T4" fmla="*/ 3 w 181"/>
                  <a:gd name="T5" fmla="*/ 110 h 182"/>
                  <a:gd name="T6" fmla="*/ 5 w 181"/>
                  <a:gd name="T7" fmla="*/ 118 h 182"/>
                  <a:gd name="T8" fmla="*/ 8 w 181"/>
                  <a:gd name="T9" fmla="*/ 126 h 182"/>
                  <a:gd name="T10" fmla="*/ 11 w 181"/>
                  <a:gd name="T11" fmla="*/ 134 h 182"/>
                  <a:gd name="T12" fmla="*/ 15 w 181"/>
                  <a:gd name="T13" fmla="*/ 142 h 182"/>
                  <a:gd name="T14" fmla="*/ 21 w 181"/>
                  <a:gd name="T15" fmla="*/ 148 h 182"/>
                  <a:gd name="T16" fmla="*/ 27 w 181"/>
                  <a:gd name="T17" fmla="*/ 155 h 182"/>
                  <a:gd name="T18" fmla="*/ 34 w 181"/>
                  <a:gd name="T19" fmla="*/ 161 h 182"/>
                  <a:gd name="T20" fmla="*/ 40 w 181"/>
                  <a:gd name="T21" fmla="*/ 165 h 182"/>
                  <a:gd name="T22" fmla="*/ 48 w 181"/>
                  <a:gd name="T23" fmla="*/ 171 h 182"/>
                  <a:gd name="T24" fmla="*/ 55 w 181"/>
                  <a:gd name="T25" fmla="*/ 174 h 182"/>
                  <a:gd name="T26" fmla="*/ 64 w 181"/>
                  <a:gd name="T27" fmla="*/ 177 h 182"/>
                  <a:gd name="T28" fmla="*/ 72 w 181"/>
                  <a:gd name="T29" fmla="*/ 179 h 182"/>
                  <a:gd name="T30" fmla="*/ 82 w 181"/>
                  <a:gd name="T31" fmla="*/ 181 h 182"/>
                  <a:gd name="T32" fmla="*/ 91 w 181"/>
                  <a:gd name="T33" fmla="*/ 182 h 182"/>
                  <a:gd name="T34" fmla="*/ 100 w 181"/>
                  <a:gd name="T35" fmla="*/ 181 h 182"/>
                  <a:gd name="T36" fmla="*/ 109 w 181"/>
                  <a:gd name="T37" fmla="*/ 179 h 182"/>
                  <a:gd name="T38" fmla="*/ 117 w 181"/>
                  <a:gd name="T39" fmla="*/ 177 h 182"/>
                  <a:gd name="T40" fmla="*/ 126 w 181"/>
                  <a:gd name="T41" fmla="*/ 174 h 182"/>
                  <a:gd name="T42" fmla="*/ 133 w 181"/>
                  <a:gd name="T43" fmla="*/ 171 h 182"/>
                  <a:gd name="T44" fmla="*/ 141 w 181"/>
                  <a:gd name="T45" fmla="*/ 165 h 182"/>
                  <a:gd name="T46" fmla="*/ 148 w 181"/>
                  <a:gd name="T47" fmla="*/ 161 h 182"/>
                  <a:gd name="T48" fmla="*/ 155 w 181"/>
                  <a:gd name="T49" fmla="*/ 155 h 182"/>
                  <a:gd name="T50" fmla="*/ 160 w 181"/>
                  <a:gd name="T51" fmla="*/ 148 h 182"/>
                  <a:gd name="T52" fmla="*/ 166 w 181"/>
                  <a:gd name="T53" fmla="*/ 142 h 182"/>
                  <a:gd name="T54" fmla="*/ 170 w 181"/>
                  <a:gd name="T55" fmla="*/ 134 h 182"/>
                  <a:gd name="T56" fmla="*/ 174 w 181"/>
                  <a:gd name="T57" fmla="*/ 126 h 182"/>
                  <a:gd name="T58" fmla="*/ 177 w 181"/>
                  <a:gd name="T59" fmla="*/ 118 h 182"/>
                  <a:gd name="T60" fmla="*/ 180 w 181"/>
                  <a:gd name="T61" fmla="*/ 110 h 182"/>
                  <a:gd name="T62" fmla="*/ 181 w 181"/>
                  <a:gd name="T63" fmla="*/ 100 h 182"/>
                  <a:gd name="T64" fmla="*/ 181 w 181"/>
                  <a:gd name="T65" fmla="*/ 91 h 182"/>
                  <a:gd name="T66" fmla="*/ 181 w 181"/>
                  <a:gd name="T67" fmla="*/ 0 h 182"/>
                  <a:gd name="T68" fmla="*/ 0 w 181"/>
                  <a:gd name="T69" fmla="*/ 0 h 182"/>
                  <a:gd name="T70" fmla="*/ 0 w 181"/>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182">
                    <a:moveTo>
                      <a:pt x="0" y="91"/>
                    </a:moveTo>
                    <a:lnTo>
                      <a:pt x="0" y="100"/>
                    </a:lnTo>
                    <a:lnTo>
                      <a:pt x="3" y="110"/>
                    </a:lnTo>
                    <a:lnTo>
                      <a:pt x="5" y="118"/>
                    </a:lnTo>
                    <a:lnTo>
                      <a:pt x="8" y="126"/>
                    </a:lnTo>
                    <a:lnTo>
                      <a:pt x="11" y="134"/>
                    </a:lnTo>
                    <a:lnTo>
                      <a:pt x="15" y="142"/>
                    </a:lnTo>
                    <a:lnTo>
                      <a:pt x="21" y="148"/>
                    </a:lnTo>
                    <a:lnTo>
                      <a:pt x="27" y="155"/>
                    </a:lnTo>
                    <a:lnTo>
                      <a:pt x="34" y="161"/>
                    </a:lnTo>
                    <a:lnTo>
                      <a:pt x="40" y="165"/>
                    </a:lnTo>
                    <a:lnTo>
                      <a:pt x="48" y="171"/>
                    </a:lnTo>
                    <a:lnTo>
                      <a:pt x="55" y="174"/>
                    </a:lnTo>
                    <a:lnTo>
                      <a:pt x="64" y="177"/>
                    </a:lnTo>
                    <a:lnTo>
                      <a:pt x="72" y="179"/>
                    </a:lnTo>
                    <a:lnTo>
                      <a:pt x="82" y="181"/>
                    </a:lnTo>
                    <a:lnTo>
                      <a:pt x="91" y="182"/>
                    </a:lnTo>
                    <a:lnTo>
                      <a:pt x="100" y="181"/>
                    </a:lnTo>
                    <a:lnTo>
                      <a:pt x="109" y="179"/>
                    </a:lnTo>
                    <a:lnTo>
                      <a:pt x="117" y="177"/>
                    </a:lnTo>
                    <a:lnTo>
                      <a:pt x="126" y="174"/>
                    </a:lnTo>
                    <a:lnTo>
                      <a:pt x="133" y="171"/>
                    </a:lnTo>
                    <a:lnTo>
                      <a:pt x="141" y="165"/>
                    </a:lnTo>
                    <a:lnTo>
                      <a:pt x="148" y="161"/>
                    </a:lnTo>
                    <a:lnTo>
                      <a:pt x="155" y="155"/>
                    </a:lnTo>
                    <a:lnTo>
                      <a:pt x="160" y="148"/>
                    </a:lnTo>
                    <a:lnTo>
                      <a:pt x="166" y="142"/>
                    </a:lnTo>
                    <a:lnTo>
                      <a:pt x="170" y="134"/>
                    </a:lnTo>
                    <a:lnTo>
                      <a:pt x="174" y="126"/>
                    </a:lnTo>
                    <a:lnTo>
                      <a:pt x="177" y="118"/>
                    </a:lnTo>
                    <a:lnTo>
                      <a:pt x="180" y="110"/>
                    </a:lnTo>
                    <a:lnTo>
                      <a:pt x="181" y="100"/>
                    </a:lnTo>
                    <a:lnTo>
                      <a:pt x="181" y="91"/>
                    </a:lnTo>
                    <a:lnTo>
                      <a:pt x="181"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69" name="Freeform 720">
                <a:extLst>
                  <a:ext uri="{FF2B5EF4-FFF2-40B4-BE49-F238E27FC236}">
                    <a16:creationId xmlns:a16="http://schemas.microsoft.com/office/drawing/2014/main" xmlns="" id="{445A4A3C-20C5-4624-9209-D11A75CEC9B9}"/>
                  </a:ext>
                </a:extLst>
              </p:cNvPr>
              <p:cNvSpPr>
                <a:spLocks/>
              </p:cNvSpPr>
              <p:nvPr/>
            </p:nvSpPr>
            <p:spPr bwMode="auto">
              <a:xfrm>
                <a:off x="2632075" y="1930400"/>
                <a:ext cx="9525" cy="57150"/>
              </a:xfrm>
              <a:custGeom>
                <a:avLst/>
                <a:gdLst>
                  <a:gd name="T0" fmla="*/ 15 w 30"/>
                  <a:gd name="T1" fmla="*/ 181 h 181"/>
                  <a:gd name="T2" fmla="*/ 18 w 30"/>
                  <a:gd name="T3" fmla="*/ 181 h 181"/>
                  <a:gd name="T4" fmla="*/ 21 w 30"/>
                  <a:gd name="T5" fmla="*/ 180 h 181"/>
                  <a:gd name="T6" fmla="*/ 23 w 30"/>
                  <a:gd name="T7" fmla="*/ 179 h 181"/>
                  <a:gd name="T8" fmla="*/ 25 w 30"/>
                  <a:gd name="T9" fmla="*/ 176 h 181"/>
                  <a:gd name="T10" fmla="*/ 27 w 30"/>
                  <a:gd name="T11" fmla="*/ 174 h 181"/>
                  <a:gd name="T12" fmla="*/ 28 w 30"/>
                  <a:gd name="T13" fmla="*/ 172 h 181"/>
                  <a:gd name="T14" fmla="*/ 30 w 30"/>
                  <a:gd name="T15" fmla="*/ 169 h 181"/>
                  <a:gd name="T16" fmla="*/ 30 w 30"/>
                  <a:gd name="T17" fmla="*/ 166 h 181"/>
                  <a:gd name="T18" fmla="*/ 30 w 30"/>
                  <a:gd name="T19" fmla="*/ 16 h 181"/>
                  <a:gd name="T20" fmla="*/ 30 w 30"/>
                  <a:gd name="T21" fmla="*/ 12 h 181"/>
                  <a:gd name="T22" fmla="*/ 28 w 30"/>
                  <a:gd name="T23" fmla="*/ 9 h 181"/>
                  <a:gd name="T24" fmla="*/ 27 w 30"/>
                  <a:gd name="T25" fmla="*/ 7 h 181"/>
                  <a:gd name="T26" fmla="*/ 25 w 30"/>
                  <a:gd name="T27" fmla="*/ 5 h 181"/>
                  <a:gd name="T28" fmla="*/ 23 w 30"/>
                  <a:gd name="T29" fmla="*/ 3 h 181"/>
                  <a:gd name="T30" fmla="*/ 21 w 30"/>
                  <a:gd name="T31" fmla="*/ 2 h 181"/>
                  <a:gd name="T32" fmla="*/ 18 w 30"/>
                  <a:gd name="T33" fmla="*/ 0 h 181"/>
                  <a:gd name="T34" fmla="*/ 15 w 30"/>
                  <a:gd name="T35" fmla="*/ 0 h 181"/>
                  <a:gd name="T36" fmla="*/ 11 w 30"/>
                  <a:gd name="T37" fmla="*/ 0 h 181"/>
                  <a:gd name="T38" fmla="*/ 9 w 30"/>
                  <a:gd name="T39" fmla="*/ 2 h 181"/>
                  <a:gd name="T40" fmla="*/ 6 w 30"/>
                  <a:gd name="T41" fmla="*/ 3 h 181"/>
                  <a:gd name="T42" fmla="*/ 4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4 w 30"/>
                  <a:gd name="T61" fmla="*/ 176 h 181"/>
                  <a:gd name="T62" fmla="*/ 6 w 30"/>
                  <a:gd name="T63" fmla="*/ 179 h 181"/>
                  <a:gd name="T64" fmla="*/ 9 w 30"/>
                  <a:gd name="T65" fmla="*/ 180 h 181"/>
                  <a:gd name="T66" fmla="*/ 11 w 30"/>
                  <a:gd name="T67" fmla="*/ 181 h 181"/>
                  <a:gd name="T68" fmla="*/ 15 w 30"/>
                  <a:gd name="T69"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181">
                    <a:moveTo>
                      <a:pt x="15" y="181"/>
                    </a:moveTo>
                    <a:lnTo>
                      <a:pt x="18" y="181"/>
                    </a:lnTo>
                    <a:lnTo>
                      <a:pt x="21" y="180"/>
                    </a:lnTo>
                    <a:lnTo>
                      <a:pt x="23" y="179"/>
                    </a:lnTo>
                    <a:lnTo>
                      <a:pt x="25" y="176"/>
                    </a:lnTo>
                    <a:lnTo>
                      <a:pt x="27" y="174"/>
                    </a:lnTo>
                    <a:lnTo>
                      <a:pt x="28" y="172"/>
                    </a:lnTo>
                    <a:lnTo>
                      <a:pt x="30" y="169"/>
                    </a:lnTo>
                    <a:lnTo>
                      <a:pt x="30" y="166"/>
                    </a:lnTo>
                    <a:lnTo>
                      <a:pt x="30" y="16"/>
                    </a:lnTo>
                    <a:lnTo>
                      <a:pt x="30" y="12"/>
                    </a:lnTo>
                    <a:lnTo>
                      <a:pt x="28" y="9"/>
                    </a:lnTo>
                    <a:lnTo>
                      <a:pt x="27" y="7"/>
                    </a:lnTo>
                    <a:lnTo>
                      <a:pt x="25" y="5"/>
                    </a:lnTo>
                    <a:lnTo>
                      <a:pt x="23" y="3"/>
                    </a:lnTo>
                    <a:lnTo>
                      <a:pt x="21" y="2"/>
                    </a:lnTo>
                    <a:lnTo>
                      <a:pt x="18" y="0"/>
                    </a:lnTo>
                    <a:lnTo>
                      <a:pt x="15" y="0"/>
                    </a:lnTo>
                    <a:lnTo>
                      <a:pt x="11" y="0"/>
                    </a:lnTo>
                    <a:lnTo>
                      <a:pt x="9" y="2"/>
                    </a:lnTo>
                    <a:lnTo>
                      <a:pt x="6" y="3"/>
                    </a:lnTo>
                    <a:lnTo>
                      <a:pt x="4" y="5"/>
                    </a:lnTo>
                    <a:lnTo>
                      <a:pt x="2" y="7"/>
                    </a:lnTo>
                    <a:lnTo>
                      <a:pt x="1" y="9"/>
                    </a:lnTo>
                    <a:lnTo>
                      <a:pt x="0" y="12"/>
                    </a:lnTo>
                    <a:lnTo>
                      <a:pt x="0" y="16"/>
                    </a:lnTo>
                    <a:lnTo>
                      <a:pt x="0" y="166"/>
                    </a:lnTo>
                    <a:lnTo>
                      <a:pt x="0" y="169"/>
                    </a:lnTo>
                    <a:lnTo>
                      <a:pt x="1" y="172"/>
                    </a:lnTo>
                    <a:lnTo>
                      <a:pt x="2" y="174"/>
                    </a:lnTo>
                    <a:lnTo>
                      <a:pt x="4" y="176"/>
                    </a:lnTo>
                    <a:lnTo>
                      <a:pt x="6" y="179"/>
                    </a:lnTo>
                    <a:lnTo>
                      <a:pt x="9" y="180"/>
                    </a:lnTo>
                    <a:lnTo>
                      <a:pt x="11"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grpSp>
        <p:sp>
          <p:nvSpPr>
            <p:cNvPr id="70" name="Freeform 1671" descr="Icon of check mark. ">
              <a:extLst>
                <a:ext uri="{FF2B5EF4-FFF2-40B4-BE49-F238E27FC236}">
                  <a16:creationId xmlns:a16="http://schemas.microsoft.com/office/drawing/2014/main" xmlns="" id="{1A4AFC64-5C16-40F4-BDFA-E62EE3AAEA23}"/>
                </a:ext>
              </a:extLst>
            </p:cNvPr>
            <p:cNvSpPr>
              <a:spLocks noEditPoints="1"/>
            </p:cNvSpPr>
            <p:nvPr/>
          </p:nvSpPr>
          <p:spPr bwMode="auto">
            <a:xfrm>
              <a:off x="6804704" y="2729993"/>
              <a:ext cx="380334" cy="380334"/>
            </a:xfrm>
            <a:custGeom>
              <a:avLst/>
              <a:gdLst>
                <a:gd name="T0" fmla="*/ 279 w 719"/>
                <a:gd name="T1" fmla="*/ 477 h 719"/>
                <a:gd name="T2" fmla="*/ 197 w 719"/>
                <a:gd name="T3" fmla="*/ 387 h 719"/>
                <a:gd name="T4" fmla="*/ 217 w 719"/>
                <a:gd name="T5" fmla="*/ 382 h 719"/>
                <a:gd name="T6" fmla="*/ 515 w 719"/>
                <a:gd name="T7" fmla="*/ 243 h 719"/>
                <a:gd name="T8" fmla="*/ 519 w 719"/>
                <a:gd name="T9" fmla="*/ 263 h 719"/>
                <a:gd name="T10" fmla="*/ 709 w 719"/>
                <a:gd name="T11" fmla="*/ 323 h 719"/>
                <a:gd name="T12" fmla="*/ 687 w 719"/>
                <a:gd name="T13" fmla="*/ 289 h 719"/>
                <a:gd name="T14" fmla="*/ 696 w 719"/>
                <a:gd name="T15" fmla="*/ 243 h 719"/>
                <a:gd name="T16" fmla="*/ 675 w 719"/>
                <a:gd name="T17" fmla="*/ 199 h 719"/>
                <a:gd name="T18" fmla="*/ 631 w 719"/>
                <a:gd name="T19" fmla="*/ 179 h 719"/>
                <a:gd name="T20" fmla="*/ 630 w 719"/>
                <a:gd name="T21" fmla="*/ 131 h 719"/>
                <a:gd name="T22" fmla="*/ 603 w 719"/>
                <a:gd name="T23" fmla="*/ 98 h 719"/>
                <a:gd name="T24" fmla="*/ 569 w 719"/>
                <a:gd name="T25" fmla="*/ 87 h 719"/>
                <a:gd name="T26" fmla="*/ 536 w 719"/>
                <a:gd name="T27" fmla="*/ 70 h 719"/>
                <a:gd name="T28" fmla="*/ 507 w 719"/>
                <a:gd name="T29" fmla="*/ 34 h 719"/>
                <a:gd name="T30" fmla="*/ 458 w 719"/>
                <a:gd name="T31" fmla="*/ 25 h 719"/>
                <a:gd name="T32" fmla="*/ 418 w 719"/>
                <a:gd name="T33" fmla="*/ 31 h 719"/>
                <a:gd name="T34" fmla="*/ 380 w 719"/>
                <a:gd name="T35" fmla="*/ 4 h 719"/>
                <a:gd name="T36" fmla="*/ 331 w 719"/>
                <a:gd name="T37" fmla="*/ 7 h 719"/>
                <a:gd name="T38" fmla="*/ 296 w 719"/>
                <a:gd name="T39" fmla="*/ 39 h 719"/>
                <a:gd name="T40" fmla="*/ 251 w 719"/>
                <a:gd name="T41" fmla="*/ 24 h 719"/>
                <a:gd name="T42" fmla="*/ 205 w 719"/>
                <a:gd name="T43" fmla="*/ 39 h 719"/>
                <a:gd name="T44" fmla="*/ 180 w 719"/>
                <a:gd name="T45" fmla="*/ 79 h 719"/>
                <a:gd name="T46" fmla="*/ 142 w 719"/>
                <a:gd name="T47" fmla="*/ 88 h 719"/>
                <a:gd name="T48" fmla="*/ 111 w 719"/>
                <a:gd name="T49" fmla="*/ 102 h 719"/>
                <a:gd name="T50" fmla="*/ 86 w 719"/>
                <a:gd name="T51" fmla="*/ 141 h 719"/>
                <a:gd name="T52" fmla="*/ 78 w 719"/>
                <a:gd name="T53" fmla="*/ 180 h 719"/>
                <a:gd name="T54" fmla="*/ 37 w 719"/>
                <a:gd name="T55" fmla="*/ 207 h 719"/>
                <a:gd name="T56" fmla="*/ 22 w 719"/>
                <a:gd name="T57" fmla="*/ 252 h 719"/>
                <a:gd name="T58" fmla="*/ 38 w 719"/>
                <a:gd name="T59" fmla="*/ 296 h 719"/>
                <a:gd name="T60" fmla="*/ 6 w 719"/>
                <a:gd name="T61" fmla="*/ 332 h 719"/>
                <a:gd name="T62" fmla="*/ 3 w 719"/>
                <a:gd name="T63" fmla="*/ 380 h 719"/>
                <a:gd name="T64" fmla="*/ 31 w 719"/>
                <a:gd name="T65" fmla="*/ 420 h 719"/>
                <a:gd name="T66" fmla="*/ 23 w 719"/>
                <a:gd name="T67" fmla="*/ 460 h 719"/>
                <a:gd name="T68" fmla="*/ 32 w 719"/>
                <a:gd name="T69" fmla="*/ 507 h 719"/>
                <a:gd name="T70" fmla="*/ 68 w 719"/>
                <a:gd name="T71" fmla="*/ 538 h 719"/>
                <a:gd name="T72" fmla="*/ 85 w 719"/>
                <a:gd name="T73" fmla="*/ 571 h 719"/>
                <a:gd name="T74" fmla="*/ 106 w 719"/>
                <a:gd name="T75" fmla="*/ 615 h 719"/>
                <a:gd name="T76" fmla="*/ 135 w 719"/>
                <a:gd name="T77" fmla="*/ 633 h 719"/>
                <a:gd name="T78" fmla="*/ 177 w 719"/>
                <a:gd name="T79" fmla="*/ 633 h 719"/>
                <a:gd name="T80" fmla="*/ 197 w 719"/>
                <a:gd name="T81" fmla="*/ 676 h 719"/>
                <a:gd name="T82" fmla="*/ 242 w 719"/>
                <a:gd name="T83" fmla="*/ 698 h 719"/>
                <a:gd name="T84" fmla="*/ 288 w 719"/>
                <a:gd name="T85" fmla="*/ 687 h 719"/>
                <a:gd name="T86" fmla="*/ 322 w 719"/>
                <a:gd name="T87" fmla="*/ 709 h 719"/>
                <a:gd name="T88" fmla="*/ 370 w 719"/>
                <a:gd name="T89" fmla="*/ 719 h 719"/>
                <a:gd name="T90" fmla="*/ 412 w 719"/>
                <a:gd name="T91" fmla="*/ 697 h 719"/>
                <a:gd name="T92" fmla="*/ 449 w 719"/>
                <a:gd name="T93" fmla="*/ 695 h 719"/>
                <a:gd name="T94" fmla="*/ 497 w 719"/>
                <a:gd name="T95" fmla="*/ 693 h 719"/>
                <a:gd name="T96" fmla="*/ 533 w 719"/>
                <a:gd name="T97" fmla="*/ 661 h 719"/>
                <a:gd name="T98" fmla="*/ 563 w 719"/>
                <a:gd name="T99" fmla="*/ 635 h 719"/>
                <a:gd name="T100" fmla="*/ 597 w 719"/>
                <a:gd name="T101" fmla="*/ 628 h 719"/>
                <a:gd name="T102" fmla="*/ 626 w 719"/>
                <a:gd name="T103" fmla="*/ 599 h 719"/>
                <a:gd name="T104" fmla="*/ 634 w 719"/>
                <a:gd name="T105" fmla="*/ 551 h 719"/>
                <a:gd name="T106" fmla="*/ 668 w 719"/>
                <a:gd name="T107" fmla="*/ 528 h 719"/>
                <a:gd name="T108" fmla="*/ 694 w 719"/>
                <a:gd name="T109" fmla="*/ 488 h 719"/>
                <a:gd name="T110" fmla="*/ 691 w 719"/>
                <a:gd name="T111" fmla="*/ 441 h 719"/>
                <a:gd name="T112" fmla="*/ 703 w 719"/>
                <a:gd name="T113" fmla="*/ 406 h 719"/>
                <a:gd name="T114" fmla="*/ 719 w 719"/>
                <a:gd name="T115" fmla="*/ 36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719">
                  <a:moveTo>
                    <a:pt x="519" y="263"/>
                  </a:moveTo>
                  <a:lnTo>
                    <a:pt x="292" y="475"/>
                  </a:lnTo>
                  <a:lnTo>
                    <a:pt x="288" y="477"/>
                  </a:lnTo>
                  <a:lnTo>
                    <a:pt x="285" y="479"/>
                  </a:lnTo>
                  <a:lnTo>
                    <a:pt x="279" y="477"/>
                  </a:lnTo>
                  <a:lnTo>
                    <a:pt x="276" y="475"/>
                  </a:lnTo>
                  <a:lnTo>
                    <a:pt x="200" y="400"/>
                  </a:lnTo>
                  <a:lnTo>
                    <a:pt x="197" y="396"/>
                  </a:lnTo>
                  <a:lnTo>
                    <a:pt x="196" y="391"/>
                  </a:lnTo>
                  <a:lnTo>
                    <a:pt x="197" y="387"/>
                  </a:lnTo>
                  <a:lnTo>
                    <a:pt x="200" y="382"/>
                  </a:lnTo>
                  <a:lnTo>
                    <a:pt x="204" y="380"/>
                  </a:lnTo>
                  <a:lnTo>
                    <a:pt x="208" y="379"/>
                  </a:lnTo>
                  <a:lnTo>
                    <a:pt x="213" y="380"/>
                  </a:lnTo>
                  <a:lnTo>
                    <a:pt x="217" y="382"/>
                  </a:lnTo>
                  <a:lnTo>
                    <a:pt x="285" y="450"/>
                  </a:lnTo>
                  <a:lnTo>
                    <a:pt x="502" y="247"/>
                  </a:lnTo>
                  <a:lnTo>
                    <a:pt x="507" y="243"/>
                  </a:lnTo>
                  <a:lnTo>
                    <a:pt x="511" y="243"/>
                  </a:lnTo>
                  <a:lnTo>
                    <a:pt x="515" y="243"/>
                  </a:lnTo>
                  <a:lnTo>
                    <a:pt x="520" y="247"/>
                  </a:lnTo>
                  <a:lnTo>
                    <a:pt x="522" y="251"/>
                  </a:lnTo>
                  <a:lnTo>
                    <a:pt x="523" y="255"/>
                  </a:lnTo>
                  <a:lnTo>
                    <a:pt x="522" y="260"/>
                  </a:lnTo>
                  <a:lnTo>
                    <a:pt x="519" y="263"/>
                  </a:lnTo>
                  <a:close/>
                  <a:moveTo>
                    <a:pt x="719" y="360"/>
                  </a:moveTo>
                  <a:lnTo>
                    <a:pt x="719" y="350"/>
                  </a:lnTo>
                  <a:lnTo>
                    <a:pt x="716" y="341"/>
                  </a:lnTo>
                  <a:lnTo>
                    <a:pt x="713" y="332"/>
                  </a:lnTo>
                  <a:lnTo>
                    <a:pt x="709" y="323"/>
                  </a:lnTo>
                  <a:lnTo>
                    <a:pt x="703" y="315"/>
                  </a:lnTo>
                  <a:lnTo>
                    <a:pt x="696" y="308"/>
                  </a:lnTo>
                  <a:lnTo>
                    <a:pt x="689" y="302"/>
                  </a:lnTo>
                  <a:lnTo>
                    <a:pt x="681" y="296"/>
                  </a:lnTo>
                  <a:lnTo>
                    <a:pt x="687" y="289"/>
                  </a:lnTo>
                  <a:lnTo>
                    <a:pt x="691" y="280"/>
                  </a:lnTo>
                  <a:lnTo>
                    <a:pt x="694" y="271"/>
                  </a:lnTo>
                  <a:lnTo>
                    <a:pt x="696" y="262"/>
                  </a:lnTo>
                  <a:lnTo>
                    <a:pt x="696" y="252"/>
                  </a:lnTo>
                  <a:lnTo>
                    <a:pt x="696" y="243"/>
                  </a:lnTo>
                  <a:lnTo>
                    <a:pt x="694" y="233"/>
                  </a:lnTo>
                  <a:lnTo>
                    <a:pt x="692" y="223"/>
                  </a:lnTo>
                  <a:lnTo>
                    <a:pt x="688" y="215"/>
                  </a:lnTo>
                  <a:lnTo>
                    <a:pt x="682" y="207"/>
                  </a:lnTo>
                  <a:lnTo>
                    <a:pt x="675" y="199"/>
                  </a:lnTo>
                  <a:lnTo>
                    <a:pt x="668" y="193"/>
                  </a:lnTo>
                  <a:lnTo>
                    <a:pt x="660" y="188"/>
                  </a:lnTo>
                  <a:lnTo>
                    <a:pt x="651" y="184"/>
                  </a:lnTo>
                  <a:lnTo>
                    <a:pt x="641" y="180"/>
                  </a:lnTo>
                  <a:lnTo>
                    <a:pt x="631" y="179"/>
                  </a:lnTo>
                  <a:lnTo>
                    <a:pt x="634" y="169"/>
                  </a:lnTo>
                  <a:lnTo>
                    <a:pt x="635" y="161"/>
                  </a:lnTo>
                  <a:lnTo>
                    <a:pt x="635" y="151"/>
                  </a:lnTo>
                  <a:lnTo>
                    <a:pt x="632" y="141"/>
                  </a:lnTo>
                  <a:lnTo>
                    <a:pt x="630" y="131"/>
                  </a:lnTo>
                  <a:lnTo>
                    <a:pt x="626" y="122"/>
                  </a:lnTo>
                  <a:lnTo>
                    <a:pt x="620" y="114"/>
                  </a:lnTo>
                  <a:lnTo>
                    <a:pt x="614" y="106"/>
                  </a:lnTo>
                  <a:lnTo>
                    <a:pt x="608" y="102"/>
                  </a:lnTo>
                  <a:lnTo>
                    <a:pt x="603" y="98"/>
                  </a:lnTo>
                  <a:lnTo>
                    <a:pt x="597" y="94"/>
                  </a:lnTo>
                  <a:lnTo>
                    <a:pt x="590" y="91"/>
                  </a:lnTo>
                  <a:lnTo>
                    <a:pt x="584" y="89"/>
                  </a:lnTo>
                  <a:lnTo>
                    <a:pt x="577" y="88"/>
                  </a:lnTo>
                  <a:lnTo>
                    <a:pt x="569" y="87"/>
                  </a:lnTo>
                  <a:lnTo>
                    <a:pt x="563" y="85"/>
                  </a:lnTo>
                  <a:lnTo>
                    <a:pt x="552" y="87"/>
                  </a:lnTo>
                  <a:lnTo>
                    <a:pt x="542" y="89"/>
                  </a:lnTo>
                  <a:lnTo>
                    <a:pt x="540" y="79"/>
                  </a:lnTo>
                  <a:lnTo>
                    <a:pt x="536" y="70"/>
                  </a:lnTo>
                  <a:lnTo>
                    <a:pt x="533" y="61"/>
                  </a:lnTo>
                  <a:lnTo>
                    <a:pt x="528" y="53"/>
                  </a:lnTo>
                  <a:lnTo>
                    <a:pt x="522" y="46"/>
                  </a:lnTo>
                  <a:lnTo>
                    <a:pt x="514" y="39"/>
                  </a:lnTo>
                  <a:lnTo>
                    <a:pt x="507" y="34"/>
                  </a:lnTo>
                  <a:lnTo>
                    <a:pt x="497" y="28"/>
                  </a:lnTo>
                  <a:lnTo>
                    <a:pt x="488" y="26"/>
                  </a:lnTo>
                  <a:lnTo>
                    <a:pt x="478" y="24"/>
                  </a:lnTo>
                  <a:lnTo>
                    <a:pt x="468" y="24"/>
                  </a:lnTo>
                  <a:lnTo>
                    <a:pt x="458" y="25"/>
                  </a:lnTo>
                  <a:lnTo>
                    <a:pt x="449" y="27"/>
                  </a:lnTo>
                  <a:lnTo>
                    <a:pt x="440" y="29"/>
                  </a:lnTo>
                  <a:lnTo>
                    <a:pt x="431" y="34"/>
                  </a:lnTo>
                  <a:lnTo>
                    <a:pt x="424" y="39"/>
                  </a:lnTo>
                  <a:lnTo>
                    <a:pt x="418" y="31"/>
                  </a:lnTo>
                  <a:lnTo>
                    <a:pt x="412" y="24"/>
                  </a:lnTo>
                  <a:lnTo>
                    <a:pt x="405" y="17"/>
                  </a:lnTo>
                  <a:lnTo>
                    <a:pt x="397" y="11"/>
                  </a:lnTo>
                  <a:lnTo>
                    <a:pt x="388" y="7"/>
                  </a:lnTo>
                  <a:lnTo>
                    <a:pt x="380" y="4"/>
                  </a:lnTo>
                  <a:lnTo>
                    <a:pt x="370" y="2"/>
                  </a:lnTo>
                  <a:lnTo>
                    <a:pt x="360" y="0"/>
                  </a:lnTo>
                  <a:lnTo>
                    <a:pt x="350" y="2"/>
                  </a:lnTo>
                  <a:lnTo>
                    <a:pt x="340" y="4"/>
                  </a:lnTo>
                  <a:lnTo>
                    <a:pt x="331" y="7"/>
                  </a:lnTo>
                  <a:lnTo>
                    <a:pt x="322" y="11"/>
                  </a:lnTo>
                  <a:lnTo>
                    <a:pt x="314" y="17"/>
                  </a:lnTo>
                  <a:lnTo>
                    <a:pt x="307" y="24"/>
                  </a:lnTo>
                  <a:lnTo>
                    <a:pt x="301" y="31"/>
                  </a:lnTo>
                  <a:lnTo>
                    <a:pt x="296" y="39"/>
                  </a:lnTo>
                  <a:lnTo>
                    <a:pt x="288" y="34"/>
                  </a:lnTo>
                  <a:lnTo>
                    <a:pt x="279" y="29"/>
                  </a:lnTo>
                  <a:lnTo>
                    <a:pt x="270" y="27"/>
                  </a:lnTo>
                  <a:lnTo>
                    <a:pt x="260" y="25"/>
                  </a:lnTo>
                  <a:lnTo>
                    <a:pt x="251" y="24"/>
                  </a:lnTo>
                  <a:lnTo>
                    <a:pt x="242" y="24"/>
                  </a:lnTo>
                  <a:lnTo>
                    <a:pt x="232" y="26"/>
                  </a:lnTo>
                  <a:lnTo>
                    <a:pt x="222" y="28"/>
                  </a:lnTo>
                  <a:lnTo>
                    <a:pt x="213" y="34"/>
                  </a:lnTo>
                  <a:lnTo>
                    <a:pt x="205" y="39"/>
                  </a:lnTo>
                  <a:lnTo>
                    <a:pt x="197" y="46"/>
                  </a:lnTo>
                  <a:lnTo>
                    <a:pt x="192" y="52"/>
                  </a:lnTo>
                  <a:lnTo>
                    <a:pt x="186" y="61"/>
                  </a:lnTo>
                  <a:lnTo>
                    <a:pt x="182" y="69"/>
                  </a:lnTo>
                  <a:lnTo>
                    <a:pt x="180" y="79"/>
                  </a:lnTo>
                  <a:lnTo>
                    <a:pt x="177" y="89"/>
                  </a:lnTo>
                  <a:lnTo>
                    <a:pt x="168" y="87"/>
                  </a:lnTo>
                  <a:lnTo>
                    <a:pt x="156" y="85"/>
                  </a:lnTo>
                  <a:lnTo>
                    <a:pt x="149" y="87"/>
                  </a:lnTo>
                  <a:lnTo>
                    <a:pt x="142" y="88"/>
                  </a:lnTo>
                  <a:lnTo>
                    <a:pt x="135" y="89"/>
                  </a:lnTo>
                  <a:lnTo>
                    <a:pt x="129" y="91"/>
                  </a:lnTo>
                  <a:lnTo>
                    <a:pt x="122" y="94"/>
                  </a:lnTo>
                  <a:lnTo>
                    <a:pt x="117" y="98"/>
                  </a:lnTo>
                  <a:lnTo>
                    <a:pt x="111" y="102"/>
                  </a:lnTo>
                  <a:lnTo>
                    <a:pt x="106" y="106"/>
                  </a:lnTo>
                  <a:lnTo>
                    <a:pt x="99" y="114"/>
                  </a:lnTo>
                  <a:lnTo>
                    <a:pt x="94" y="122"/>
                  </a:lnTo>
                  <a:lnTo>
                    <a:pt x="89" y="131"/>
                  </a:lnTo>
                  <a:lnTo>
                    <a:pt x="86" y="141"/>
                  </a:lnTo>
                  <a:lnTo>
                    <a:pt x="85" y="151"/>
                  </a:lnTo>
                  <a:lnTo>
                    <a:pt x="85" y="161"/>
                  </a:lnTo>
                  <a:lnTo>
                    <a:pt x="85" y="169"/>
                  </a:lnTo>
                  <a:lnTo>
                    <a:pt x="87" y="179"/>
                  </a:lnTo>
                  <a:lnTo>
                    <a:pt x="78" y="180"/>
                  </a:lnTo>
                  <a:lnTo>
                    <a:pt x="68" y="184"/>
                  </a:lnTo>
                  <a:lnTo>
                    <a:pt x="59" y="188"/>
                  </a:lnTo>
                  <a:lnTo>
                    <a:pt x="52" y="193"/>
                  </a:lnTo>
                  <a:lnTo>
                    <a:pt x="44" y="199"/>
                  </a:lnTo>
                  <a:lnTo>
                    <a:pt x="37" y="207"/>
                  </a:lnTo>
                  <a:lnTo>
                    <a:pt x="32" y="215"/>
                  </a:lnTo>
                  <a:lnTo>
                    <a:pt x="27" y="223"/>
                  </a:lnTo>
                  <a:lnTo>
                    <a:pt x="24" y="233"/>
                  </a:lnTo>
                  <a:lnTo>
                    <a:pt x="23" y="243"/>
                  </a:lnTo>
                  <a:lnTo>
                    <a:pt x="22" y="252"/>
                  </a:lnTo>
                  <a:lnTo>
                    <a:pt x="23" y="262"/>
                  </a:lnTo>
                  <a:lnTo>
                    <a:pt x="25" y="271"/>
                  </a:lnTo>
                  <a:lnTo>
                    <a:pt x="28" y="280"/>
                  </a:lnTo>
                  <a:lnTo>
                    <a:pt x="33" y="289"/>
                  </a:lnTo>
                  <a:lnTo>
                    <a:pt x="38" y="296"/>
                  </a:lnTo>
                  <a:lnTo>
                    <a:pt x="31" y="302"/>
                  </a:lnTo>
                  <a:lnTo>
                    <a:pt x="23" y="308"/>
                  </a:lnTo>
                  <a:lnTo>
                    <a:pt x="16" y="315"/>
                  </a:lnTo>
                  <a:lnTo>
                    <a:pt x="11" y="323"/>
                  </a:lnTo>
                  <a:lnTo>
                    <a:pt x="6" y="332"/>
                  </a:lnTo>
                  <a:lnTo>
                    <a:pt x="3" y="341"/>
                  </a:lnTo>
                  <a:lnTo>
                    <a:pt x="1" y="350"/>
                  </a:lnTo>
                  <a:lnTo>
                    <a:pt x="0" y="360"/>
                  </a:lnTo>
                  <a:lnTo>
                    <a:pt x="1" y="370"/>
                  </a:lnTo>
                  <a:lnTo>
                    <a:pt x="3" y="380"/>
                  </a:lnTo>
                  <a:lnTo>
                    <a:pt x="6" y="389"/>
                  </a:lnTo>
                  <a:lnTo>
                    <a:pt x="11" y="398"/>
                  </a:lnTo>
                  <a:lnTo>
                    <a:pt x="16" y="406"/>
                  </a:lnTo>
                  <a:lnTo>
                    <a:pt x="23" y="413"/>
                  </a:lnTo>
                  <a:lnTo>
                    <a:pt x="31" y="420"/>
                  </a:lnTo>
                  <a:lnTo>
                    <a:pt x="38" y="424"/>
                  </a:lnTo>
                  <a:lnTo>
                    <a:pt x="33" y="433"/>
                  </a:lnTo>
                  <a:lnTo>
                    <a:pt x="28" y="441"/>
                  </a:lnTo>
                  <a:lnTo>
                    <a:pt x="25" y="450"/>
                  </a:lnTo>
                  <a:lnTo>
                    <a:pt x="23" y="460"/>
                  </a:lnTo>
                  <a:lnTo>
                    <a:pt x="22" y="470"/>
                  </a:lnTo>
                  <a:lnTo>
                    <a:pt x="23" y="479"/>
                  </a:lnTo>
                  <a:lnTo>
                    <a:pt x="24" y="488"/>
                  </a:lnTo>
                  <a:lnTo>
                    <a:pt x="27" y="498"/>
                  </a:lnTo>
                  <a:lnTo>
                    <a:pt x="32" y="507"/>
                  </a:lnTo>
                  <a:lnTo>
                    <a:pt x="37" y="515"/>
                  </a:lnTo>
                  <a:lnTo>
                    <a:pt x="44" y="523"/>
                  </a:lnTo>
                  <a:lnTo>
                    <a:pt x="52" y="528"/>
                  </a:lnTo>
                  <a:lnTo>
                    <a:pt x="59" y="534"/>
                  </a:lnTo>
                  <a:lnTo>
                    <a:pt x="68" y="538"/>
                  </a:lnTo>
                  <a:lnTo>
                    <a:pt x="78" y="540"/>
                  </a:lnTo>
                  <a:lnTo>
                    <a:pt x="87" y="543"/>
                  </a:lnTo>
                  <a:lnTo>
                    <a:pt x="85" y="551"/>
                  </a:lnTo>
                  <a:lnTo>
                    <a:pt x="85" y="561"/>
                  </a:lnTo>
                  <a:lnTo>
                    <a:pt x="85" y="571"/>
                  </a:lnTo>
                  <a:lnTo>
                    <a:pt x="86" y="580"/>
                  </a:lnTo>
                  <a:lnTo>
                    <a:pt x="89" y="590"/>
                  </a:lnTo>
                  <a:lnTo>
                    <a:pt x="94" y="599"/>
                  </a:lnTo>
                  <a:lnTo>
                    <a:pt x="99" y="608"/>
                  </a:lnTo>
                  <a:lnTo>
                    <a:pt x="106" y="615"/>
                  </a:lnTo>
                  <a:lnTo>
                    <a:pt x="111" y="620"/>
                  </a:lnTo>
                  <a:lnTo>
                    <a:pt x="117" y="624"/>
                  </a:lnTo>
                  <a:lnTo>
                    <a:pt x="122" y="628"/>
                  </a:lnTo>
                  <a:lnTo>
                    <a:pt x="129" y="631"/>
                  </a:lnTo>
                  <a:lnTo>
                    <a:pt x="135" y="633"/>
                  </a:lnTo>
                  <a:lnTo>
                    <a:pt x="142" y="634"/>
                  </a:lnTo>
                  <a:lnTo>
                    <a:pt x="149" y="635"/>
                  </a:lnTo>
                  <a:lnTo>
                    <a:pt x="156" y="635"/>
                  </a:lnTo>
                  <a:lnTo>
                    <a:pt x="168" y="635"/>
                  </a:lnTo>
                  <a:lnTo>
                    <a:pt x="177" y="633"/>
                  </a:lnTo>
                  <a:lnTo>
                    <a:pt x="180" y="643"/>
                  </a:lnTo>
                  <a:lnTo>
                    <a:pt x="182" y="652"/>
                  </a:lnTo>
                  <a:lnTo>
                    <a:pt x="186" y="661"/>
                  </a:lnTo>
                  <a:lnTo>
                    <a:pt x="192" y="668"/>
                  </a:lnTo>
                  <a:lnTo>
                    <a:pt x="197" y="676"/>
                  </a:lnTo>
                  <a:lnTo>
                    <a:pt x="205" y="683"/>
                  </a:lnTo>
                  <a:lnTo>
                    <a:pt x="213" y="688"/>
                  </a:lnTo>
                  <a:lnTo>
                    <a:pt x="222" y="693"/>
                  </a:lnTo>
                  <a:lnTo>
                    <a:pt x="232" y="696"/>
                  </a:lnTo>
                  <a:lnTo>
                    <a:pt x="242" y="698"/>
                  </a:lnTo>
                  <a:lnTo>
                    <a:pt x="251" y="698"/>
                  </a:lnTo>
                  <a:lnTo>
                    <a:pt x="260" y="697"/>
                  </a:lnTo>
                  <a:lnTo>
                    <a:pt x="270" y="695"/>
                  </a:lnTo>
                  <a:lnTo>
                    <a:pt x="279" y="692"/>
                  </a:lnTo>
                  <a:lnTo>
                    <a:pt x="288" y="687"/>
                  </a:lnTo>
                  <a:lnTo>
                    <a:pt x="296" y="682"/>
                  </a:lnTo>
                  <a:lnTo>
                    <a:pt x="301" y="689"/>
                  </a:lnTo>
                  <a:lnTo>
                    <a:pt x="307" y="697"/>
                  </a:lnTo>
                  <a:lnTo>
                    <a:pt x="314" y="704"/>
                  </a:lnTo>
                  <a:lnTo>
                    <a:pt x="322" y="709"/>
                  </a:lnTo>
                  <a:lnTo>
                    <a:pt x="331" y="714"/>
                  </a:lnTo>
                  <a:lnTo>
                    <a:pt x="340" y="717"/>
                  </a:lnTo>
                  <a:lnTo>
                    <a:pt x="350" y="719"/>
                  </a:lnTo>
                  <a:lnTo>
                    <a:pt x="360" y="719"/>
                  </a:lnTo>
                  <a:lnTo>
                    <a:pt x="370" y="719"/>
                  </a:lnTo>
                  <a:lnTo>
                    <a:pt x="380" y="717"/>
                  </a:lnTo>
                  <a:lnTo>
                    <a:pt x="388" y="714"/>
                  </a:lnTo>
                  <a:lnTo>
                    <a:pt x="397" y="709"/>
                  </a:lnTo>
                  <a:lnTo>
                    <a:pt x="405" y="704"/>
                  </a:lnTo>
                  <a:lnTo>
                    <a:pt x="412" y="697"/>
                  </a:lnTo>
                  <a:lnTo>
                    <a:pt x="418" y="689"/>
                  </a:lnTo>
                  <a:lnTo>
                    <a:pt x="424" y="682"/>
                  </a:lnTo>
                  <a:lnTo>
                    <a:pt x="431" y="687"/>
                  </a:lnTo>
                  <a:lnTo>
                    <a:pt x="440" y="692"/>
                  </a:lnTo>
                  <a:lnTo>
                    <a:pt x="449" y="695"/>
                  </a:lnTo>
                  <a:lnTo>
                    <a:pt x="458" y="697"/>
                  </a:lnTo>
                  <a:lnTo>
                    <a:pt x="468" y="698"/>
                  </a:lnTo>
                  <a:lnTo>
                    <a:pt x="478" y="698"/>
                  </a:lnTo>
                  <a:lnTo>
                    <a:pt x="488" y="696"/>
                  </a:lnTo>
                  <a:lnTo>
                    <a:pt x="497" y="693"/>
                  </a:lnTo>
                  <a:lnTo>
                    <a:pt x="507" y="688"/>
                  </a:lnTo>
                  <a:lnTo>
                    <a:pt x="514" y="683"/>
                  </a:lnTo>
                  <a:lnTo>
                    <a:pt x="522" y="676"/>
                  </a:lnTo>
                  <a:lnTo>
                    <a:pt x="528" y="668"/>
                  </a:lnTo>
                  <a:lnTo>
                    <a:pt x="533" y="661"/>
                  </a:lnTo>
                  <a:lnTo>
                    <a:pt x="536" y="652"/>
                  </a:lnTo>
                  <a:lnTo>
                    <a:pt x="540" y="643"/>
                  </a:lnTo>
                  <a:lnTo>
                    <a:pt x="541" y="633"/>
                  </a:lnTo>
                  <a:lnTo>
                    <a:pt x="552" y="635"/>
                  </a:lnTo>
                  <a:lnTo>
                    <a:pt x="563" y="635"/>
                  </a:lnTo>
                  <a:lnTo>
                    <a:pt x="569" y="635"/>
                  </a:lnTo>
                  <a:lnTo>
                    <a:pt x="577" y="634"/>
                  </a:lnTo>
                  <a:lnTo>
                    <a:pt x="584" y="633"/>
                  </a:lnTo>
                  <a:lnTo>
                    <a:pt x="590" y="631"/>
                  </a:lnTo>
                  <a:lnTo>
                    <a:pt x="597" y="628"/>
                  </a:lnTo>
                  <a:lnTo>
                    <a:pt x="603" y="624"/>
                  </a:lnTo>
                  <a:lnTo>
                    <a:pt x="608" y="620"/>
                  </a:lnTo>
                  <a:lnTo>
                    <a:pt x="614" y="615"/>
                  </a:lnTo>
                  <a:lnTo>
                    <a:pt x="620" y="608"/>
                  </a:lnTo>
                  <a:lnTo>
                    <a:pt x="626" y="599"/>
                  </a:lnTo>
                  <a:lnTo>
                    <a:pt x="630" y="590"/>
                  </a:lnTo>
                  <a:lnTo>
                    <a:pt x="632" y="580"/>
                  </a:lnTo>
                  <a:lnTo>
                    <a:pt x="635" y="571"/>
                  </a:lnTo>
                  <a:lnTo>
                    <a:pt x="635" y="561"/>
                  </a:lnTo>
                  <a:lnTo>
                    <a:pt x="634" y="551"/>
                  </a:lnTo>
                  <a:lnTo>
                    <a:pt x="631" y="543"/>
                  </a:lnTo>
                  <a:lnTo>
                    <a:pt x="641" y="540"/>
                  </a:lnTo>
                  <a:lnTo>
                    <a:pt x="651" y="538"/>
                  </a:lnTo>
                  <a:lnTo>
                    <a:pt x="660" y="534"/>
                  </a:lnTo>
                  <a:lnTo>
                    <a:pt x="668" y="528"/>
                  </a:lnTo>
                  <a:lnTo>
                    <a:pt x="675" y="523"/>
                  </a:lnTo>
                  <a:lnTo>
                    <a:pt x="682" y="515"/>
                  </a:lnTo>
                  <a:lnTo>
                    <a:pt x="688" y="507"/>
                  </a:lnTo>
                  <a:lnTo>
                    <a:pt x="692" y="498"/>
                  </a:lnTo>
                  <a:lnTo>
                    <a:pt x="694" y="488"/>
                  </a:lnTo>
                  <a:lnTo>
                    <a:pt x="696" y="479"/>
                  </a:lnTo>
                  <a:lnTo>
                    <a:pt x="698" y="470"/>
                  </a:lnTo>
                  <a:lnTo>
                    <a:pt x="696" y="460"/>
                  </a:lnTo>
                  <a:lnTo>
                    <a:pt x="694" y="450"/>
                  </a:lnTo>
                  <a:lnTo>
                    <a:pt x="691" y="441"/>
                  </a:lnTo>
                  <a:lnTo>
                    <a:pt x="687" y="433"/>
                  </a:lnTo>
                  <a:lnTo>
                    <a:pt x="681" y="424"/>
                  </a:lnTo>
                  <a:lnTo>
                    <a:pt x="689" y="420"/>
                  </a:lnTo>
                  <a:lnTo>
                    <a:pt x="696" y="413"/>
                  </a:lnTo>
                  <a:lnTo>
                    <a:pt x="703" y="406"/>
                  </a:lnTo>
                  <a:lnTo>
                    <a:pt x="709" y="398"/>
                  </a:lnTo>
                  <a:lnTo>
                    <a:pt x="713" y="389"/>
                  </a:lnTo>
                  <a:lnTo>
                    <a:pt x="716" y="380"/>
                  </a:lnTo>
                  <a:lnTo>
                    <a:pt x="719" y="370"/>
                  </a:lnTo>
                  <a:lnTo>
                    <a:pt x="719" y="36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71" name="Freeform 3850" descr="Icon of lightning. ">
              <a:extLst>
                <a:ext uri="{FF2B5EF4-FFF2-40B4-BE49-F238E27FC236}">
                  <a16:creationId xmlns:a16="http://schemas.microsoft.com/office/drawing/2014/main" xmlns="" id="{4F438411-AB3F-41D1-B7B0-3BD67465A272}"/>
                </a:ext>
              </a:extLst>
            </p:cNvPr>
            <p:cNvSpPr>
              <a:spLocks/>
            </p:cNvSpPr>
            <p:nvPr/>
          </p:nvSpPr>
          <p:spPr bwMode="auto">
            <a:xfrm>
              <a:off x="4746004" y="3935111"/>
              <a:ext cx="268346" cy="380334"/>
            </a:xfrm>
            <a:custGeom>
              <a:avLst/>
              <a:gdLst>
                <a:gd name="T0" fmla="*/ 635 w 636"/>
                <a:gd name="T1" fmla="*/ 369 h 901"/>
                <a:gd name="T2" fmla="*/ 632 w 636"/>
                <a:gd name="T3" fmla="*/ 365 h 901"/>
                <a:gd name="T4" fmla="*/ 629 w 636"/>
                <a:gd name="T5" fmla="*/ 362 h 901"/>
                <a:gd name="T6" fmla="*/ 625 w 636"/>
                <a:gd name="T7" fmla="*/ 360 h 901"/>
                <a:gd name="T8" fmla="*/ 621 w 636"/>
                <a:gd name="T9" fmla="*/ 360 h 901"/>
                <a:gd name="T10" fmla="*/ 337 w 636"/>
                <a:gd name="T11" fmla="*/ 360 h 901"/>
                <a:gd name="T12" fmla="*/ 409 w 636"/>
                <a:gd name="T13" fmla="*/ 17 h 901"/>
                <a:gd name="T14" fmla="*/ 409 w 636"/>
                <a:gd name="T15" fmla="*/ 13 h 901"/>
                <a:gd name="T16" fmla="*/ 408 w 636"/>
                <a:gd name="T17" fmla="*/ 7 h 901"/>
                <a:gd name="T18" fmla="*/ 405 w 636"/>
                <a:gd name="T19" fmla="*/ 3 h 901"/>
                <a:gd name="T20" fmla="*/ 400 w 636"/>
                <a:gd name="T21" fmla="*/ 1 h 901"/>
                <a:gd name="T22" fmla="*/ 395 w 636"/>
                <a:gd name="T23" fmla="*/ 0 h 901"/>
                <a:gd name="T24" fmla="*/ 390 w 636"/>
                <a:gd name="T25" fmla="*/ 0 h 901"/>
                <a:gd name="T26" fmla="*/ 385 w 636"/>
                <a:gd name="T27" fmla="*/ 2 h 901"/>
                <a:gd name="T28" fmla="*/ 382 w 636"/>
                <a:gd name="T29" fmla="*/ 6 h 901"/>
                <a:gd name="T30" fmla="*/ 2 w 636"/>
                <a:gd name="T31" fmla="*/ 547 h 901"/>
                <a:gd name="T32" fmla="*/ 1 w 636"/>
                <a:gd name="T33" fmla="*/ 550 h 901"/>
                <a:gd name="T34" fmla="*/ 0 w 636"/>
                <a:gd name="T35" fmla="*/ 554 h 901"/>
                <a:gd name="T36" fmla="*/ 0 w 636"/>
                <a:gd name="T37" fmla="*/ 559 h 901"/>
                <a:gd name="T38" fmla="*/ 1 w 636"/>
                <a:gd name="T39" fmla="*/ 562 h 901"/>
                <a:gd name="T40" fmla="*/ 4 w 636"/>
                <a:gd name="T41" fmla="*/ 566 h 901"/>
                <a:gd name="T42" fmla="*/ 8 w 636"/>
                <a:gd name="T43" fmla="*/ 568 h 901"/>
                <a:gd name="T44" fmla="*/ 11 w 636"/>
                <a:gd name="T45" fmla="*/ 569 h 901"/>
                <a:gd name="T46" fmla="*/ 15 w 636"/>
                <a:gd name="T47" fmla="*/ 570 h 901"/>
                <a:gd name="T48" fmla="*/ 299 w 636"/>
                <a:gd name="T49" fmla="*/ 570 h 901"/>
                <a:gd name="T50" fmla="*/ 228 w 636"/>
                <a:gd name="T51" fmla="*/ 882 h 901"/>
                <a:gd name="T52" fmla="*/ 228 w 636"/>
                <a:gd name="T53" fmla="*/ 888 h 901"/>
                <a:gd name="T54" fmla="*/ 229 w 636"/>
                <a:gd name="T55" fmla="*/ 892 h 901"/>
                <a:gd name="T56" fmla="*/ 232 w 636"/>
                <a:gd name="T57" fmla="*/ 896 h 901"/>
                <a:gd name="T58" fmla="*/ 236 w 636"/>
                <a:gd name="T59" fmla="*/ 900 h 901"/>
                <a:gd name="T60" fmla="*/ 239 w 636"/>
                <a:gd name="T61" fmla="*/ 901 h 901"/>
                <a:gd name="T62" fmla="*/ 243 w 636"/>
                <a:gd name="T63" fmla="*/ 901 h 901"/>
                <a:gd name="T64" fmla="*/ 246 w 636"/>
                <a:gd name="T65" fmla="*/ 901 h 901"/>
                <a:gd name="T66" fmla="*/ 249 w 636"/>
                <a:gd name="T67" fmla="*/ 900 h 901"/>
                <a:gd name="T68" fmla="*/ 252 w 636"/>
                <a:gd name="T69" fmla="*/ 897 h 901"/>
                <a:gd name="T70" fmla="*/ 254 w 636"/>
                <a:gd name="T71" fmla="*/ 895 h 901"/>
                <a:gd name="T72" fmla="*/ 633 w 636"/>
                <a:gd name="T73" fmla="*/ 384 h 901"/>
                <a:gd name="T74" fmla="*/ 635 w 636"/>
                <a:gd name="T75" fmla="*/ 381 h 901"/>
                <a:gd name="T76" fmla="*/ 636 w 636"/>
                <a:gd name="T77" fmla="*/ 376 h 901"/>
                <a:gd name="T78" fmla="*/ 636 w 636"/>
                <a:gd name="T79" fmla="*/ 372 h 901"/>
                <a:gd name="T80" fmla="*/ 635 w 636"/>
                <a:gd name="T81" fmla="*/ 369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36" h="901">
                  <a:moveTo>
                    <a:pt x="635" y="369"/>
                  </a:moveTo>
                  <a:lnTo>
                    <a:pt x="632" y="365"/>
                  </a:lnTo>
                  <a:lnTo>
                    <a:pt x="629" y="362"/>
                  </a:lnTo>
                  <a:lnTo>
                    <a:pt x="625" y="360"/>
                  </a:lnTo>
                  <a:lnTo>
                    <a:pt x="621" y="360"/>
                  </a:lnTo>
                  <a:lnTo>
                    <a:pt x="337" y="360"/>
                  </a:lnTo>
                  <a:lnTo>
                    <a:pt x="409" y="17"/>
                  </a:lnTo>
                  <a:lnTo>
                    <a:pt x="409" y="13"/>
                  </a:lnTo>
                  <a:lnTo>
                    <a:pt x="408" y="7"/>
                  </a:lnTo>
                  <a:lnTo>
                    <a:pt x="405" y="3"/>
                  </a:lnTo>
                  <a:lnTo>
                    <a:pt x="400" y="1"/>
                  </a:lnTo>
                  <a:lnTo>
                    <a:pt x="395" y="0"/>
                  </a:lnTo>
                  <a:lnTo>
                    <a:pt x="390" y="0"/>
                  </a:lnTo>
                  <a:lnTo>
                    <a:pt x="385" y="2"/>
                  </a:lnTo>
                  <a:lnTo>
                    <a:pt x="382" y="6"/>
                  </a:lnTo>
                  <a:lnTo>
                    <a:pt x="2" y="547"/>
                  </a:lnTo>
                  <a:lnTo>
                    <a:pt x="1" y="550"/>
                  </a:lnTo>
                  <a:lnTo>
                    <a:pt x="0" y="554"/>
                  </a:lnTo>
                  <a:lnTo>
                    <a:pt x="0" y="559"/>
                  </a:lnTo>
                  <a:lnTo>
                    <a:pt x="1" y="562"/>
                  </a:lnTo>
                  <a:lnTo>
                    <a:pt x="4" y="566"/>
                  </a:lnTo>
                  <a:lnTo>
                    <a:pt x="8" y="568"/>
                  </a:lnTo>
                  <a:lnTo>
                    <a:pt x="11" y="569"/>
                  </a:lnTo>
                  <a:lnTo>
                    <a:pt x="15" y="570"/>
                  </a:lnTo>
                  <a:lnTo>
                    <a:pt x="299" y="570"/>
                  </a:lnTo>
                  <a:lnTo>
                    <a:pt x="228" y="882"/>
                  </a:lnTo>
                  <a:lnTo>
                    <a:pt x="228" y="888"/>
                  </a:lnTo>
                  <a:lnTo>
                    <a:pt x="229" y="892"/>
                  </a:lnTo>
                  <a:lnTo>
                    <a:pt x="232" y="896"/>
                  </a:lnTo>
                  <a:lnTo>
                    <a:pt x="236" y="900"/>
                  </a:lnTo>
                  <a:lnTo>
                    <a:pt x="239" y="901"/>
                  </a:lnTo>
                  <a:lnTo>
                    <a:pt x="243" y="901"/>
                  </a:lnTo>
                  <a:lnTo>
                    <a:pt x="246" y="901"/>
                  </a:lnTo>
                  <a:lnTo>
                    <a:pt x="249" y="900"/>
                  </a:lnTo>
                  <a:lnTo>
                    <a:pt x="252" y="897"/>
                  </a:lnTo>
                  <a:lnTo>
                    <a:pt x="254" y="895"/>
                  </a:lnTo>
                  <a:lnTo>
                    <a:pt x="633" y="384"/>
                  </a:lnTo>
                  <a:lnTo>
                    <a:pt x="635" y="381"/>
                  </a:lnTo>
                  <a:lnTo>
                    <a:pt x="636" y="376"/>
                  </a:lnTo>
                  <a:lnTo>
                    <a:pt x="636" y="372"/>
                  </a:lnTo>
                  <a:lnTo>
                    <a:pt x="635" y="369"/>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72" name="Freeform 3886" descr="Icon of magnifying glass to represent search. ">
              <a:extLst>
                <a:ext uri="{FF2B5EF4-FFF2-40B4-BE49-F238E27FC236}">
                  <a16:creationId xmlns:a16="http://schemas.microsoft.com/office/drawing/2014/main" xmlns="" id="{EC8E95A8-22FE-44FA-B5A6-2AA2D47A5BB3}"/>
                </a:ext>
              </a:extLst>
            </p:cNvPr>
            <p:cNvSpPr>
              <a:spLocks noEditPoints="1"/>
            </p:cNvSpPr>
            <p:nvPr/>
          </p:nvSpPr>
          <p:spPr bwMode="auto">
            <a:xfrm>
              <a:off x="6098750" y="3935111"/>
              <a:ext cx="382447" cy="380334"/>
            </a:xfrm>
            <a:custGeom>
              <a:avLst/>
              <a:gdLst>
                <a:gd name="T0" fmla="*/ 268 w 902"/>
                <a:gd name="T1" fmla="*/ 575 h 901"/>
                <a:gd name="T2" fmla="*/ 207 w 902"/>
                <a:gd name="T3" fmla="*/ 555 h 901"/>
                <a:gd name="T4" fmla="*/ 155 w 902"/>
                <a:gd name="T5" fmla="*/ 520 h 901"/>
                <a:gd name="T6" fmla="*/ 112 w 902"/>
                <a:gd name="T7" fmla="*/ 475 h 901"/>
                <a:gd name="T8" fmla="*/ 81 w 902"/>
                <a:gd name="T9" fmla="*/ 422 h 901"/>
                <a:gd name="T10" fmla="*/ 64 w 902"/>
                <a:gd name="T11" fmla="*/ 360 h 901"/>
                <a:gd name="T12" fmla="*/ 61 w 902"/>
                <a:gd name="T13" fmla="*/ 294 h 901"/>
                <a:gd name="T14" fmla="*/ 76 w 902"/>
                <a:gd name="T15" fmla="*/ 231 h 901"/>
                <a:gd name="T16" fmla="*/ 104 w 902"/>
                <a:gd name="T17" fmla="*/ 175 h 901"/>
                <a:gd name="T18" fmla="*/ 145 w 902"/>
                <a:gd name="T19" fmla="*/ 128 h 901"/>
                <a:gd name="T20" fmla="*/ 197 w 902"/>
                <a:gd name="T21" fmla="*/ 92 h 901"/>
                <a:gd name="T22" fmla="*/ 256 w 902"/>
                <a:gd name="T23" fmla="*/ 69 h 901"/>
                <a:gd name="T24" fmla="*/ 320 w 902"/>
                <a:gd name="T25" fmla="*/ 60 h 901"/>
                <a:gd name="T26" fmla="*/ 385 w 902"/>
                <a:gd name="T27" fmla="*/ 69 h 901"/>
                <a:gd name="T28" fmla="*/ 444 w 902"/>
                <a:gd name="T29" fmla="*/ 92 h 901"/>
                <a:gd name="T30" fmla="*/ 495 w 902"/>
                <a:gd name="T31" fmla="*/ 128 h 901"/>
                <a:gd name="T32" fmla="*/ 537 w 902"/>
                <a:gd name="T33" fmla="*/ 175 h 901"/>
                <a:gd name="T34" fmla="*/ 564 w 902"/>
                <a:gd name="T35" fmla="*/ 231 h 901"/>
                <a:gd name="T36" fmla="*/ 579 w 902"/>
                <a:gd name="T37" fmla="*/ 294 h 901"/>
                <a:gd name="T38" fmla="*/ 577 w 902"/>
                <a:gd name="T39" fmla="*/ 360 h 901"/>
                <a:gd name="T40" fmla="*/ 560 w 902"/>
                <a:gd name="T41" fmla="*/ 422 h 901"/>
                <a:gd name="T42" fmla="*/ 529 w 902"/>
                <a:gd name="T43" fmla="*/ 475 h 901"/>
                <a:gd name="T44" fmla="*/ 486 w 902"/>
                <a:gd name="T45" fmla="*/ 520 h 901"/>
                <a:gd name="T46" fmla="*/ 432 w 902"/>
                <a:gd name="T47" fmla="*/ 555 h 901"/>
                <a:gd name="T48" fmla="*/ 372 w 902"/>
                <a:gd name="T49" fmla="*/ 575 h 901"/>
                <a:gd name="T50" fmla="*/ 320 w 902"/>
                <a:gd name="T51" fmla="*/ 580 h 901"/>
                <a:gd name="T52" fmla="*/ 591 w 902"/>
                <a:gd name="T53" fmla="*/ 491 h 901"/>
                <a:gd name="T54" fmla="*/ 621 w 902"/>
                <a:gd name="T55" fmla="*/ 430 h 901"/>
                <a:gd name="T56" fmla="*/ 637 w 902"/>
                <a:gd name="T57" fmla="*/ 363 h 901"/>
                <a:gd name="T58" fmla="*/ 638 w 902"/>
                <a:gd name="T59" fmla="*/ 288 h 901"/>
                <a:gd name="T60" fmla="*/ 621 w 902"/>
                <a:gd name="T61" fmla="*/ 211 h 901"/>
                <a:gd name="T62" fmla="*/ 586 w 902"/>
                <a:gd name="T63" fmla="*/ 142 h 901"/>
                <a:gd name="T64" fmla="*/ 535 w 902"/>
                <a:gd name="T65" fmla="*/ 83 h 901"/>
                <a:gd name="T66" fmla="*/ 473 w 902"/>
                <a:gd name="T67" fmla="*/ 39 h 901"/>
                <a:gd name="T68" fmla="*/ 400 w 902"/>
                <a:gd name="T69" fmla="*/ 10 h 901"/>
                <a:gd name="T70" fmla="*/ 320 w 902"/>
                <a:gd name="T71" fmla="*/ 0 h 901"/>
                <a:gd name="T72" fmla="*/ 241 w 902"/>
                <a:gd name="T73" fmla="*/ 10 h 901"/>
                <a:gd name="T74" fmla="*/ 168 w 902"/>
                <a:gd name="T75" fmla="*/ 39 h 901"/>
                <a:gd name="T76" fmla="*/ 105 w 902"/>
                <a:gd name="T77" fmla="*/ 83 h 901"/>
                <a:gd name="T78" fmla="*/ 55 w 902"/>
                <a:gd name="T79" fmla="*/ 142 h 901"/>
                <a:gd name="T80" fmla="*/ 20 w 902"/>
                <a:gd name="T81" fmla="*/ 211 h 901"/>
                <a:gd name="T82" fmla="*/ 1 w 902"/>
                <a:gd name="T83" fmla="*/ 288 h 901"/>
                <a:gd name="T84" fmla="*/ 3 w 902"/>
                <a:gd name="T85" fmla="*/ 369 h 901"/>
                <a:gd name="T86" fmla="*/ 25 w 902"/>
                <a:gd name="T87" fmla="*/ 445 h 901"/>
                <a:gd name="T88" fmla="*/ 64 w 902"/>
                <a:gd name="T89" fmla="*/ 512 h 901"/>
                <a:gd name="T90" fmla="*/ 117 w 902"/>
                <a:gd name="T91" fmla="*/ 568 h 901"/>
                <a:gd name="T92" fmla="*/ 182 w 902"/>
                <a:gd name="T93" fmla="*/ 608 h 901"/>
                <a:gd name="T94" fmla="*/ 256 w 902"/>
                <a:gd name="T95" fmla="*/ 634 h 901"/>
                <a:gd name="T96" fmla="*/ 335 w 902"/>
                <a:gd name="T97" fmla="*/ 641 h 901"/>
                <a:gd name="T98" fmla="*/ 405 w 902"/>
                <a:gd name="T99" fmla="*/ 630 h 901"/>
                <a:gd name="T100" fmla="*/ 468 w 902"/>
                <a:gd name="T101" fmla="*/ 604 h 901"/>
                <a:gd name="T102" fmla="*/ 525 w 902"/>
                <a:gd name="T103" fmla="*/ 567 h 901"/>
                <a:gd name="T104" fmla="*/ 871 w 902"/>
                <a:gd name="T105" fmla="*/ 901 h 901"/>
                <a:gd name="T106" fmla="*/ 897 w 902"/>
                <a:gd name="T107" fmla="*/ 888 h 901"/>
                <a:gd name="T108" fmla="*/ 899 w 902"/>
                <a:gd name="T109" fmla="*/ 86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2" h="901">
                  <a:moveTo>
                    <a:pt x="320" y="580"/>
                  </a:moveTo>
                  <a:lnTo>
                    <a:pt x="307" y="580"/>
                  </a:lnTo>
                  <a:lnTo>
                    <a:pt x="294" y="579"/>
                  </a:lnTo>
                  <a:lnTo>
                    <a:pt x="281" y="577"/>
                  </a:lnTo>
                  <a:lnTo>
                    <a:pt x="268" y="575"/>
                  </a:lnTo>
                  <a:lnTo>
                    <a:pt x="256" y="572"/>
                  </a:lnTo>
                  <a:lnTo>
                    <a:pt x="243" y="569"/>
                  </a:lnTo>
                  <a:lnTo>
                    <a:pt x="231" y="564"/>
                  </a:lnTo>
                  <a:lnTo>
                    <a:pt x="219" y="560"/>
                  </a:lnTo>
                  <a:lnTo>
                    <a:pt x="207" y="555"/>
                  </a:lnTo>
                  <a:lnTo>
                    <a:pt x="197" y="549"/>
                  </a:lnTo>
                  <a:lnTo>
                    <a:pt x="186" y="543"/>
                  </a:lnTo>
                  <a:lnTo>
                    <a:pt x="175" y="535"/>
                  </a:lnTo>
                  <a:lnTo>
                    <a:pt x="164" y="529"/>
                  </a:lnTo>
                  <a:lnTo>
                    <a:pt x="155" y="520"/>
                  </a:lnTo>
                  <a:lnTo>
                    <a:pt x="145" y="513"/>
                  </a:lnTo>
                  <a:lnTo>
                    <a:pt x="136" y="504"/>
                  </a:lnTo>
                  <a:lnTo>
                    <a:pt x="128" y="495"/>
                  </a:lnTo>
                  <a:lnTo>
                    <a:pt x="119" y="486"/>
                  </a:lnTo>
                  <a:lnTo>
                    <a:pt x="112" y="475"/>
                  </a:lnTo>
                  <a:lnTo>
                    <a:pt x="104" y="466"/>
                  </a:lnTo>
                  <a:lnTo>
                    <a:pt x="98" y="455"/>
                  </a:lnTo>
                  <a:lnTo>
                    <a:pt x="91" y="444"/>
                  </a:lnTo>
                  <a:lnTo>
                    <a:pt x="86" y="432"/>
                  </a:lnTo>
                  <a:lnTo>
                    <a:pt x="81" y="422"/>
                  </a:lnTo>
                  <a:lnTo>
                    <a:pt x="76" y="410"/>
                  </a:lnTo>
                  <a:lnTo>
                    <a:pt x="72" y="397"/>
                  </a:lnTo>
                  <a:lnTo>
                    <a:pt x="69" y="385"/>
                  </a:lnTo>
                  <a:lnTo>
                    <a:pt x="66" y="372"/>
                  </a:lnTo>
                  <a:lnTo>
                    <a:pt x="64" y="360"/>
                  </a:lnTo>
                  <a:lnTo>
                    <a:pt x="61" y="347"/>
                  </a:lnTo>
                  <a:lnTo>
                    <a:pt x="60" y="334"/>
                  </a:lnTo>
                  <a:lnTo>
                    <a:pt x="60" y="320"/>
                  </a:lnTo>
                  <a:lnTo>
                    <a:pt x="60" y="307"/>
                  </a:lnTo>
                  <a:lnTo>
                    <a:pt x="61" y="294"/>
                  </a:lnTo>
                  <a:lnTo>
                    <a:pt x="64" y="281"/>
                  </a:lnTo>
                  <a:lnTo>
                    <a:pt x="66" y="268"/>
                  </a:lnTo>
                  <a:lnTo>
                    <a:pt x="69" y="256"/>
                  </a:lnTo>
                  <a:lnTo>
                    <a:pt x="72" y="243"/>
                  </a:lnTo>
                  <a:lnTo>
                    <a:pt x="76" y="231"/>
                  </a:lnTo>
                  <a:lnTo>
                    <a:pt x="81" y="219"/>
                  </a:lnTo>
                  <a:lnTo>
                    <a:pt x="86" y="207"/>
                  </a:lnTo>
                  <a:lnTo>
                    <a:pt x="91" y="197"/>
                  </a:lnTo>
                  <a:lnTo>
                    <a:pt x="98" y="186"/>
                  </a:lnTo>
                  <a:lnTo>
                    <a:pt x="104" y="175"/>
                  </a:lnTo>
                  <a:lnTo>
                    <a:pt x="112" y="164"/>
                  </a:lnTo>
                  <a:lnTo>
                    <a:pt x="119" y="155"/>
                  </a:lnTo>
                  <a:lnTo>
                    <a:pt x="128" y="145"/>
                  </a:lnTo>
                  <a:lnTo>
                    <a:pt x="136" y="137"/>
                  </a:lnTo>
                  <a:lnTo>
                    <a:pt x="145" y="128"/>
                  </a:lnTo>
                  <a:lnTo>
                    <a:pt x="155" y="119"/>
                  </a:lnTo>
                  <a:lnTo>
                    <a:pt x="164" y="112"/>
                  </a:lnTo>
                  <a:lnTo>
                    <a:pt x="175" y="104"/>
                  </a:lnTo>
                  <a:lnTo>
                    <a:pt x="186" y="98"/>
                  </a:lnTo>
                  <a:lnTo>
                    <a:pt x="197" y="92"/>
                  </a:lnTo>
                  <a:lnTo>
                    <a:pt x="207" y="86"/>
                  </a:lnTo>
                  <a:lnTo>
                    <a:pt x="219" y="81"/>
                  </a:lnTo>
                  <a:lnTo>
                    <a:pt x="231" y="77"/>
                  </a:lnTo>
                  <a:lnTo>
                    <a:pt x="243" y="72"/>
                  </a:lnTo>
                  <a:lnTo>
                    <a:pt x="256" y="69"/>
                  </a:lnTo>
                  <a:lnTo>
                    <a:pt x="268" y="66"/>
                  </a:lnTo>
                  <a:lnTo>
                    <a:pt x="281" y="64"/>
                  </a:lnTo>
                  <a:lnTo>
                    <a:pt x="294" y="61"/>
                  </a:lnTo>
                  <a:lnTo>
                    <a:pt x="307" y="60"/>
                  </a:lnTo>
                  <a:lnTo>
                    <a:pt x="320" y="60"/>
                  </a:lnTo>
                  <a:lnTo>
                    <a:pt x="334" y="60"/>
                  </a:lnTo>
                  <a:lnTo>
                    <a:pt x="347" y="61"/>
                  </a:lnTo>
                  <a:lnTo>
                    <a:pt x="360" y="64"/>
                  </a:lnTo>
                  <a:lnTo>
                    <a:pt x="372" y="66"/>
                  </a:lnTo>
                  <a:lnTo>
                    <a:pt x="385" y="69"/>
                  </a:lnTo>
                  <a:lnTo>
                    <a:pt x="397" y="72"/>
                  </a:lnTo>
                  <a:lnTo>
                    <a:pt x="410" y="77"/>
                  </a:lnTo>
                  <a:lnTo>
                    <a:pt x="422" y="81"/>
                  </a:lnTo>
                  <a:lnTo>
                    <a:pt x="432" y="86"/>
                  </a:lnTo>
                  <a:lnTo>
                    <a:pt x="444" y="92"/>
                  </a:lnTo>
                  <a:lnTo>
                    <a:pt x="455" y="98"/>
                  </a:lnTo>
                  <a:lnTo>
                    <a:pt x="466" y="104"/>
                  </a:lnTo>
                  <a:lnTo>
                    <a:pt x="475" y="112"/>
                  </a:lnTo>
                  <a:lnTo>
                    <a:pt x="486" y="119"/>
                  </a:lnTo>
                  <a:lnTo>
                    <a:pt x="495" y="128"/>
                  </a:lnTo>
                  <a:lnTo>
                    <a:pt x="504" y="137"/>
                  </a:lnTo>
                  <a:lnTo>
                    <a:pt x="513" y="145"/>
                  </a:lnTo>
                  <a:lnTo>
                    <a:pt x="522" y="155"/>
                  </a:lnTo>
                  <a:lnTo>
                    <a:pt x="529" y="164"/>
                  </a:lnTo>
                  <a:lnTo>
                    <a:pt x="537" y="175"/>
                  </a:lnTo>
                  <a:lnTo>
                    <a:pt x="543" y="186"/>
                  </a:lnTo>
                  <a:lnTo>
                    <a:pt x="549" y="197"/>
                  </a:lnTo>
                  <a:lnTo>
                    <a:pt x="555" y="207"/>
                  </a:lnTo>
                  <a:lnTo>
                    <a:pt x="560" y="219"/>
                  </a:lnTo>
                  <a:lnTo>
                    <a:pt x="564" y="231"/>
                  </a:lnTo>
                  <a:lnTo>
                    <a:pt x="569" y="243"/>
                  </a:lnTo>
                  <a:lnTo>
                    <a:pt x="572" y="256"/>
                  </a:lnTo>
                  <a:lnTo>
                    <a:pt x="575" y="268"/>
                  </a:lnTo>
                  <a:lnTo>
                    <a:pt x="577" y="281"/>
                  </a:lnTo>
                  <a:lnTo>
                    <a:pt x="579" y="294"/>
                  </a:lnTo>
                  <a:lnTo>
                    <a:pt x="580" y="307"/>
                  </a:lnTo>
                  <a:lnTo>
                    <a:pt x="580" y="320"/>
                  </a:lnTo>
                  <a:lnTo>
                    <a:pt x="580" y="334"/>
                  </a:lnTo>
                  <a:lnTo>
                    <a:pt x="579" y="347"/>
                  </a:lnTo>
                  <a:lnTo>
                    <a:pt x="577" y="360"/>
                  </a:lnTo>
                  <a:lnTo>
                    <a:pt x="575" y="372"/>
                  </a:lnTo>
                  <a:lnTo>
                    <a:pt x="572" y="385"/>
                  </a:lnTo>
                  <a:lnTo>
                    <a:pt x="569" y="397"/>
                  </a:lnTo>
                  <a:lnTo>
                    <a:pt x="564" y="410"/>
                  </a:lnTo>
                  <a:lnTo>
                    <a:pt x="560" y="422"/>
                  </a:lnTo>
                  <a:lnTo>
                    <a:pt x="555" y="432"/>
                  </a:lnTo>
                  <a:lnTo>
                    <a:pt x="549" y="444"/>
                  </a:lnTo>
                  <a:lnTo>
                    <a:pt x="543" y="455"/>
                  </a:lnTo>
                  <a:lnTo>
                    <a:pt x="537" y="466"/>
                  </a:lnTo>
                  <a:lnTo>
                    <a:pt x="529" y="475"/>
                  </a:lnTo>
                  <a:lnTo>
                    <a:pt x="522" y="486"/>
                  </a:lnTo>
                  <a:lnTo>
                    <a:pt x="513" y="495"/>
                  </a:lnTo>
                  <a:lnTo>
                    <a:pt x="504" y="504"/>
                  </a:lnTo>
                  <a:lnTo>
                    <a:pt x="495" y="513"/>
                  </a:lnTo>
                  <a:lnTo>
                    <a:pt x="486" y="520"/>
                  </a:lnTo>
                  <a:lnTo>
                    <a:pt x="475" y="529"/>
                  </a:lnTo>
                  <a:lnTo>
                    <a:pt x="466" y="535"/>
                  </a:lnTo>
                  <a:lnTo>
                    <a:pt x="455" y="543"/>
                  </a:lnTo>
                  <a:lnTo>
                    <a:pt x="444" y="549"/>
                  </a:lnTo>
                  <a:lnTo>
                    <a:pt x="432" y="555"/>
                  </a:lnTo>
                  <a:lnTo>
                    <a:pt x="422" y="560"/>
                  </a:lnTo>
                  <a:lnTo>
                    <a:pt x="410" y="564"/>
                  </a:lnTo>
                  <a:lnTo>
                    <a:pt x="397" y="569"/>
                  </a:lnTo>
                  <a:lnTo>
                    <a:pt x="385" y="572"/>
                  </a:lnTo>
                  <a:lnTo>
                    <a:pt x="372" y="575"/>
                  </a:lnTo>
                  <a:lnTo>
                    <a:pt x="360" y="577"/>
                  </a:lnTo>
                  <a:lnTo>
                    <a:pt x="347" y="579"/>
                  </a:lnTo>
                  <a:lnTo>
                    <a:pt x="334" y="580"/>
                  </a:lnTo>
                  <a:lnTo>
                    <a:pt x="320" y="580"/>
                  </a:lnTo>
                  <a:lnTo>
                    <a:pt x="320" y="580"/>
                  </a:lnTo>
                  <a:close/>
                  <a:moveTo>
                    <a:pt x="893" y="851"/>
                  </a:moveTo>
                  <a:lnTo>
                    <a:pt x="567" y="525"/>
                  </a:lnTo>
                  <a:lnTo>
                    <a:pt x="575" y="514"/>
                  </a:lnTo>
                  <a:lnTo>
                    <a:pt x="584" y="503"/>
                  </a:lnTo>
                  <a:lnTo>
                    <a:pt x="591" y="491"/>
                  </a:lnTo>
                  <a:lnTo>
                    <a:pt x="598" y="480"/>
                  </a:lnTo>
                  <a:lnTo>
                    <a:pt x="604" y="468"/>
                  </a:lnTo>
                  <a:lnTo>
                    <a:pt x="611" y="456"/>
                  </a:lnTo>
                  <a:lnTo>
                    <a:pt x="616" y="443"/>
                  </a:lnTo>
                  <a:lnTo>
                    <a:pt x="621" y="430"/>
                  </a:lnTo>
                  <a:lnTo>
                    <a:pt x="626" y="417"/>
                  </a:lnTo>
                  <a:lnTo>
                    <a:pt x="630" y="405"/>
                  </a:lnTo>
                  <a:lnTo>
                    <a:pt x="633" y="391"/>
                  </a:lnTo>
                  <a:lnTo>
                    <a:pt x="635" y="377"/>
                  </a:lnTo>
                  <a:lnTo>
                    <a:pt x="637" y="363"/>
                  </a:lnTo>
                  <a:lnTo>
                    <a:pt x="639" y="349"/>
                  </a:lnTo>
                  <a:lnTo>
                    <a:pt x="641" y="335"/>
                  </a:lnTo>
                  <a:lnTo>
                    <a:pt x="641" y="320"/>
                  </a:lnTo>
                  <a:lnTo>
                    <a:pt x="641" y="304"/>
                  </a:lnTo>
                  <a:lnTo>
                    <a:pt x="638" y="288"/>
                  </a:lnTo>
                  <a:lnTo>
                    <a:pt x="637" y="272"/>
                  </a:lnTo>
                  <a:lnTo>
                    <a:pt x="634" y="256"/>
                  </a:lnTo>
                  <a:lnTo>
                    <a:pt x="631" y="241"/>
                  </a:lnTo>
                  <a:lnTo>
                    <a:pt x="627" y="226"/>
                  </a:lnTo>
                  <a:lnTo>
                    <a:pt x="621" y="211"/>
                  </a:lnTo>
                  <a:lnTo>
                    <a:pt x="616" y="196"/>
                  </a:lnTo>
                  <a:lnTo>
                    <a:pt x="609" y="182"/>
                  </a:lnTo>
                  <a:lnTo>
                    <a:pt x="602" y="168"/>
                  </a:lnTo>
                  <a:lnTo>
                    <a:pt x="594" y="155"/>
                  </a:lnTo>
                  <a:lnTo>
                    <a:pt x="586" y="142"/>
                  </a:lnTo>
                  <a:lnTo>
                    <a:pt x="577" y="129"/>
                  </a:lnTo>
                  <a:lnTo>
                    <a:pt x="568" y="117"/>
                  </a:lnTo>
                  <a:lnTo>
                    <a:pt x="557" y="105"/>
                  </a:lnTo>
                  <a:lnTo>
                    <a:pt x="546" y="94"/>
                  </a:lnTo>
                  <a:lnTo>
                    <a:pt x="535" y="83"/>
                  </a:lnTo>
                  <a:lnTo>
                    <a:pt x="524" y="73"/>
                  </a:lnTo>
                  <a:lnTo>
                    <a:pt x="512" y="64"/>
                  </a:lnTo>
                  <a:lnTo>
                    <a:pt x="499" y="55"/>
                  </a:lnTo>
                  <a:lnTo>
                    <a:pt x="486" y="46"/>
                  </a:lnTo>
                  <a:lnTo>
                    <a:pt x="473" y="39"/>
                  </a:lnTo>
                  <a:lnTo>
                    <a:pt x="459" y="31"/>
                  </a:lnTo>
                  <a:lnTo>
                    <a:pt x="445" y="25"/>
                  </a:lnTo>
                  <a:lnTo>
                    <a:pt x="430" y="20"/>
                  </a:lnTo>
                  <a:lnTo>
                    <a:pt x="415" y="14"/>
                  </a:lnTo>
                  <a:lnTo>
                    <a:pt x="400" y="10"/>
                  </a:lnTo>
                  <a:lnTo>
                    <a:pt x="385" y="7"/>
                  </a:lnTo>
                  <a:lnTo>
                    <a:pt x="369" y="4"/>
                  </a:lnTo>
                  <a:lnTo>
                    <a:pt x="353" y="1"/>
                  </a:lnTo>
                  <a:lnTo>
                    <a:pt x="337" y="0"/>
                  </a:lnTo>
                  <a:lnTo>
                    <a:pt x="320" y="0"/>
                  </a:lnTo>
                  <a:lnTo>
                    <a:pt x="304" y="0"/>
                  </a:lnTo>
                  <a:lnTo>
                    <a:pt x="288" y="1"/>
                  </a:lnTo>
                  <a:lnTo>
                    <a:pt x="272" y="4"/>
                  </a:lnTo>
                  <a:lnTo>
                    <a:pt x="256" y="7"/>
                  </a:lnTo>
                  <a:lnTo>
                    <a:pt x="241" y="10"/>
                  </a:lnTo>
                  <a:lnTo>
                    <a:pt x="225" y="14"/>
                  </a:lnTo>
                  <a:lnTo>
                    <a:pt x="210" y="20"/>
                  </a:lnTo>
                  <a:lnTo>
                    <a:pt x="195" y="25"/>
                  </a:lnTo>
                  <a:lnTo>
                    <a:pt x="182" y="31"/>
                  </a:lnTo>
                  <a:lnTo>
                    <a:pt x="168" y="39"/>
                  </a:lnTo>
                  <a:lnTo>
                    <a:pt x="155" y="46"/>
                  </a:lnTo>
                  <a:lnTo>
                    <a:pt x="142" y="55"/>
                  </a:lnTo>
                  <a:lnTo>
                    <a:pt x="129" y="64"/>
                  </a:lnTo>
                  <a:lnTo>
                    <a:pt x="117" y="73"/>
                  </a:lnTo>
                  <a:lnTo>
                    <a:pt x="105" y="83"/>
                  </a:lnTo>
                  <a:lnTo>
                    <a:pt x="94" y="94"/>
                  </a:lnTo>
                  <a:lnTo>
                    <a:pt x="84" y="105"/>
                  </a:lnTo>
                  <a:lnTo>
                    <a:pt x="73" y="117"/>
                  </a:lnTo>
                  <a:lnTo>
                    <a:pt x="64" y="129"/>
                  </a:lnTo>
                  <a:lnTo>
                    <a:pt x="55" y="142"/>
                  </a:lnTo>
                  <a:lnTo>
                    <a:pt x="46" y="155"/>
                  </a:lnTo>
                  <a:lnTo>
                    <a:pt x="39" y="168"/>
                  </a:lnTo>
                  <a:lnTo>
                    <a:pt x="31" y="182"/>
                  </a:lnTo>
                  <a:lnTo>
                    <a:pt x="25" y="196"/>
                  </a:lnTo>
                  <a:lnTo>
                    <a:pt x="20" y="211"/>
                  </a:lnTo>
                  <a:lnTo>
                    <a:pt x="14" y="226"/>
                  </a:lnTo>
                  <a:lnTo>
                    <a:pt x="10" y="241"/>
                  </a:lnTo>
                  <a:lnTo>
                    <a:pt x="7" y="256"/>
                  </a:lnTo>
                  <a:lnTo>
                    <a:pt x="3" y="272"/>
                  </a:lnTo>
                  <a:lnTo>
                    <a:pt x="1" y="288"/>
                  </a:lnTo>
                  <a:lnTo>
                    <a:pt x="0" y="304"/>
                  </a:lnTo>
                  <a:lnTo>
                    <a:pt x="0" y="320"/>
                  </a:lnTo>
                  <a:lnTo>
                    <a:pt x="0" y="337"/>
                  </a:lnTo>
                  <a:lnTo>
                    <a:pt x="1" y="353"/>
                  </a:lnTo>
                  <a:lnTo>
                    <a:pt x="3" y="369"/>
                  </a:lnTo>
                  <a:lnTo>
                    <a:pt x="7" y="385"/>
                  </a:lnTo>
                  <a:lnTo>
                    <a:pt x="10" y="400"/>
                  </a:lnTo>
                  <a:lnTo>
                    <a:pt x="14" y="415"/>
                  </a:lnTo>
                  <a:lnTo>
                    <a:pt x="20" y="430"/>
                  </a:lnTo>
                  <a:lnTo>
                    <a:pt x="25" y="445"/>
                  </a:lnTo>
                  <a:lnTo>
                    <a:pt x="31" y="459"/>
                  </a:lnTo>
                  <a:lnTo>
                    <a:pt x="39" y="473"/>
                  </a:lnTo>
                  <a:lnTo>
                    <a:pt x="46" y="486"/>
                  </a:lnTo>
                  <a:lnTo>
                    <a:pt x="55" y="499"/>
                  </a:lnTo>
                  <a:lnTo>
                    <a:pt x="64" y="512"/>
                  </a:lnTo>
                  <a:lnTo>
                    <a:pt x="73" y="524"/>
                  </a:lnTo>
                  <a:lnTo>
                    <a:pt x="84" y="535"/>
                  </a:lnTo>
                  <a:lnTo>
                    <a:pt x="94" y="546"/>
                  </a:lnTo>
                  <a:lnTo>
                    <a:pt x="105" y="557"/>
                  </a:lnTo>
                  <a:lnTo>
                    <a:pt x="117" y="568"/>
                  </a:lnTo>
                  <a:lnTo>
                    <a:pt x="129" y="577"/>
                  </a:lnTo>
                  <a:lnTo>
                    <a:pt x="142" y="586"/>
                  </a:lnTo>
                  <a:lnTo>
                    <a:pt x="155" y="594"/>
                  </a:lnTo>
                  <a:lnTo>
                    <a:pt x="168" y="602"/>
                  </a:lnTo>
                  <a:lnTo>
                    <a:pt x="182" y="608"/>
                  </a:lnTo>
                  <a:lnTo>
                    <a:pt x="195" y="615"/>
                  </a:lnTo>
                  <a:lnTo>
                    <a:pt x="210" y="621"/>
                  </a:lnTo>
                  <a:lnTo>
                    <a:pt x="225" y="627"/>
                  </a:lnTo>
                  <a:lnTo>
                    <a:pt x="241" y="631"/>
                  </a:lnTo>
                  <a:lnTo>
                    <a:pt x="256" y="634"/>
                  </a:lnTo>
                  <a:lnTo>
                    <a:pt x="272" y="637"/>
                  </a:lnTo>
                  <a:lnTo>
                    <a:pt x="288" y="638"/>
                  </a:lnTo>
                  <a:lnTo>
                    <a:pt x="304" y="641"/>
                  </a:lnTo>
                  <a:lnTo>
                    <a:pt x="320" y="641"/>
                  </a:lnTo>
                  <a:lnTo>
                    <a:pt x="335" y="641"/>
                  </a:lnTo>
                  <a:lnTo>
                    <a:pt x="349" y="639"/>
                  </a:lnTo>
                  <a:lnTo>
                    <a:pt x="363" y="637"/>
                  </a:lnTo>
                  <a:lnTo>
                    <a:pt x="377" y="635"/>
                  </a:lnTo>
                  <a:lnTo>
                    <a:pt x="391" y="633"/>
                  </a:lnTo>
                  <a:lnTo>
                    <a:pt x="405" y="630"/>
                  </a:lnTo>
                  <a:lnTo>
                    <a:pt x="417" y="625"/>
                  </a:lnTo>
                  <a:lnTo>
                    <a:pt x="430" y="621"/>
                  </a:lnTo>
                  <a:lnTo>
                    <a:pt x="443" y="616"/>
                  </a:lnTo>
                  <a:lnTo>
                    <a:pt x="456" y="610"/>
                  </a:lnTo>
                  <a:lnTo>
                    <a:pt x="468" y="604"/>
                  </a:lnTo>
                  <a:lnTo>
                    <a:pt x="480" y="598"/>
                  </a:lnTo>
                  <a:lnTo>
                    <a:pt x="491" y="591"/>
                  </a:lnTo>
                  <a:lnTo>
                    <a:pt x="503" y="584"/>
                  </a:lnTo>
                  <a:lnTo>
                    <a:pt x="514" y="575"/>
                  </a:lnTo>
                  <a:lnTo>
                    <a:pt x="525" y="567"/>
                  </a:lnTo>
                  <a:lnTo>
                    <a:pt x="851" y="892"/>
                  </a:lnTo>
                  <a:lnTo>
                    <a:pt x="855" y="897"/>
                  </a:lnTo>
                  <a:lnTo>
                    <a:pt x="860" y="899"/>
                  </a:lnTo>
                  <a:lnTo>
                    <a:pt x="866" y="901"/>
                  </a:lnTo>
                  <a:lnTo>
                    <a:pt x="871" y="901"/>
                  </a:lnTo>
                  <a:lnTo>
                    <a:pt x="878" y="901"/>
                  </a:lnTo>
                  <a:lnTo>
                    <a:pt x="883" y="899"/>
                  </a:lnTo>
                  <a:lnTo>
                    <a:pt x="888" y="897"/>
                  </a:lnTo>
                  <a:lnTo>
                    <a:pt x="893" y="892"/>
                  </a:lnTo>
                  <a:lnTo>
                    <a:pt x="897" y="888"/>
                  </a:lnTo>
                  <a:lnTo>
                    <a:pt x="899" y="883"/>
                  </a:lnTo>
                  <a:lnTo>
                    <a:pt x="901" y="877"/>
                  </a:lnTo>
                  <a:lnTo>
                    <a:pt x="902" y="871"/>
                  </a:lnTo>
                  <a:lnTo>
                    <a:pt x="901" y="866"/>
                  </a:lnTo>
                  <a:lnTo>
                    <a:pt x="899" y="860"/>
                  </a:lnTo>
                  <a:lnTo>
                    <a:pt x="897" y="855"/>
                  </a:lnTo>
                  <a:lnTo>
                    <a:pt x="893" y="851"/>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grpSp>
          <p:nvGrpSpPr>
            <p:cNvPr id="73" name="Group 72" descr="Icon of computer monitors. ">
              <a:extLst>
                <a:ext uri="{FF2B5EF4-FFF2-40B4-BE49-F238E27FC236}">
                  <a16:creationId xmlns:a16="http://schemas.microsoft.com/office/drawing/2014/main" xmlns="" id="{6C60D8E2-BC37-4164-84A8-5B32D836BEC3}"/>
                </a:ext>
              </a:extLst>
            </p:cNvPr>
            <p:cNvGrpSpPr/>
            <p:nvPr/>
          </p:nvGrpSpPr>
          <p:grpSpPr>
            <a:xfrm>
              <a:off x="7508545" y="3934055"/>
              <a:ext cx="382447" cy="382446"/>
              <a:chOff x="879475" y="5100638"/>
              <a:chExt cx="287338" cy="287337"/>
            </a:xfrm>
            <a:solidFill>
              <a:schemeClr val="accent4">
                <a:lumMod val="75000"/>
              </a:schemeClr>
            </a:solidFill>
          </p:grpSpPr>
          <p:sp>
            <p:nvSpPr>
              <p:cNvPr id="74" name="Freeform 1636">
                <a:extLst>
                  <a:ext uri="{FF2B5EF4-FFF2-40B4-BE49-F238E27FC236}">
                    <a16:creationId xmlns:a16="http://schemas.microsoft.com/office/drawing/2014/main" xmlns="" id="{69FF00E7-041A-4CE9-A6E6-F43110659DE0}"/>
                  </a:ext>
                </a:extLst>
              </p:cNvPr>
              <p:cNvSpPr>
                <a:spLocks/>
              </p:cNvSpPr>
              <p:nvPr/>
            </p:nvSpPr>
            <p:spPr bwMode="auto">
              <a:xfrm>
                <a:off x="908050" y="5233988"/>
                <a:ext cx="38100" cy="9525"/>
              </a:xfrm>
              <a:custGeom>
                <a:avLst/>
                <a:gdLst>
                  <a:gd name="T0" fmla="*/ 105 w 121"/>
                  <a:gd name="T1" fmla="*/ 0 h 30"/>
                  <a:gd name="T2" fmla="*/ 15 w 121"/>
                  <a:gd name="T3" fmla="*/ 0 h 30"/>
                  <a:gd name="T4" fmla="*/ 13 w 121"/>
                  <a:gd name="T5" fmla="*/ 0 h 30"/>
                  <a:gd name="T6" fmla="*/ 9 w 121"/>
                  <a:gd name="T7" fmla="*/ 1 h 30"/>
                  <a:gd name="T8" fmla="*/ 7 w 121"/>
                  <a:gd name="T9" fmla="*/ 2 h 30"/>
                  <a:gd name="T10" fmla="*/ 5 w 121"/>
                  <a:gd name="T11" fmla="*/ 4 h 30"/>
                  <a:gd name="T12" fmla="*/ 3 w 121"/>
                  <a:gd name="T13" fmla="*/ 6 h 30"/>
                  <a:gd name="T14" fmla="*/ 2 w 121"/>
                  <a:gd name="T15" fmla="*/ 9 h 30"/>
                  <a:gd name="T16" fmla="*/ 0 w 121"/>
                  <a:gd name="T17" fmla="*/ 12 h 30"/>
                  <a:gd name="T18" fmla="*/ 0 w 121"/>
                  <a:gd name="T19" fmla="*/ 14 h 30"/>
                  <a:gd name="T20" fmla="*/ 0 w 121"/>
                  <a:gd name="T21" fmla="*/ 17 h 30"/>
                  <a:gd name="T22" fmla="*/ 2 w 121"/>
                  <a:gd name="T23" fmla="*/ 21 h 30"/>
                  <a:gd name="T24" fmla="*/ 3 w 121"/>
                  <a:gd name="T25" fmla="*/ 23 h 30"/>
                  <a:gd name="T26" fmla="*/ 5 w 121"/>
                  <a:gd name="T27" fmla="*/ 25 h 30"/>
                  <a:gd name="T28" fmla="*/ 7 w 121"/>
                  <a:gd name="T29" fmla="*/ 27 h 30"/>
                  <a:gd name="T30" fmla="*/ 9 w 121"/>
                  <a:gd name="T31" fmla="*/ 29 h 30"/>
                  <a:gd name="T32" fmla="*/ 13 w 121"/>
                  <a:gd name="T33" fmla="*/ 30 h 30"/>
                  <a:gd name="T34" fmla="*/ 15 w 121"/>
                  <a:gd name="T35" fmla="*/ 30 h 30"/>
                  <a:gd name="T36" fmla="*/ 105 w 121"/>
                  <a:gd name="T37" fmla="*/ 30 h 30"/>
                  <a:gd name="T38" fmla="*/ 109 w 121"/>
                  <a:gd name="T39" fmla="*/ 30 h 30"/>
                  <a:gd name="T40" fmla="*/ 111 w 121"/>
                  <a:gd name="T41" fmla="*/ 29 h 30"/>
                  <a:gd name="T42" fmla="*/ 114 w 121"/>
                  <a:gd name="T43" fmla="*/ 27 h 30"/>
                  <a:gd name="T44" fmla="*/ 117 w 121"/>
                  <a:gd name="T45" fmla="*/ 25 h 30"/>
                  <a:gd name="T46" fmla="*/ 118 w 121"/>
                  <a:gd name="T47" fmla="*/ 23 h 30"/>
                  <a:gd name="T48" fmla="*/ 120 w 121"/>
                  <a:gd name="T49" fmla="*/ 21 h 30"/>
                  <a:gd name="T50" fmla="*/ 121 w 121"/>
                  <a:gd name="T51" fmla="*/ 17 h 30"/>
                  <a:gd name="T52" fmla="*/ 121 w 121"/>
                  <a:gd name="T53" fmla="*/ 14 h 30"/>
                  <a:gd name="T54" fmla="*/ 121 w 121"/>
                  <a:gd name="T55" fmla="*/ 12 h 30"/>
                  <a:gd name="T56" fmla="*/ 120 w 121"/>
                  <a:gd name="T57" fmla="*/ 9 h 30"/>
                  <a:gd name="T58" fmla="*/ 118 w 121"/>
                  <a:gd name="T59" fmla="*/ 6 h 30"/>
                  <a:gd name="T60" fmla="*/ 117 w 121"/>
                  <a:gd name="T61" fmla="*/ 4 h 30"/>
                  <a:gd name="T62" fmla="*/ 114 w 121"/>
                  <a:gd name="T63" fmla="*/ 2 h 30"/>
                  <a:gd name="T64" fmla="*/ 111 w 121"/>
                  <a:gd name="T65" fmla="*/ 1 h 30"/>
                  <a:gd name="T66" fmla="*/ 109 w 121"/>
                  <a:gd name="T67" fmla="*/ 0 h 30"/>
                  <a:gd name="T68" fmla="*/ 105 w 121"/>
                  <a:gd name="T6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30">
                    <a:moveTo>
                      <a:pt x="105" y="0"/>
                    </a:moveTo>
                    <a:lnTo>
                      <a:pt x="15" y="0"/>
                    </a:lnTo>
                    <a:lnTo>
                      <a:pt x="13" y="0"/>
                    </a:lnTo>
                    <a:lnTo>
                      <a:pt x="9" y="1"/>
                    </a:lnTo>
                    <a:lnTo>
                      <a:pt x="7" y="2"/>
                    </a:lnTo>
                    <a:lnTo>
                      <a:pt x="5" y="4"/>
                    </a:lnTo>
                    <a:lnTo>
                      <a:pt x="3" y="6"/>
                    </a:lnTo>
                    <a:lnTo>
                      <a:pt x="2" y="9"/>
                    </a:lnTo>
                    <a:lnTo>
                      <a:pt x="0" y="12"/>
                    </a:lnTo>
                    <a:lnTo>
                      <a:pt x="0" y="14"/>
                    </a:lnTo>
                    <a:lnTo>
                      <a:pt x="0" y="17"/>
                    </a:lnTo>
                    <a:lnTo>
                      <a:pt x="2" y="21"/>
                    </a:lnTo>
                    <a:lnTo>
                      <a:pt x="3" y="23"/>
                    </a:lnTo>
                    <a:lnTo>
                      <a:pt x="5" y="25"/>
                    </a:lnTo>
                    <a:lnTo>
                      <a:pt x="7" y="27"/>
                    </a:lnTo>
                    <a:lnTo>
                      <a:pt x="9" y="29"/>
                    </a:lnTo>
                    <a:lnTo>
                      <a:pt x="13" y="30"/>
                    </a:lnTo>
                    <a:lnTo>
                      <a:pt x="15" y="30"/>
                    </a:lnTo>
                    <a:lnTo>
                      <a:pt x="105" y="30"/>
                    </a:lnTo>
                    <a:lnTo>
                      <a:pt x="109" y="30"/>
                    </a:lnTo>
                    <a:lnTo>
                      <a:pt x="111" y="29"/>
                    </a:lnTo>
                    <a:lnTo>
                      <a:pt x="114" y="27"/>
                    </a:lnTo>
                    <a:lnTo>
                      <a:pt x="117" y="25"/>
                    </a:lnTo>
                    <a:lnTo>
                      <a:pt x="118" y="23"/>
                    </a:lnTo>
                    <a:lnTo>
                      <a:pt x="120" y="21"/>
                    </a:lnTo>
                    <a:lnTo>
                      <a:pt x="121" y="17"/>
                    </a:lnTo>
                    <a:lnTo>
                      <a:pt x="121" y="14"/>
                    </a:lnTo>
                    <a:lnTo>
                      <a:pt x="121" y="12"/>
                    </a:lnTo>
                    <a:lnTo>
                      <a:pt x="120" y="9"/>
                    </a:lnTo>
                    <a:lnTo>
                      <a:pt x="118" y="6"/>
                    </a:lnTo>
                    <a:lnTo>
                      <a:pt x="117" y="4"/>
                    </a:lnTo>
                    <a:lnTo>
                      <a:pt x="114" y="2"/>
                    </a:lnTo>
                    <a:lnTo>
                      <a:pt x="111" y="1"/>
                    </a:lnTo>
                    <a:lnTo>
                      <a:pt x="109" y="0"/>
                    </a:lnTo>
                    <a:lnTo>
                      <a:pt x="10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75" name="Freeform 1637">
                <a:extLst>
                  <a:ext uri="{FF2B5EF4-FFF2-40B4-BE49-F238E27FC236}">
                    <a16:creationId xmlns:a16="http://schemas.microsoft.com/office/drawing/2014/main" xmlns="" id="{81654380-670A-482D-81FB-A4FFEA61023A}"/>
                  </a:ext>
                </a:extLst>
              </p:cNvPr>
              <p:cNvSpPr>
                <a:spLocks/>
              </p:cNvSpPr>
              <p:nvPr/>
            </p:nvSpPr>
            <p:spPr bwMode="auto">
              <a:xfrm>
                <a:off x="879475" y="5100638"/>
                <a:ext cx="153988" cy="85725"/>
              </a:xfrm>
              <a:custGeom>
                <a:avLst/>
                <a:gdLst>
                  <a:gd name="T0" fmla="*/ 482 w 482"/>
                  <a:gd name="T1" fmla="*/ 60 h 271"/>
                  <a:gd name="T2" fmla="*/ 482 w 482"/>
                  <a:gd name="T3" fmla="*/ 54 h 271"/>
                  <a:gd name="T4" fmla="*/ 481 w 482"/>
                  <a:gd name="T5" fmla="*/ 48 h 271"/>
                  <a:gd name="T6" fmla="*/ 480 w 482"/>
                  <a:gd name="T7" fmla="*/ 42 h 271"/>
                  <a:gd name="T8" fmla="*/ 478 w 482"/>
                  <a:gd name="T9" fmla="*/ 37 h 271"/>
                  <a:gd name="T10" fmla="*/ 475 w 482"/>
                  <a:gd name="T11" fmla="*/ 31 h 271"/>
                  <a:gd name="T12" fmla="*/ 472 w 482"/>
                  <a:gd name="T13" fmla="*/ 27 h 271"/>
                  <a:gd name="T14" fmla="*/ 469 w 482"/>
                  <a:gd name="T15" fmla="*/ 22 h 271"/>
                  <a:gd name="T16" fmla="*/ 464 w 482"/>
                  <a:gd name="T17" fmla="*/ 18 h 271"/>
                  <a:gd name="T18" fmla="*/ 460 w 482"/>
                  <a:gd name="T19" fmla="*/ 13 h 271"/>
                  <a:gd name="T20" fmla="*/ 455 w 482"/>
                  <a:gd name="T21" fmla="*/ 10 h 271"/>
                  <a:gd name="T22" fmla="*/ 451 w 482"/>
                  <a:gd name="T23" fmla="*/ 7 h 271"/>
                  <a:gd name="T24" fmla="*/ 445 w 482"/>
                  <a:gd name="T25" fmla="*/ 5 h 271"/>
                  <a:gd name="T26" fmla="*/ 440 w 482"/>
                  <a:gd name="T27" fmla="*/ 2 h 271"/>
                  <a:gd name="T28" fmla="*/ 434 w 482"/>
                  <a:gd name="T29" fmla="*/ 1 h 271"/>
                  <a:gd name="T30" fmla="*/ 428 w 482"/>
                  <a:gd name="T31" fmla="*/ 0 h 271"/>
                  <a:gd name="T32" fmla="*/ 422 w 482"/>
                  <a:gd name="T33" fmla="*/ 0 h 271"/>
                  <a:gd name="T34" fmla="*/ 59 w 482"/>
                  <a:gd name="T35" fmla="*/ 0 h 271"/>
                  <a:gd name="T36" fmla="*/ 54 w 482"/>
                  <a:gd name="T37" fmla="*/ 0 h 271"/>
                  <a:gd name="T38" fmla="*/ 47 w 482"/>
                  <a:gd name="T39" fmla="*/ 1 h 271"/>
                  <a:gd name="T40" fmla="*/ 42 w 482"/>
                  <a:gd name="T41" fmla="*/ 2 h 271"/>
                  <a:gd name="T42" fmla="*/ 36 w 482"/>
                  <a:gd name="T43" fmla="*/ 5 h 271"/>
                  <a:gd name="T44" fmla="*/ 31 w 482"/>
                  <a:gd name="T45" fmla="*/ 7 h 271"/>
                  <a:gd name="T46" fmla="*/ 26 w 482"/>
                  <a:gd name="T47" fmla="*/ 10 h 271"/>
                  <a:gd name="T48" fmla="*/ 22 w 482"/>
                  <a:gd name="T49" fmla="*/ 13 h 271"/>
                  <a:gd name="T50" fmla="*/ 17 w 482"/>
                  <a:gd name="T51" fmla="*/ 18 h 271"/>
                  <a:gd name="T52" fmla="*/ 13 w 482"/>
                  <a:gd name="T53" fmla="*/ 22 h 271"/>
                  <a:gd name="T54" fmla="*/ 10 w 482"/>
                  <a:gd name="T55" fmla="*/ 27 h 271"/>
                  <a:gd name="T56" fmla="*/ 6 w 482"/>
                  <a:gd name="T57" fmla="*/ 31 h 271"/>
                  <a:gd name="T58" fmla="*/ 4 w 482"/>
                  <a:gd name="T59" fmla="*/ 37 h 271"/>
                  <a:gd name="T60" fmla="*/ 2 w 482"/>
                  <a:gd name="T61" fmla="*/ 42 h 271"/>
                  <a:gd name="T62" fmla="*/ 1 w 482"/>
                  <a:gd name="T63" fmla="*/ 48 h 271"/>
                  <a:gd name="T64" fmla="*/ 0 w 482"/>
                  <a:gd name="T65" fmla="*/ 54 h 271"/>
                  <a:gd name="T66" fmla="*/ 0 w 482"/>
                  <a:gd name="T67" fmla="*/ 60 h 271"/>
                  <a:gd name="T68" fmla="*/ 0 w 482"/>
                  <a:gd name="T69" fmla="*/ 271 h 271"/>
                  <a:gd name="T70" fmla="*/ 482 w 482"/>
                  <a:gd name="T71" fmla="*/ 271 h 271"/>
                  <a:gd name="T72" fmla="*/ 482 w 482"/>
                  <a:gd name="T73" fmla="*/ 6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2" h="271">
                    <a:moveTo>
                      <a:pt x="482" y="60"/>
                    </a:moveTo>
                    <a:lnTo>
                      <a:pt x="482" y="54"/>
                    </a:lnTo>
                    <a:lnTo>
                      <a:pt x="481" y="48"/>
                    </a:lnTo>
                    <a:lnTo>
                      <a:pt x="480" y="42"/>
                    </a:lnTo>
                    <a:lnTo>
                      <a:pt x="478" y="37"/>
                    </a:lnTo>
                    <a:lnTo>
                      <a:pt x="475" y="31"/>
                    </a:lnTo>
                    <a:lnTo>
                      <a:pt x="472" y="27"/>
                    </a:lnTo>
                    <a:lnTo>
                      <a:pt x="469" y="22"/>
                    </a:lnTo>
                    <a:lnTo>
                      <a:pt x="464" y="18"/>
                    </a:lnTo>
                    <a:lnTo>
                      <a:pt x="460" y="13"/>
                    </a:lnTo>
                    <a:lnTo>
                      <a:pt x="455" y="10"/>
                    </a:lnTo>
                    <a:lnTo>
                      <a:pt x="451" y="7"/>
                    </a:lnTo>
                    <a:lnTo>
                      <a:pt x="445" y="5"/>
                    </a:lnTo>
                    <a:lnTo>
                      <a:pt x="440" y="2"/>
                    </a:lnTo>
                    <a:lnTo>
                      <a:pt x="434" y="1"/>
                    </a:lnTo>
                    <a:lnTo>
                      <a:pt x="428" y="0"/>
                    </a:lnTo>
                    <a:lnTo>
                      <a:pt x="422" y="0"/>
                    </a:lnTo>
                    <a:lnTo>
                      <a:pt x="59" y="0"/>
                    </a:lnTo>
                    <a:lnTo>
                      <a:pt x="54" y="0"/>
                    </a:lnTo>
                    <a:lnTo>
                      <a:pt x="47" y="1"/>
                    </a:lnTo>
                    <a:lnTo>
                      <a:pt x="42" y="2"/>
                    </a:lnTo>
                    <a:lnTo>
                      <a:pt x="36" y="5"/>
                    </a:lnTo>
                    <a:lnTo>
                      <a:pt x="31" y="7"/>
                    </a:lnTo>
                    <a:lnTo>
                      <a:pt x="26" y="10"/>
                    </a:lnTo>
                    <a:lnTo>
                      <a:pt x="22" y="13"/>
                    </a:lnTo>
                    <a:lnTo>
                      <a:pt x="17" y="18"/>
                    </a:lnTo>
                    <a:lnTo>
                      <a:pt x="13" y="22"/>
                    </a:lnTo>
                    <a:lnTo>
                      <a:pt x="10" y="27"/>
                    </a:lnTo>
                    <a:lnTo>
                      <a:pt x="6" y="31"/>
                    </a:lnTo>
                    <a:lnTo>
                      <a:pt x="4" y="37"/>
                    </a:lnTo>
                    <a:lnTo>
                      <a:pt x="2" y="42"/>
                    </a:lnTo>
                    <a:lnTo>
                      <a:pt x="1" y="48"/>
                    </a:lnTo>
                    <a:lnTo>
                      <a:pt x="0" y="54"/>
                    </a:lnTo>
                    <a:lnTo>
                      <a:pt x="0" y="60"/>
                    </a:lnTo>
                    <a:lnTo>
                      <a:pt x="0" y="271"/>
                    </a:lnTo>
                    <a:lnTo>
                      <a:pt x="482" y="271"/>
                    </a:lnTo>
                    <a:lnTo>
                      <a:pt x="48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76" name="Freeform 1638">
                <a:extLst>
                  <a:ext uri="{FF2B5EF4-FFF2-40B4-BE49-F238E27FC236}">
                    <a16:creationId xmlns:a16="http://schemas.microsoft.com/office/drawing/2014/main" xmlns="" id="{FB01E3B0-9770-4D5C-9138-8D07EBC83D72}"/>
                  </a:ext>
                </a:extLst>
              </p:cNvPr>
              <p:cNvSpPr>
                <a:spLocks/>
              </p:cNvSpPr>
              <p:nvPr/>
            </p:nvSpPr>
            <p:spPr bwMode="auto">
              <a:xfrm>
                <a:off x="879475" y="5195888"/>
                <a:ext cx="153988" cy="19050"/>
              </a:xfrm>
              <a:custGeom>
                <a:avLst/>
                <a:gdLst>
                  <a:gd name="T0" fmla="*/ 361 w 482"/>
                  <a:gd name="T1" fmla="*/ 30 h 60"/>
                  <a:gd name="T2" fmla="*/ 424 w 482"/>
                  <a:gd name="T3" fmla="*/ 30 h 60"/>
                  <a:gd name="T4" fmla="*/ 475 w 482"/>
                  <a:gd name="T5" fmla="*/ 30 h 60"/>
                  <a:gd name="T6" fmla="*/ 478 w 482"/>
                  <a:gd name="T7" fmla="*/ 23 h 60"/>
                  <a:gd name="T8" fmla="*/ 481 w 482"/>
                  <a:gd name="T9" fmla="*/ 17 h 60"/>
                  <a:gd name="T10" fmla="*/ 482 w 482"/>
                  <a:gd name="T11" fmla="*/ 9 h 60"/>
                  <a:gd name="T12" fmla="*/ 482 w 482"/>
                  <a:gd name="T13" fmla="*/ 2 h 60"/>
                  <a:gd name="T14" fmla="*/ 482 w 482"/>
                  <a:gd name="T15" fmla="*/ 0 h 60"/>
                  <a:gd name="T16" fmla="*/ 0 w 482"/>
                  <a:gd name="T17" fmla="*/ 0 h 60"/>
                  <a:gd name="T18" fmla="*/ 0 w 482"/>
                  <a:gd name="T19" fmla="*/ 6 h 60"/>
                  <a:gd name="T20" fmla="*/ 1 w 482"/>
                  <a:gd name="T21" fmla="*/ 11 h 60"/>
                  <a:gd name="T22" fmla="*/ 2 w 482"/>
                  <a:gd name="T23" fmla="*/ 18 h 60"/>
                  <a:gd name="T24" fmla="*/ 4 w 482"/>
                  <a:gd name="T25" fmla="*/ 23 h 60"/>
                  <a:gd name="T26" fmla="*/ 6 w 482"/>
                  <a:gd name="T27" fmla="*/ 28 h 60"/>
                  <a:gd name="T28" fmla="*/ 10 w 482"/>
                  <a:gd name="T29" fmla="*/ 33 h 60"/>
                  <a:gd name="T30" fmla="*/ 13 w 482"/>
                  <a:gd name="T31" fmla="*/ 38 h 60"/>
                  <a:gd name="T32" fmla="*/ 17 w 482"/>
                  <a:gd name="T33" fmla="*/ 42 h 60"/>
                  <a:gd name="T34" fmla="*/ 22 w 482"/>
                  <a:gd name="T35" fmla="*/ 47 h 60"/>
                  <a:gd name="T36" fmla="*/ 26 w 482"/>
                  <a:gd name="T37" fmla="*/ 50 h 60"/>
                  <a:gd name="T38" fmla="*/ 31 w 482"/>
                  <a:gd name="T39" fmla="*/ 53 h 60"/>
                  <a:gd name="T40" fmla="*/ 36 w 482"/>
                  <a:gd name="T41" fmla="*/ 55 h 60"/>
                  <a:gd name="T42" fmla="*/ 42 w 482"/>
                  <a:gd name="T43" fmla="*/ 58 h 60"/>
                  <a:gd name="T44" fmla="*/ 47 w 482"/>
                  <a:gd name="T45" fmla="*/ 59 h 60"/>
                  <a:gd name="T46" fmla="*/ 54 w 482"/>
                  <a:gd name="T47" fmla="*/ 60 h 60"/>
                  <a:gd name="T48" fmla="*/ 59 w 482"/>
                  <a:gd name="T49" fmla="*/ 60 h 60"/>
                  <a:gd name="T50" fmla="*/ 282 w 482"/>
                  <a:gd name="T51" fmla="*/ 60 h 60"/>
                  <a:gd name="T52" fmla="*/ 291 w 482"/>
                  <a:gd name="T53" fmla="*/ 53 h 60"/>
                  <a:gd name="T54" fmla="*/ 299 w 482"/>
                  <a:gd name="T55" fmla="*/ 48 h 60"/>
                  <a:gd name="T56" fmla="*/ 308 w 482"/>
                  <a:gd name="T57" fmla="*/ 42 h 60"/>
                  <a:gd name="T58" fmla="*/ 318 w 482"/>
                  <a:gd name="T59" fmla="*/ 38 h 60"/>
                  <a:gd name="T60" fmla="*/ 328 w 482"/>
                  <a:gd name="T61" fmla="*/ 34 h 60"/>
                  <a:gd name="T62" fmla="*/ 339 w 482"/>
                  <a:gd name="T63" fmla="*/ 32 h 60"/>
                  <a:gd name="T64" fmla="*/ 350 w 482"/>
                  <a:gd name="T65" fmla="*/ 30 h 60"/>
                  <a:gd name="T66" fmla="*/ 361 w 482"/>
                  <a:gd name="T67"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2" h="60">
                    <a:moveTo>
                      <a:pt x="361" y="30"/>
                    </a:moveTo>
                    <a:lnTo>
                      <a:pt x="424" y="30"/>
                    </a:lnTo>
                    <a:lnTo>
                      <a:pt x="475" y="30"/>
                    </a:lnTo>
                    <a:lnTo>
                      <a:pt x="478" y="23"/>
                    </a:lnTo>
                    <a:lnTo>
                      <a:pt x="481" y="17"/>
                    </a:lnTo>
                    <a:lnTo>
                      <a:pt x="482" y="9"/>
                    </a:lnTo>
                    <a:lnTo>
                      <a:pt x="482" y="2"/>
                    </a:lnTo>
                    <a:lnTo>
                      <a:pt x="482" y="0"/>
                    </a:lnTo>
                    <a:lnTo>
                      <a:pt x="0" y="0"/>
                    </a:lnTo>
                    <a:lnTo>
                      <a:pt x="0" y="6"/>
                    </a:lnTo>
                    <a:lnTo>
                      <a:pt x="1" y="11"/>
                    </a:lnTo>
                    <a:lnTo>
                      <a:pt x="2" y="18"/>
                    </a:lnTo>
                    <a:lnTo>
                      <a:pt x="4" y="23"/>
                    </a:lnTo>
                    <a:lnTo>
                      <a:pt x="6" y="28"/>
                    </a:lnTo>
                    <a:lnTo>
                      <a:pt x="10" y="33"/>
                    </a:lnTo>
                    <a:lnTo>
                      <a:pt x="13" y="38"/>
                    </a:lnTo>
                    <a:lnTo>
                      <a:pt x="17" y="42"/>
                    </a:lnTo>
                    <a:lnTo>
                      <a:pt x="22" y="47"/>
                    </a:lnTo>
                    <a:lnTo>
                      <a:pt x="26" y="50"/>
                    </a:lnTo>
                    <a:lnTo>
                      <a:pt x="31" y="53"/>
                    </a:lnTo>
                    <a:lnTo>
                      <a:pt x="36" y="55"/>
                    </a:lnTo>
                    <a:lnTo>
                      <a:pt x="42" y="58"/>
                    </a:lnTo>
                    <a:lnTo>
                      <a:pt x="47" y="59"/>
                    </a:lnTo>
                    <a:lnTo>
                      <a:pt x="54" y="60"/>
                    </a:lnTo>
                    <a:lnTo>
                      <a:pt x="59" y="60"/>
                    </a:lnTo>
                    <a:lnTo>
                      <a:pt x="282" y="60"/>
                    </a:lnTo>
                    <a:lnTo>
                      <a:pt x="291" y="53"/>
                    </a:lnTo>
                    <a:lnTo>
                      <a:pt x="299" y="48"/>
                    </a:lnTo>
                    <a:lnTo>
                      <a:pt x="308" y="42"/>
                    </a:lnTo>
                    <a:lnTo>
                      <a:pt x="318" y="38"/>
                    </a:lnTo>
                    <a:lnTo>
                      <a:pt x="328" y="34"/>
                    </a:lnTo>
                    <a:lnTo>
                      <a:pt x="339" y="32"/>
                    </a:lnTo>
                    <a:lnTo>
                      <a:pt x="350" y="30"/>
                    </a:lnTo>
                    <a:lnTo>
                      <a:pt x="36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77" name="Freeform 1639">
                <a:extLst>
                  <a:ext uri="{FF2B5EF4-FFF2-40B4-BE49-F238E27FC236}">
                    <a16:creationId xmlns:a16="http://schemas.microsoft.com/office/drawing/2014/main" xmlns="" id="{B5E3BED9-C2BD-4A86-AB16-4FB4F8651284}"/>
                  </a:ext>
                </a:extLst>
              </p:cNvPr>
              <p:cNvSpPr>
                <a:spLocks/>
              </p:cNvSpPr>
              <p:nvPr/>
            </p:nvSpPr>
            <p:spPr bwMode="auto">
              <a:xfrm>
                <a:off x="965200" y="5214938"/>
                <a:ext cx="201613" cy="106363"/>
              </a:xfrm>
              <a:custGeom>
                <a:avLst/>
                <a:gdLst>
                  <a:gd name="T0" fmla="*/ 543 w 633"/>
                  <a:gd name="T1" fmla="*/ 0 h 332"/>
                  <a:gd name="T2" fmla="*/ 153 w 633"/>
                  <a:gd name="T3" fmla="*/ 0 h 332"/>
                  <a:gd name="T4" fmla="*/ 90 w 633"/>
                  <a:gd name="T5" fmla="*/ 0 h 332"/>
                  <a:gd name="T6" fmla="*/ 82 w 633"/>
                  <a:gd name="T7" fmla="*/ 1 h 332"/>
                  <a:gd name="T8" fmla="*/ 73 w 633"/>
                  <a:gd name="T9" fmla="*/ 2 h 332"/>
                  <a:gd name="T10" fmla="*/ 64 w 633"/>
                  <a:gd name="T11" fmla="*/ 4 h 332"/>
                  <a:gd name="T12" fmla="*/ 55 w 633"/>
                  <a:gd name="T13" fmla="*/ 8 h 332"/>
                  <a:gd name="T14" fmla="*/ 47 w 633"/>
                  <a:gd name="T15" fmla="*/ 11 h 332"/>
                  <a:gd name="T16" fmla="*/ 40 w 633"/>
                  <a:gd name="T17" fmla="*/ 15 h 332"/>
                  <a:gd name="T18" fmla="*/ 33 w 633"/>
                  <a:gd name="T19" fmla="*/ 21 h 332"/>
                  <a:gd name="T20" fmla="*/ 26 w 633"/>
                  <a:gd name="T21" fmla="*/ 26 h 332"/>
                  <a:gd name="T22" fmla="*/ 21 w 633"/>
                  <a:gd name="T23" fmla="*/ 33 h 332"/>
                  <a:gd name="T24" fmla="*/ 15 w 633"/>
                  <a:gd name="T25" fmla="*/ 40 h 332"/>
                  <a:gd name="T26" fmla="*/ 11 w 633"/>
                  <a:gd name="T27" fmla="*/ 47 h 332"/>
                  <a:gd name="T28" fmla="*/ 7 w 633"/>
                  <a:gd name="T29" fmla="*/ 55 h 332"/>
                  <a:gd name="T30" fmla="*/ 4 w 633"/>
                  <a:gd name="T31" fmla="*/ 64 h 332"/>
                  <a:gd name="T32" fmla="*/ 2 w 633"/>
                  <a:gd name="T33" fmla="*/ 72 h 332"/>
                  <a:gd name="T34" fmla="*/ 1 w 633"/>
                  <a:gd name="T35" fmla="*/ 82 h 332"/>
                  <a:gd name="T36" fmla="*/ 0 w 633"/>
                  <a:gd name="T37" fmla="*/ 91 h 332"/>
                  <a:gd name="T38" fmla="*/ 0 w 633"/>
                  <a:gd name="T39" fmla="*/ 332 h 332"/>
                  <a:gd name="T40" fmla="*/ 633 w 633"/>
                  <a:gd name="T41" fmla="*/ 332 h 332"/>
                  <a:gd name="T42" fmla="*/ 633 w 633"/>
                  <a:gd name="T43" fmla="*/ 91 h 332"/>
                  <a:gd name="T44" fmla="*/ 633 w 633"/>
                  <a:gd name="T45" fmla="*/ 82 h 332"/>
                  <a:gd name="T46" fmla="*/ 632 w 633"/>
                  <a:gd name="T47" fmla="*/ 72 h 332"/>
                  <a:gd name="T48" fmla="*/ 630 w 633"/>
                  <a:gd name="T49" fmla="*/ 64 h 332"/>
                  <a:gd name="T50" fmla="*/ 627 w 633"/>
                  <a:gd name="T51" fmla="*/ 55 h 332"/>
                  <a:gd name="T52" fmla="*/ 622 w 633"/>
                  <a:gd name="T53" fmla="*/ 47 h 332"/>
                  <a:gd name="T54" fmla="*/ 618 w 633"/>
                  <a:gd name="T55" fmla="*/ 40 h 332"/>
                  <a:gd name="T56" fmla="*/ 614 w 633"/>
                  <a:gd name="T57" fmla="*/ 33 h 332"/>
                  <a:gd name="T58" fmla="*/ 607 w 633"/>
                  <a:gd name="T59" fmla="*/ 26 h 332"/>
                  <a:gd name="T60" fmla="*/ 600 w 633"/>
                  <a:gd name="T61" fmla="*/ 21 h 332"/>
                  <a:gd name="T62" fmla="*/ 594 w 633"/>
                  <a:gd name="T63" fmla="*/ 15 h 332"/>
                  <a:gd name="T64" fmla="*/ 586 w 633"/>
                  <a:gd name="T65" fmla="*/ 11 h 332"/>
                  <a:gd name="T66" fmla="*/ 578 w 633"/>
                  <a:gd name="T67" fmla="*/ 8 h 332"/>
                  <a:gd name="T68" fmla="*/ 570 w 633"/>
                  <a:gd name="T69" fmla="*/ 4 h 332"/>
                  <a:gd name="T70" fmla="*/ 562 w 633"/>
                  <a:gd name="T71" fmla="*/ 2 h 332"/>
                  <a:gd name="T72" fmla="*/ 553 w 633"/>
                  <a:gd name="T73" fmla="*/ 1 h 332"/>
                  <a:gd name="T74" fmla="*/ 543 w 633"/>
                  <a:gd name="T75"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3" h="332">
                    <a:moveTo>
                      <a:pt x="543" y="0"/>
                    </a:moveTo>
                    <a:lnTo>
                      <a:pt x="153" y="0"/>
                    </a:lnTo>
                    <a:lnTo>
                      <a:pt x="90" y="0"/>
                    </a:lnTo>
                    <a:lnTo>
                      <a:pt x="82" y="1"/>
                    </a:lnTo>
                    <a:lnTo>
                      <a:pt x="73" y="2"/>
                    </a:lnTo>
                    <a:lnTo>
                      <a:pt x="64" y="4"/>
                    </a:lnTo>
                    <a:lnTo>
                      <a:pt x="55" y="8"/>
                    </a:lnTo>
                    <a:lnTo>
                      <a:pt x="47" y="11"/>
                    </a:lnTo>
                    <a:lnTo>
                      <a:pt x="40" y="15"/>
                    </a:lnTo>
                    <a:lnTo>
                      <a:pt x="33" y="21"/>
                    </a:lnTo>
                    <a:lnTo>
                      <a:pt x="26" y="26"/>
                    </a:lnTo>
                    <a:lnTo>
                      <a:pt x="21" y="33"/>
                    </a:lnTo>
                    <a:lnTo>
                      <a:pt x="15" y="40"/>
                    </a:lnTo>
                    <a:lnTo>
                      <a:pt x="11" y="47"/>
                    </a:lnTo>
                    <a:lnTo>
                      <a:pt x="7" y="55"/>
                    </a:lnTo>
                    <a:lnTo>
                      <a:pt x="4" y="64"/>
                    </a:lnTo>
                    <a:lnTo>
                      <a:pt x="2" y="72"/>
                    </a:lnTo>
                    <a:lnTo>
                      <a:pt x="1" y="82"/>
                    </a:lnTo>
                    <a:lnTo>
                      <a:pt x="0" y="91"/>
                    </a:lnTo>
                    <a:lnTo>
                      <a:pt x="0" y="332"/>
                    </a:lnTo>
                    <a:lnTo>
                      <a:pt x="633" y="332"/>
                    </a:lnTo>
                    <a:lnTo>
                      <a:pt x="633" y="91"/>
                    </a:lnTo>
                    <a:lnTo>
                      <a:pt x="633" y="82"/>
                    </a:lnTo>
                    <a:lnTo>
                      <a:pt x="632" y="72"/>
                    </a:lnTo>
                    <a:lnTo>
                      <a:pt x="630" y="64"/>
                    </a:lnTo>
                    <a:lnTo>
                      <a:pt x="627" y="55"/>
                    </a:lnTo>
                    <a:lnTo>
                      <a:pt x="622" y="47"/>
                    </a:lnTo>
                    <a:lnTo>
                      <a:pt x="618" y="40"/>
                    </a:lnTo>
                    <a:lnTo>
                      <a:pt x="614" y="33"/>
                    </a:lnTo>
                    <a:lnTo>
                      <a:pt x="607" y="26"/>
                    </a:lnTo>
                    <a:lnTo>
                      <a:pt x="600" y="21"/>
                    </a:lnTo>
                    <a:lnTo>
                      <a:pt x="594" y="15"/>
                    </a:lnTo>
                    <a:lnTo>
                      <a:pt x="586" y="11"/>
                    </a:lnTo>
                    <a:lnTo>
                      <a:pt x="578" y="8"/>
                    </a:lnTo>
                    <a:lnTo>
                      <a:pt x="570" y="4"/>
                    </a:lnTo>
                    <a:lnTo>
                      <a:pt x="562" y="2"/>
                    </a:lnTo>
                    <a:lnTo>
                      <a:pt x="553" y="1"/>
                    </a:lnTo>
                    <a:lnTo>
                      <a:pt x="5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sp>
            <p:nvSpPr>
              <p:cNvPr id="78" name="Freeform 1640">
                <a:extLst>
                  <a:ext uri="{FF2B5EF4-FFF2-40B4-BE49-F238E27FC236}">
                    <a16:creationId xmlns:a16="http://schemas.microsoft.com/office/drawing/2014/main" xmlns="" id="{8A8D0C73-A5C6-464E-846B-C5C294BF2272}"/>
                  </a:ext>
                </a:extLst>
              </p:cNvPr>
              <p:cNvSpPr>
                <a:spLocks noEditPoints="1"/>
              </p:cNvSpPr>
              <p:nvPr/>
            </p:nvSpPr>
            <p:spPr bwMode="auto">
              <a:xfrm>
                <a:off x="965200" y="5330825"/>
                <a:ext cx="201613" cy="57150"/>
              </a:xfrm>
              <a:custGeom>
                <a:avLst/>
                <a:gdLst>
                  <a:gd name="T0" fmla="*/ 322 w 633"/>
                  <a:gd name="T1" fmla="*/ 23 h 181"/>
                  <a:gd name="T2" fmla="*/ 329 w 633"/>
                  <a:gd name="T3" fmla="*/ 26 h 181"/>
                  <a:gd name="T4" fmla="*/ 336 w 633"/>
                  <a:gd name="T5" fmla="*/ 33 h 181"/>
                  <a:gd name="T6" fmla="*/ 339 w 633"/>
                  <a:gd name="T7" fmla="*/ 41 h 181"/>
                  <a:gd name="T8" fmla="*/ 339 w 633"/>
                  <a:gd name="T9" fmla="*/ 51 h 181"/>
                  <a:gd name="T10" fmla="*/ 336 w 633"/>
                  <a:gd name="T11" fmla="*/ 58 h 181"/>
                  <a:gd name="T12" fmla="*/ 329 w 633"/>
                  <a:gd name="T13" fmla="*/ 64 h 181"/>
                  <a:gd name="T14" fmla="*/ 322 w 633"/>
                  <a:gd name="T15" fmla="*/ 67 h 181"/>
                  <a:gd name="T16" fmla="*/ 313 w 633"/>
                  <a:gd name="T17" fmla="*/ 67 h 181"/>
                  <a:gd name="T18" fmla="*/ 304 w 633"/>
                  <a:gd name="T19" fmla="*/ 64 h 181"/>
                  <a:gd name="T20" fmla="*/ 298 w 633"/>
                  <a:gd name="T21" fmla="*/ 58 h 181"/>
                  <a:gd name="T22" fmla="*/ 295 w 633"/>
                  <a:gd name="T23" fmla="*/ 51 h 181"/>
                  <a:gd name="T24" fmla="*/ 295 w 633"/>
                  <a:gd name="T25" fmla="*/ 41 h 181"/>
                  <a:gd name="T26" fmla="*/ 298 w 633"/>
                  <a:gd name="T27" fmla="*/ 33 h 181"/>
                  <a:gd name="T28" fmla="*/ 304 w 633"/>
                  <a:gd name="T29" fmla="*/ 26 h 181"/>
                  <a:gd name="T30" fmla="*/ 313 w 633"/>
                  <a:gd name="T31" fmla="*/ 23 h 181"/>
                  <a:gd name="T32" fmla="*/ 0 w 633"/>
                  <a:gd name="T33" fmla="*/ 31 h 181"/>
                  <a:gd name="T34" fmla="*/ 2 w 633"/>
                  <a:gd name="T35" fmla="*/ 48 h 181"/>
                  <a:gd name="T36" fmla="*/ 7 w 633"/>
                  <a:gd name="T37" fmla="*/ 66 h 181"/>
                  <a:gd name="T38" fmla="*/ 15 w 633"/>
                  <a:gd name="T39" fmla="*/ 80 h 181"/>
                  <a:gd name="T40" fmla="*/ 26 w 633"/>
                  <a:gd name="T41" fmla="*/ 95 h 181"/>
                  <a:gd name="T42" fmla="*/ 40 w 633"/>
                  <a:gd name="T43" fmla="*/ 106 h 181"/>
                  <a:gd name="T44" fmla="*/ 55 w 633"/>
                  <a:gd name="T45" fmla="*/ 114 h 181"/>
                  <a:gd name="T46" fmla="*/ 73 w 633"/>
                  <a:gd name="T47" fmla="*/ 119 h 181"/>
                  <a:gd name="T48" fmla="*/ 90 w 633"/>
                  <a:gd name="T49" fmla="*/ 121 h 181"/>
                  <a:gd name="T50" fmla="*/ 302 w 633"/>
                  <a:gd name="T51" fmla="*/ 151 h 181"/>
                  <a:gd name="T52" fmla="*/ 163 w 633"/>
                  <a:gd name="T53" fmla="*/ 151 h 181"/>
                  <a:gd name="T54" fmla="*/ 158 w 633"/>
                  <a:gd name="T55" fmla="*/ 153 h 181"/>
                  <a:gd name="T56" fmla="*/ 153 w 633"/>
                  <a:gd name="T57" fmla="*/ 158 h 181"/>
                  <a:gd name="T58" fmla="*/ 151 w 633"/>
                  <a:gd name="T59" fmla="*/ 163 h 181"/>
                  <a:gd name="T60" fmla="*/ 151 w 633"/>
                  <a:gd name="T61" fmla="*/ 169 h 181"/>
                  <a:gd name="T62" fmla="*/ 153 w 633"/>
                  <a:gd name="T63" fmla="*/ 174 h 181"/>
                  <a:gd name="T64" fmla="*/ 158 w 633"/>
                  <a:gd name="T65" fmla="*/ 179 h 181"/>
                  <a:gd name="T66" fmla="*/ 163 w 633"/>
                  <a:gd name="T67" fmla="*/ 181 h 181"/>
                  <a:gd name="T68" fmla="*/ 468 w 633"/>
                  <a:gd name="T69" fmla="*/ 181 h 181"/>
                  <a:gd name="T70" fmla="*/ 474 w 633"/>
                  <a:gd name="T71" fmla="*/ 180 h 181"/>
                  <a:gd name="T72" fmla="*/ 479 w 633"/>
                  <a:gd name="T73" fmla="*/ 177 h 181"/>
                  <a:gd name="T74" fmla="*/ 482 w 633"/>
                  <a:gd name="T75" fmla="*/ 172 h 181"/>
                  <a:gd name="T76" fmla="*/ 483 w 633"/>
                  <a:gd name="T77" fmla="*/ 167 h 181"/>
                  <a:gd name="T78" fmla="*/ 482 w 633"/>
                  <a:gd name="T79" fmla="*/ 160 h 181"/>
                  <a:gd name="T80" fmla="*/ 479 w 633"/>
                  <a:gd name="T81" fmla="*/ 156 h 181"/>
                  <a:gd name="T82" fmla="*/ 474 w 633"/>
                  <a:gd name="T83" fmla="*/ 152 h 181"/>
                  <a:gd name="T84" fmla="*/ 468 w 633"/>
                  <a:gd name="T85" fmla="*/ 151 h 181"/>
                  <a:gd name="T86" fmla="*/ 332 w 633"/>
                  <a:gd name="T87" fmla="*/ 121 h 181"/>
                  <a:gd name="T88" fmla="*/ 553 w 633"/>
                  <a:gd name="T89" fmla="*/ 120 h 181"/>
                  <a:gd name="T90" fmla="*/ 570 w 633"/>
                  <a:gd name="T91" fmla="*/ 117 h 181"/>
                  <a:gd name="T92" fmla="*/ 586 w 633"/>
                  <a:gd name="T93" fmla="*/ 110 h 181"/>
                  <a:gd name="T94" fmla="*/ 600 w 633"/>
                  <a:gd name="T95" fmla="*/ 100 h 181"/>
                  <a:gd name="T96" fmla="*/ 614 w 633"/>
                  <a:gd name="T97" fmla="*/ 88 h 181"/>
                  <a:gd name="T98" fmla="*/ 622 w 633"/>
                  <a:gd name="T99" fmla="*/ 74 h 181"/>
                  <a:gd name="T100" fmla="*/ 630 w 633"/>
                  <a:gd name="T101" fmla="*/ 57 h 181"/>
                  <a:gd name="T102" fmla="*/ 633 w 633"/>
                  <a:gd name="T103" fmla="*/ 39 h 181"/>
                  <a:gd name="T104" fmla="*/ 633 w 633"/>
                  <a:gd name="T105" fmla="*/ 0 h 181"/>
                  <a:gd name="T106" fmla="*/ 0 w 633"/>
                  <a:gd name="T107" fmla="*/ 3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33" h="181">
                    <a:moveTo>
                      <a:pt x="317" y="23"/>
                    </a:moveTo>
                    <a:lnTo>
                      <a:pt x="322" y="23"/>
                    </a:lnTo>
                    <a:lnTo>
                      <a:pt x="326" y="25"/>
                    </a:lnTo>
                    <a:lnTo>
                      <a:pt x="329" y="26"/>
                    </a:lnTo>
                    <a:lnTo>
                      <a:pt x="333" y="30"/>
                    </a:lnTo>
                    <a:lnTo>
                      <a:pt x="336" y="33"/>
                    </a:lnTo>
                    <a:lnTo>
                      <a:pt x="338" y="36"/>
                    </a:lnTo>
                    <a:lnTo>
                      <a:pt x="339" y="41"/>
                    </a:lnTo>
                    <a:lnTo>
                      <a:pt x="339" y="45"/>
                    </a:lnTo>
                    <a:lnTo>
                      <a:pt x="339" y="51"/>
                    </a:lnTo>
                    <a:lnTo>
                      <a:pt x="338" y="54"/>
                    </a:lnTo>
                    <a:lnTo>
                      <a:pt x="336" y="58"/>
                    </a:lnTo>
                    <a:lnTo>
                      <a:pt x="333" y="62"/>
                    </a:lnTo>
                    <a:lnTo>
                      <a:pt x="329" y="64"/>
                    </a:lnTo>
                    <a:lnTo>
                      <a:pt x="326" y="66"/>
                    </a:lnTo>
                    <a:lnTo>
                      <a:pt x="322" y="67"/>
                    </a:lnTo>
                    <a:lnTo>
                      <a:pt x="317" y="68"/>
                    </a:lnTo>
                    <a:lnTo>
                      <a:pt x="313" y="67"/>
                    </a:lnTo>
                    <a:lnTo>
                      <a:pt x="308" y="66"/>
                    </a:lnTo>
                    <a:lnTo>
                      <a:pt x="304" y="64"/>
                    </a:lnTo>
                    <a:lnTo>
                      <a:pt x="301" y="62"/>
                    </a:lnTo>
                    <a:lnTo>
                      <a:pt x="298" y="58"/>
                    </a:lnTo>
                    <a:lnTo>
                      <a:pt x="296" y="54"/>
                    </a:lnTo>
                    <a:lnTo>
                      <a:pt x="295" y="51"/>
                    </a:lnTo>
                    <a:lnTo>
                      <a:pt x="294" y="45"/>
                    </a:lnTo>
                    <a:lnTo>
                      <a:pt x="295" y="41"/>
                    </a:lnTo>
                    <a:lnTo>
                      <a:pt x="296" y="36"/>
                    </a:lnTo>
                    <a:lnTo>
                      <a:pt x="298" y="33"/>
                    </a:lnTo>
                    <a:lnTo>
                      <a:pt x="301" y="30"/>
                    </a:lnTo>
                    <a:lnTo>
                      <a:pt x="304" y="26"/>
                    </a:lnTo>
                    <a:lnTo>
                      <a:pt x="308" y="25"/>
                    </a:lnTo>
                    <a:lnTo>
                      <a:pt x="313" y="23"/>
                    </a:lnTo>
                    <a:lnTo>
                      <a:pt x="317" y="23"/>
                    </a:lnTo>
                    <a:close/>
                    <a:moveTo>
                      <a:pt x="0" y="31"/>
                    </a:moveTo>
                    <a:lnTo>
                      <a:pt x="1" y="39"/>
                    </a:lnTo>
                    <a:lnTo>
                      <a:pt x="2" y="48"/>
                    </a:lnTo>
                    <a:lnTo>
                      <a:pt x="4" y="57"/>
                    </a:lnTo>
                    <a:lnTo>
                      <a:pt x="7" y="66"/>
                    </a:lnTo>
                    <a:lnTo>
                      <a:pt x="11" y="74"/>
                    </a:lnTo>
                    <a:lnTo>
                      <a:pt x="15" y="80"/>
                    </a:lnTo>
                    <a:lnTo>
                      <a:pt x="21" y="88"/>
                    </a:lnTo>
                    <a:lnTo>
                      <a:pt x="26" y="95"/>
                    </a:lnTo>
                    <a:lnTo>
                      <a:pt x="33" y="100"/>
                    </a:lnTo>
                    <a:lnTo>
                      <a:pt x="40" y="106"/>
                    </a:lnTo>
                    <a:lnTo>
                      <a:pt x="47" y="110"/>
                    </a:lnTo>
                    <a:lnTo>
                      <a:pt x="55" y="114"/>
                    </a:lnTo>
                    <a:lnTo>
                      <a:pt x="64" y="117"/>
                    </a:lnTo>
                    <a:lnTo>
                      <a:pt x="73" y="119"/>
                    </a:lnTo>
                    <a:lnTo>
                      <a:pt x="82" y="120"/>
                    </a:lnTo>
                    <a:lnTo>
                      <a:pt x="90" y="121"/>
                    </a:lnTo>
                    <a:lnTo>
                      <a:pt x="302" y="121"/>
                    </a:lnTo>
                    <a:lnTo>
                      <a:pt x="302" y="151"/>
                    </a:lnTo>
                    <a:lnTo>
                      <a:pt x="166" y="151"/>
                    </a:lnTo>
                    <a:lnTo>
                      <a:pt x="163" y="151"/>
                    </a:lnTo>
                    <a:lnTo>
                      <a:pt x="160" y="152"/>
                    </a:lnTo>
                    <a:lnTo>
                      <a:pt x="158" y="153"/>
                    </a:lnTo>
                    <a:lnTo>
                      <a:pt x="156" y="156"/>
                    </a:lnTo>
                    <a:lnTo>
                      <a:pt x="153" y="158"/>
                    </a:lnTo>
                    <a:lnTo>
                      <a:pt x="152" y="160"/>
                    </a:lnTo>
                    <a:lnTo>
                      <a:pt x="151" y="163"/>
                    </a:lnTo>
                    <a:lnTo>
                      <a:pt x="151" y="167"/>
                    </a:lnTo>
                    <a:lnTo>
                      <a:pt x="151" y="169"/>
                    </a:lnTo>
                    <a:lnTo>
                      <a:pt x="152" y="172"/>
                    </a:lnTo>
                    <a:lnTo>
                      <a:pt x="153" y="174"/>
                    </a:lnTo>
                    <a:lnTo>
                      <a:pt x="156" y="177"/>
                    </a:lnTo>
                    <a:lnTo>
                      <a:pt x="158" y="179"/>
                    </a:lnTo>
                    <a:lnTo>
                      <a:pt x="160" y="180"/>
                    </a:lnTo>
                    <a:lnTo>
                      <a:pt x="163" y="181"/>
                    </a:lnTo>
                    <a:lnTo>
                      <a:pt x="166" y="181"/>
                    </a:lnTo>
                    <a:lnTo>
                      <a:pt x="468" y="181"/>
                    </a:lnTo>
                    <a:lnTo>
                      <a:pt x="471" y="181"/>
                    </a:lnTo>
                    <a:lnTo>
                      <a:pt x="474" y="180"/>
                    </a:lnTo>
                    <a:lnTo>
                      <a:pt x="476" y="179"/>
                    </a:lnTo>
                    <a:lnTo>
                      <a:pt x="479" y="177"/>
                    </a:lnTo>
                    <a:lnTo>
                      <a:pt x="481" y="174"/>
                    </a:lnTo>
                    <a:lnTo>
                      <a:pt x="482" y="172"/>
                    </a:lnTo>
                    <a:lnTo>
                      <a:pt x="483" y="169"/>
                    </a:lnTo>
                    <a:lnTo>
                      <a:pt x="483" y="167"/>
                    </a:lnTo>
                    <a:lnTo>
                      <a:pt x="483" y="163"/>
                    </a:lnTo>
                    <a:lnTo>
                      <a:pt x="482" y="160"/>
                    </a:lnTo>
                    <a:lnTo>
                      <a:pt x="481" y="158"/>
                    </a:lnTo>
                    <a:lnTo>
                      <a:pt x="479" y="156"/>
                    </a:lnTo>
                    <a:lnTo>
                      <a:pt x="476" y="153"/>
                    </a:lnTo>
                    <a:lnTo>
                      <a:pt x="474" y="152"/>
                    </a:lnTo>
                    <a:lnTo>
                      <a:pt x="471" y="151"/>
                    </a:lnTo>
                    <a:lnTo>
                      <a:pt x="468" y="151"/>
                    </a:lnTo>
                    <a:lnTo>
                      <a:pt x="332" y="151"/>
                    </a:lnTo>
                    <a:lnTo>
                      <a:pt x="332" y="121"/>
                    </a:lnTo>
                    <a:lnTo>
                      <a:pt x="543" y="121"/>
                    </a:lnTo>
                    <a:lnTo>
                      <a:pt x="553" y="120"/>
                    </a:lnTo>
                    <a:lnTo>
                      <a:pt x="562" y="119"/>
                    </a:lnTo>
                    <a:lnTo>
                      <a:pt x="570" y="117"/>
                    </a:lnTo>
                    <a:lnTo>
                      <a:pt x="578" y="114"/>
                    </a:lnTo>
                    <a:lnTo>
                      <a:pt x="586" y="110"/>
                    </a:lnTo>
                    <a:lnTo>
                      <a:pt x="594" y="106"/>
                    </a:lnTo>
                    <a:lnTo>
                      <a:pt x="600" y="100"/>
                    </a:lnTo>
                    <a:lnTo>
                      <a:pt x="607" y="95"/>
                    </a:lnTo>
                    <a:lnTo>
                      <a:pt x="614" y="88"/>
                    </a:lnTo>
                    <a:lnTo>
                      <a:pt x="618" y="80"/>
                    </a:lnTo>
                    <a:lnTo>
                      <a:pt x="622" y="74"/>
                    </a:lnTo>
                    <a:lnTo>
                      <a:pt x="627" y="66"/>
                    </a:lnTo>
                    <a:lnTo>
                      <a:pt x="630" y="57"/>
                    </a:lnTo>
                    <a:lnTo>
                      <a:pt x="632" y="48"/>
                    </a:lnTo>
                    <a:lnTo>
                      <a:pt x="633" y="39"/>
                    </a:lnTo>
                    <a:lnTo>
                      <a:pt x="633" y="31"/>
                    </a:lnTo>
                    <a:lnTo>
                      <a:pt x="633" y="0"/>
                    </a:lnTo>
                    <a:lnTo>
                      <a:pt x="0" y="0"/>
                    </a:lnTo>
                    <a:lnTo>
                      <a:pt x="0"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887579892"/>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Calibri" panose="020F0502020204030204" pitchFamily="34" charset="0"/>
                <a:cs typeface="Calibri" panose="020F0502020204030204" pitchFamily="34" charset="0"/>
              </a:rPr>
              <a:t>Popular Stations</a:t>
            </a:r>
            <a:endParaRPr lang="en-GB" dirty="0">
              <a:latin typeface="Calibri" panose="020F0502020204030204" pitchFamily="34" charset="0"/>
              <a:cs typeface="Calibri" panose="020F0502020204030204" pitchFamily="34" charset="0"/>
            </a:endParaRPr>
          </a:p>
        </p:txBody>
      </p:sp>
      <p:sp>
        <p:nvSpPr>
          <p:cNvPr id="3" name="Text Placeholder 2"/>
          <p:cNvSpPr>
            <a:spLocks noGrp="1"/>
          </p:cNvSpPr>
          <p:nvPr>
            <p:ph type="body" idx="1"/>
          </p:nvPr>
        </p:nvSpPr>
        <p:spPr>
          <a:xfrm>
            <a:off x="839788" y="1690688"/>
            <a:ext cx="5157787" cy="440748"/>
          </a:xfrm>
        </p:spPr>
        <p:txBody>
          <a:bodyPr/>
          <a:lstStyle/>
          <a:p>
            <a:pPr algn="ctr"/>
            <a:r>
              <a:rPr lang="en-US" dirty="0" smtClean="0">
                <a:solidFill>
                  <a:schemeClr val="accent3">
                    <a:lumMod val="75000"/>
                  </a:schemeClr>
                </a:solidFill>
                <a:latin typeface="Calibri" panose="020F0502020204030204" pitchFamily="34" charset="0"/>
                <a:cs typeface="Calibri" panose="020F0502020204030204" pitchFamily="34" charset="0"/>
              </a:rPr>
              <a:t>Casual Riders</a:t>
            </a:r>
            <a:endParaRPr lang="en-GB" dirty="0">
              <a:solidFill>
                <a:schemeClr val="accent3">
                  <a:lumMod val="75000"/>
                </a:schemeClr>
              </a:solidFill>
              <a:latin typeface="Calibri" panose="020F0502020204030204" pitchFamily="34" charset="0"/>
              <a:cs typeface="Calibri" panose="020F0502020204030204" pitchFamily="34" charset="0"/>
            </a:endParaRPr>
          </a:p>
        </p:txBody>
      </p:sp>
      <p:pic>
        <p:nvPicPr>
          <p:cNvPr id="7" name="Content Placeholder 6"/>
          <p:cNvPicPr>
            <a:picLocks noGrp="1"/>
          </p:cNvPicPr>
          <p:nvPr>
            <p:ph sz="half" idx="2"/>
          </p:nvPr>
        </p:nvPicPr>
        <p:blipFill>
          <a:blip r:embed="rId2"/>
          <a:stretch>
            <a:fillRect/>
          </a:stretch>
        </p:blipFill>
        <p:spPr>
          <a:xfrm>
            <a:off x="839787" y="2443088"/>
            <a:ext cx="2048256" cy="2724912"/>
          </a:xfrm>
          <a:prstGeom prst="rect">
            <a:avLst/>
          </a:prstGeom>
        </p:spPr>
      </p:pic>
      <p:sp>
        <p:nvSpPr>
          <p:cNvPr id="5" name="Text Placeholder 4"/>
          <p:cNvSpPr>
            <a:spLocks noGrp="1"/>
          </p:cNvSpPr>
          <p:nvPr>
            <p:ph type="body" sz="quarter" idx="3"/>
          </p:nvPr>
        </p:nvSpPr>
        <p:spPr>
          <a:xfrm>
            <a:off x="6172200" y="1697615"/>
            <a:ext cx="5183188" cy="440748"/>
          </a:xfrm>
        </p:spPr>
        <p:txBody>
          <a:bodyPr/>
          <a:lstStyle/>
          <a:p>
            <a:pPr algn="ctr"/>
            <a:r>
              <a:rPr lang="en-US" dirty="0" smtClean="0">
                <a:solidFill>
                  <a:schemeClr val="accent4">
                    <a:lumMod val="75000"/>
                  </a:schemeClr>
                </a:solidFill>
                <a:latin typeface="Calibri" panose="020F0502020204030204" pitchFamily="34" charset="0"/>
                <a:cs typeface="Calibri" panose="020F0502020204030204" pitchFamily="34" charset="0"/>
              </a:rPr>
              <a:t>Members</a:t>
            </a:r>
            <a:endParaRPr lang="en-GB" dirty="0">
              <a:solidFill>
                <a:schemeClr val="accent4">
                  <a:lumMod val="75000"/>
                </a:schemeClr>
              </a:solidFill>
              <a:latin typeface="Calibri" panose="020F0502020204030204" pitchFamily="34" charset="0"/>
              <a:cs typeface="Calibri" panose="020F0502020204030204" pitchFamily="34" charset="0"/>
            </a:endParaRPr>
          </a:p>
        </p:txBody>
      </p:sp>
      <p:pic>
        <p:nvPicPr>
          <p:cNvPr id="9" name="Content Placeholder 8"/>
          <p:cNvPicPr>
            <a:picLocks noGrp="1" noChangeAspect="1"/>
          </p:cNvPicPr>
          <p:nvPr>
            <p:ph sz="quarter" idx="4"/>
          </p:nvPr>
        </p:nvPicPr>
        <p:blipFill>
          <a:blip r:embed="rId3"/>
          <a:stretch>
            <a:fillRect/>
          </a:stretch>
        </p:blipFill>
        <p:spPr>
          <a:xfrm>
            <a:off x="6484406" y="2452614"/>
            <a:ext cx="2047875" cy="2724150"/>
          </a:xfrm>
          <a:prstGeom prst="rect">
            <a:avLst/>
          </a:prstGeom>
        </p:spPr>
      </p:pic>
      <p:pic>
        <p:nvPicPr>
          <p:cNvPr id="8" name="Picture 7"/>
          <p:cNvPicPr>
            <a:picLocks/>
          </p:cNvPicPr>
          <p:nvPr/>
        </p:nvPicPr>
        <p:blipFill>
          <a:blip r:embed="rId4"/>
          <a:stretch>
            <a:fillRect/>
          </a:stretch>
        </p:blipFill>
        <p:spPr>
          <a:xfrm>
            <a:off x="3606124" y="2443088"/>
            <a:ext cx="2048256" cy="2724912"/>
          </a:xfrm>
          <a:prstGeom prst="rect">
            <a:avLst/>
          </a:prstGeom>
        </p:spPr>
      </p:pic>
      <p:pic>
        <p:nvPicPr>
          <p:cNvPr id="10" name="Picture 9"/>
          <p:cNvPicPr>
            <a:picLocks/>
          </p:cNvPicPr>
          <p:nvPr/>
        </p:nvPicPr>
        <p:blipFill>
          <a:blip r:embed="rId5"/>
          <a:stretch>
            <a:fillRect/>
          </a:stretch>
        </p:blipFill>
        <p:spPr>
          <a:xfrm>
            <a:off x="9250362" y="2452614"/>
            <a:ext cx="2048256" cy="2724912"/>
          </a:xfrm>
          <a:prstGeom prst="rect">
            <a:avLst/>
          </a:prstGeom>
        </p:spPr>
      </p:pic>
      <p:cxnSp>
        <p:nvCxnSpPr>
          <p:cNvPr id="17" name="Straight Connector 16"/>
          <p:cNvCxnSpPr/>
          <p:nvPr/>
        </p:nvCxnSpPr>
        <p:spPr>
          <a:xfrm>
            <a:off x="839787" y="2122672"/>
            <a:ext cx="10458831" cy="226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6084888" y="2122672"/>
            <a:ext cx="6350" cy="3045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795304"/>
      </p:ext>
    </p:extLst>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xmlns="" id="{2AC0C949-7A02-4C95-8017-D82E7E71C4F7}"/>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latin typeface="Calibri" panose="020F0502020204030204" pitchFamily="34" charset="0"/>
                <a:cs typeface="Calibri" panose="020F0502020204030204" pitchFamily="34" charset="0"/>
              </a:rPr>
              <a:t>Dashboard</a:t>
            </a:r>
            <a:r>
              <a:rPr lang="en-US" sz="2800" dirty="0">
                <a:solidFill>
                  <a:schemeClr val="tx1">
                    <a:lumMod val="75000"/>
                    <a:lumOff val="25000"/>
                  </a:schemeClr>
                </a:solidFill>
                <a:latin typeface="Calibri" panose="020F0502020204030204" pitchFamily="34" charset="0"/>
                <a:cs typeface="Calibri" panose="020F0502020204030204" pitchFamily="34" charset="0"/>
              </a:rPr>
              <a:t/>
            </a:r>
            <a:br>
              <a:rPr lang="en-US" sz="2800" dirty="0">
                <a:solidFill>
                  <a:schemeClr val="tx1">
                    <a:lumMod val="75000"/>
                    <a:lumOff val="25000"/>
                  </a:schemeClr>
                </a:solidFill>
                <a:latin typeface="Calibri" panose="020F0502020204030204" pitchFamily="34" charset="0"/>
                <a:cs typeface="Calibri" panose="020F0502020204030204" pitchFamily="34" charset="0"/>
              </a:rPr>
            </a:br>
            <a:endParaRPr lang="en-US" sz="2800" dirty="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stretch>
            <a:fillRect/>
          </a:stretch>
        </p:blipFill>
        <p:spPr>
          <a:xfrm>
            <a:off x="0" y="533140"/>
            <a:ext cx="858983" cy="461762"/>
          </a:xfrm>
          <a:prstGeom prst="rect">
            <a:avLst/>
          </a:prstGeom>
        </p:spPr>
      </p:pic>
      <p:grpSp>
        <p:nvGrpSpPr>
          <p:cNvPr id="6" name="Group 5"/>
          <p:cNvGrpSpPr/>
          <p:nvPr/>
        </p:nvGrpSpPr>
        <p:grpSpPr>
          <a:xfrm>
            <a:off x="33338" y="967464"/>
            <a:ext cx="3020291" cy="2832423"/>
            <a:chOff x="0" y="464959"/>
            <a:chExt cx="3293596" cy="2756223"/>
          </a:xfrm>
        </p:grpSpPr>
        <p:pic>
          <p:nvPicPr>
            <p:cNvPr id="3" name="Picture 2"/>
            <p:cNvPicPr>
              <a:picLocks noChangeAspect="1"/>
            </p:cNvPicPr>
            <p:nvPr/>
          </p:nvPicPr>
          <p:blipFill>
            <a:blip r:embed="rId4"/>
            <a:stretch>
              <a:fillRect/>
            </a:stretch>
          </p:blipFill>
          <p:spPr>
            <a:xfrm>
              <a:off x="0" y="675281"/>
              <a:ext cx="3293596" cy="2545901"/>
            </a:xfrm>
            <a:prstGeom prst="rect">
              <a:avLst/>
            </a:prstGeom>
          </p:spPr>
        </p:pic>
        <p:sp>
          <p:nvSpPr>
            <p:cNvPr id="5" name="TextBox 4"/>
            <p:cNvSpPr txBox="1"/>
            <p:nvPr/>
          </p:nvSpPr>
          <p:spPr>
            <a:xfrm>
              <a:off x="925566" y="464959"/>
              <a:ext cx="1855764" cy="254572"/>
            </a:xfrm>
            <a:prstGeom prst="rect">
              <a:avLst/>
            </a:prstGeom>
            <a:noFill/>
          </p:spPr>
          <p:txBody>
            <a:bodyPr wrap="square" rtlCol="0">
              <a:spAutoFit/>
            </a:bodyPr>
            <a:lstStyle/>
            <a:p>
              <a:r>
                <a:rPr lang="en-US" sz="1100" b="1" dirty="0" smtClean="0">
                  <a:latin typeface="Calibri" panose="020F0502020204030204" pitchFamily="34" charset="0"/>
                  <a:cs typeface="Calibri" panose="020F0502020204030204" pitchFamily="34" charset="0"/>
                </a:rPr>
                <a:t>Number of Rides per Day</a:t>
              </a:r>
              <a:endParaRPr lang="en-GB" sz="1100" b="1" dirty="0">
                <a:latin typeface="Calibri" panose="020F0502020204030204" pitchFamily="34" charset="0"/>
                <a:cs typeface="Calibri" panose="020F0502020204030204" pitchFamily="34" charset="0"/>
              </a:endParaRPr>
            </a:p>
          </p:txBody>
        </p:sp>
      </p:grpSp>
      <p:grpSp>
        <p:nvGrpSpPr>
          <p:cNvPr id="13" name="Group 12"/>
          <p:cNvGrpSpPr/>
          <p:nvPr/>
        </p:nvGrpSpPr>
        <p:grpSpPr>
          <a:xfrm>
            <a:off x="-1" y="3912625"/>
            <a:ext cx="3053629" cy="2945375"/>
            <a:chOff x="0" y="3411658"/>
            <a:chExt cx="3053629" cy="2580433"/>
          </a:xfrm>
        </p:grpSpPr>
        <p:pic>
          <p:nvPicPr>
            <p:cNvPr id="10" name="Picture 9"/>
            <p:cNvPicPr>
              <a:picLocks noChangeAspect="1"/>
            </p:cNvPicPr>
            <p:nvPr/>
          </p:nvPicPr>
          <p:blipFill>
            <a:blip r:embed="rId5"/>
            <a:stretch>
              <a:fillRect/>
            </a:stretch>
          </p:blipFill>
          <p:spPr>
            <a:xfrm>
              <a:off x="0" y="3592223"/>
              <a:ext cx="3053629" cy="2399868"/>
            </a:xfrm>
            <a:prstGeom prst="rect">
              <a:avLst/>
            </a:prstGeom>
          </p:spPr>
        </p:pic>
        <p:sp>
          <p:nvSpPr>
            <p:cNvPr id="12" name="TextBox 11"/>
            <p:cNvSpPr txBox="1"/>
            <p:nvPr/>
          </p:nvSpPr>
          <p:spPr>
            <a:xfrm>
              <a:off x="678187" y="3411658"/>
              <a:ext cx="1856583" cy="229196"/>
            </a:xfrm>
            <a:prstGeom prst="rect">
              <a:avLst/>
            </a:prstGeom>
            <a:noFill/>
          </p:spPr>
          <p:txBody>
            <a:bodyPr wrap="square" rtlCol="0">
              <a:spAutoFit/>
            </a:bodyPr>
            <a:lstStyle/>
            <a:p>
              <a:r>
                <a:rPr lang="en-US" sz="1100" b="1" dirty="0" smtClean="0">
                  <a:latin typeface="Calibri" panose="020F0502020204030204" pitchFamily="34" charset="0"/>
                  <a:cs typeface="Calibri" panose="020F0502020204030204" pitchFamily="34" charset="0"/>
                </a:rPr>
                <a:t>Daily Average Ride Duration</a:t>
              </a:r>
              <a:endParaRPr lang="en-GB" sz="1100" b="1" dirty="0">
                <a:latin typeface="Calibri" panose="020F0502020204030204" pitchFamily="34" charset="0"/>
                <a:cs typeface="Calibri" panose="020F0502020204030204" pitchFamily="34" charset="0"/>
              </a:endParaRPr>
            </a:p>
          </p:txBody>
        </p:sp>
      </p:grpSp>
      <p:grpSp>
        <p:nvGrpSpPr>
          <p:cNvPr id="18" name="Group 17"/>
          <p:cNvGrpSpPr/>
          <p:nvPr/>
        </p:nvGrpSpPr>
        <p:grpSpPr>
          <a:xfrm>
            <a:off x="3210430" y="979513"/>
            <a:ext cx="3303011" cy="2833118"/>
            <a:chOff x="3470564" y="516179"/>
            <a:chExt cx="3303011" cy="2833118"/>
          </a:xfrm>
        </p:grpSpPr>
        <p:pic>
          <p:nvPicPr>
            <p:cNvPr id="16" name="Picture 15"/>
            <p:cNvPicPr>
              <a:picLocks noChangeAspect="1"/>
            </p:cNvPicPr>
            <p:nvPr/>
          </p:nvPicPr>
          <p:blipFill>
            <a:blip r:embed="rId6"/>
            <a:stretch>
              <a:fillRect/>
            </a:stretch>
          </p:blipFill>
          <p:spPr>
            <a:xfrm>
              <a:off x="3470564" y="733011"/>
              <a:ext cx="3303011" cy="2616286"/>
            </a:xfrm>
            <a:prstGeom prst="rect">
              <a:avLst/>
            </a:prstGeom>
          </p:spPr>
        </p:pic>
        <p:sp>
          <p:nvSpPr>
            <p:cNvPr id="17" name="TextBox 16"/>
            <p:cNvSpPr txBox="1"/>
            <p:nvPr/>
          </p:nvSpPr>
          <p:spPr>
            <a:xfrm>
              <a:off x="4189049" y="516179"/>
              <a:ext cx="2026661" cy="261610"/>
            </a:xfrm>
            <a:prstGeom prst="rect">
              <a:avLst/>
            </a:prstGeom>
            <a:noFill/>
          </p:spPr>
          <p:txBody>
            <a:bodyPr wrap="square" rtlCol="0">
              <a:spAutoFit/>
            </a:bodyPr>
            <a:lstStyle/>
            <a:p>
              <a:r>
                <a:rPr lang="en-US" sz="1100" b="1" dirty="0" smtClean="0">
                  <a:latin typeface="Calibri" panose="020F0502020204030204" pitchFamily="34" charset="0"/>
                  <a:cs typeface="Calibri" panose="020F0502020204030204" pitchFamily="34" charset="0"/>
                </a:rPr>
                <a:t>Monthly Average Ride </a:t>
              </a:r>
              <a:r>
                <a:rPr lang="en-US" sz="1100" b="1" dirty="0">
                  <a:latin typeface="Calibri" panose="020F0502020204030204" pitchFamily="34" charset="0"/>
                  <a:cs typeface="Calibri" panose="020F0502020204030204" pitchFamily="34" charset="0"/>
                </a:rPr>
                <a:t>D</a:t>
              </a:r>
              <a:r>
                <a:rPr lang="en-US" sz="1100" b="1" dirty="0" smtClean="0">
                  <a:latin typeface="Calibri" panose="020F0502020204030204" pitchFamily="34" charset="0"/>
                  <a:cs typeface="Calibri" panose="020F0502020204030204" pitchFamily="34" charset="0"/>
                </a:rPr>
                <a:t>uration</a:t>
              </a:r>
            </a:p>
          </p:txBody>
        </p:sp>
      </p:grpSp>
      <p:grpSp>
        <p:nvGrpSpPr>
          <p:cNvPr id="21" name="Group 20"/>
          <p:cNvGrpSpPr/>
          <p:nvPr/>
        </p:nvGrpSpPr>
        <p:grpSpPr>
          <a:xfrm>
            <a:off x="3210430" y="3812595"/>
            <a:ext cx="3303011" cy="3045404"/>
            <a:chOff x="3470564" y="3411380"/>
            <a:chExt cx="3303011" cy="2880404"/>
          </a:xfrm>
        </p:grpSpPr>
        <p:pic>
          <p:nvPicPr>
            <p:cNvPr id="19" name="Picture 18"/>
            <p:cNvPicPr>
              <a:picLocks noChangeAspect="1"/>
            </p:cNvPicPr>
            <p:nvPr/>
          </p:nvPicPr>
          <p:blipFill>
            <a:blip r:embed="rId7"/>
            <a:stretch>
              <a:fillRect/>
            </a:stretch>
          </p:blipFill>
          <p:spPr>
            <a:xfrm>
              <a:off x="3470564" y="3668138"/>
              <a:ext cx="3303011" cy="2623646"/>
            </a:xfrm>
            <a:prstGeom prst="rect">
              <a:avLst/>
            </a:prstGeom>
          </p:spPr>
        </p:pic>
        <p:sp>
          <p:nvSpPr>
            <p:cNvPr id="20" name="TextBox 19"/>
            <p:cNvSpPr txBox="1"/>
            <p:nvPr/>
          </p:nvSpPr>
          <p:spPr>
            <a:xfrm>
              <a:off x="4279968" y="3411380"/>
              <a:ext cx="1833564" cy="247436"/>
            </a:xfrm>
            <a:prstGeom prst="rect">
              <a:avLst/>
            </a:prstGeom>
            <a:noFill/>
          </p:spPr>
          <p:txBody>
            <a:bodyPr wrap="square" rtlCol="0">
              <a:spAutoFit/>
            </a:bodyPr>
            <a:lstStyle/>
            <a:p>
              <a:r>
                <a:rPr lang="en-US" sz="1100" b="1" dirty="0" smtClean="0">
                  <a:latin typeface="Calibri" panose="020F0502020204030204" pitchFamily="34" charset="0"/>
                  <a:cs typeface="Calibri" panose="020F0502020204030204" pitchFamily="34" charset="0"/>
                </a:rPr>
                <a:t>Number of Rides per Month</a:t>
              </a:r>
              <a:endParaRPr lang="en-GB" sz="1100" b="1" dirty="0">
                <a:latin typeface="Calibri" panose="020F0502020204030204" pitchFamily="34" charset="0"/>
                <a:cs typeface="Calibri" panose="020F0502020204030204" pitchFamily="34" charset="0"/>
              </a:endParaRPr>
            </a:p>
          </p:txBody>
        </p:sp>
      </p:grpSp>
      <p:grpSp>
        <p:nvGrpSpPr>
          <p:cNvPr id="25" name="Group 24"/>
          <p:cNvGrpSpPr/>
          <p:nvPr/>
        </p:nvGrpSpPr>
        <p:grpSpPr>
          <a:xfrm>
            <a:off x="6670242" y="994902"/>
            <a:ext cx="2480684" cy="2817730"/>
            <a:chOff x="6999141" y="593687"/>
            <a:chExt cx="2480684" cy="2817730"/>
          </a:xfrm>
        </p:grpSpPr>
        <p:pic>
          <p:nvPicPr>
            <p:cNvPr id="22" name="Picture 21"/>
            <p:cNvPicPr>
              <a:picLocks noChangeAspect="1"/>
            </p:cNvPicPr>
            <p:nvPr/>
          </p:nvPicPr>
          <p:blipFill>
            <a:blip r:embed="rId8"/>
            <a:stretch>
              <a:fillRect/>
            </a:stretch>
          </p:blipFill>
          <p:spPr>
            <a:xfrm>
              <a:off x="6999141" y="805289"/>
              <a:ext cx="2480684" cy="2606128"/>
            </a:xfrm>
            <a:prstGeom prst="rect">
              <a:avLst/>
            </a:prstGeom>
          </p:spPr>
        </p:pic>
        <p:sp>
          <p:nvSpPr>
            <p:cNvPr id="24" name="TextBox 23"/>
            <p:cNvSpPr txBox="1"/>
            <p:nvPr/>
          </p:nvSpPr>
          <p:spPr>
            <a:xfrm>
              <a:off x="7386418" y="593687"/>
              <a:ext cx="1759528" cy="261610"/>
            </a:xfrm>
            <a:prstGeom prst="rect">
              <a:avLst/>
            </a:prstGeom>
            <a:noFill/>
          </p:spPr>
          <p:txBody>
            <a:bodyPr wrap="square" rtlCol="0">
              <a:spAutoFit/>
            </a:bodyPr>
            <a:lstStyle/>
            <a:p>
              <a:r>
                <a:rPr lang="en-US" sz="1100" b="1" dirty="0" smtClean="0">
                  <a:latin typeface="Calibri" panose="020F0502020204030204" pitchFamily="34" charset="0"/>
                  <a:cs typeface="Calibri" panose="020F0502020204030204" pitchFamily="34" charset="0"/>
                </a:rPr>
                <a:t>Seasonal Average Duration</a:t>
              </a:r>
              <a:endParaRPr lang="en-GB" sz="1100" b="1" dirty="0">
                <a:latin typeface="Calibri" panose="020F0502020204030204" pitchFamily="34" charset="0"/>
                <a:cs typeface="Calibri" panose="020F0502020204030204" pitchFamily="34" charset="0"/>
              </a:endParaRPr>
            </a:p>
          </p:txBody>
        </p:sp>
      </p:grpSp>
      <p:grpSp>
        <p:nvGrpSpPr>
          <p:cNvPr id="28" name="Group 27"/>
          <p:cNvGrpSpPr/>
          <p:nvPr/>
        </p:nvGrpSpPr>
        <p:grpSpPr>
          <a:xfrm>
            <a:off x="6670243" y="3863250"/>
            <a:ext cx="2480683" cy="2994749"/>
            <a:chOff x="6999142" y="3462035"/>
            <a:chExt cx="2480683" cy="2829749"/>
          </a:xfrm>
        </p:grpSpPr>
        <p:pic>
          <p:nvPicPr>
            <p:cNvPr id="26" name="Picture 25"/>
            <p:cNvPicPr>
              <a:picLocks noChangeAspect="1"/>
            </p:cNvPicPr>
            <p:nvPr/>
          </p:nvPicPr>
          <p:blipFill>
            <a:blip r:embed="rId9"/>
            <a:stretch>
              <a:fillRect/>
            </a:stretch>
          </p:blipFill>
          <p:spPr>
            <a:xfrm>
              <a:off x="6999142" y="3693807"/>
              <a:ext cx="2480683" cy="2597977"/>
            </a:xfrm>
            <a:prstGeom prst="rect">
              <a:avLst/>
            </a:prstGeom>
          </p:spPr>
        </p:pic>
        <p:sp>
          <p:nvSpPr>
            <p:cNvPr id="27" name="TextBox 26"/>
            <p:cNvSpPr txBox="1"/>
            <p:nvPr/>
          </p:nvSpPr>
          <p:spPr>
            <a:xfrm>
              <a:off x="7337927" y="3462035"/>
              <a:ext cx="1856509" cy="247196"/>
            </a:xfrm>
            <a:prstGeom prst="rect">
              <a:avLst/>
            </a:prstGeom>
            <a:noFill/>
          </p:spPr>
          <p:txBody>
            <a:bodyPr wrap="square" rtlCol="0">
              <a:spAutoFit/>
            </a:bodyPr>
            <a:lstStyle/>
            <a:p>
              <a:r>
                <a:rPr lang="en-US" sz="1100" b="1" dirty="0" smtClean="0">
                  <a:latin typeface="Calibri" panose="020F0502020204030204" pitchFamily="34" charset="0"/>
                  <a:cs typeface="Calibri" panose="020F0502020204030204" pitchFamily="34" charset="0"/>
                </a:rPr>
                <a:t>Number of Rides per Season</a:t>
              </a:r>
              <a:endParaRPr lang="en-GB" sz="1100" b="1" dirty="0">
                <a:latin typeface="Calibri" panose="020F0502020204030204" pitchFamily="34" charset="0"/>
                <a:cs typeface="Calibri" panose="020F0502020204030204" pitchFamily="34" charset="0"/>
              </a:endParaRPr>
            </a:p>
          </p:txBody>
        </p:sp>
      </p:grpSp>
      <p:grpSp>
        <p:nvGrpSpPr>
          <p:cNvPr id="34" name="Group 33"/>
          <p:cNvGrpSpPr/>
          <p:nvPr/>
        </p:nvGrpSpPr>
        <p:grpSpPr>
          <a:xfrm>
            <a:off x="9307728" y="994902"/>
            <a:ext cx="2884272" cy="2804985"/>
            <a:chOff x="9307729" y="544312"/>
            <a:chExt cx="2884272" cy="2804985"/>
          </a:xfrm>
        </p:grpSpPr>
        <p:pic>
          <p:nvPicPr>
            <p:cNvPr id="29" name="Picture 28"/>
            <p:cNvPicPr>
              <a:picLocks noChangeAspect="1"/>
            </p:cNvPicPr>
            <p:nvPr/>
          </p:nvPicPr>
          <p:blipFill>
            <a:blip r:embed="rId10"/>
            <a:stretch>
              <a:fillRect/>
            </a:stretch>
          </p:blipFill>
          <p:spPr>
            <a:xfrm>
              <a:off x="9307729" y="755915"/>
              <a:ext cx="2884272" cy="2593382"/>
            </a:xfrm>
            <a:prstGeom prst="rect">
              <a:avLst/>
            </a:prstGeom>
          </p:spPr>
        </p:pic>
        <p:sp>
          <p:nvSpPr>
            <p:cNvPr id="30" name="TextBox 29"/>
            <p:cNvSpPr txBox="1"/>
            <p:nvPr/>
          </p:nvSpPr>
          <p:spPr>
            <a:xfrm>
              <a:off x="9918991" y="544312"/>
              <a:ext cx="1670123" cy="261610"/>
            </a:xfrm>
            <a:prstGeom prst="rect">
              <a:avLst/>
            </a:prstGeom>
            <a:noFill/>
          </p:spPr>
          <p:txBody>
            <a:bodyPr wrap="square" rtlCol="0">
              <a:spAutoFit/>
            </a:bodyPr>
            <a:lstStyle/>
            <a:p>
              <a:r>
                <a:rPr lang="en-US" sz="1100" b="1" dirty="0" smtClean="0">
                  <a:latin typeface="Calibri" panose="020F0502020204030204" pitchFamily="34" charset="0"/>
                  <a:cs typeface="Calibri" panose="020F0502020204030204" pitchFamily="34" charset="0"/>
                </a:rPr>
                <a:t>Number of Rides per Day</a:t>
              </a:r>
              <a:endParaRPr lang="en-GB" sz="1100" b="1" dirty="0">
                <a:latin typeface="Calibri" panose="020F0502020204030204" pitchFamily="34" charset="0"/>
                <a:cs typeface="Calibri" panose="020F0502020204030204" pitchFamily="34" charset="0"/>
              </a:endParaRPr>
            </a:p>
          </p:txBody>
        </p:sp>
      </p:grpSp>
      <p:grpSp>
        <p:nvGrpSpPr>
          <p:cNvPr id="33" name="Group 32"/>
          <p:cNvGrpSpPr/>
          <p:nvPr/>
        </p:nvGrpSpPr>
        <p:grpSpPr>
          <a:xfrm>
            <a:off x="9307728" y="3912624"/>
            <a:ext cx="2884271" cy="2945375"/>
            <a:chOff x="9307729" y="3462035"/>
            <a:chExt cx="2884271" cy="2780374"/>
          </a:xfrm>
        </p:grpSpPr>
        <p:pic>
          <p:nvPicPr>
            <p:cNvPr id="31" name="Picture 30"/>
            <p:cNvPicPr>
              <a:picLocks noChangeAspect="1"/>
            </p:cNvPicPr>
            <p:nvPr/>
          </p:nvPicPr>
          <p:blipFill>
            <a:blip r:embed="rId11"/>
            <a:stretch>
              <a:fillRect/>
            </a:stretch>
          </p:blipFill>
          <p:spPr>
            <a:xfrm>
              <a:off x="9307729" y="3668137"/>
              <a:ext cx="2884271" cy="2574272"/>
            </a:xfrm>
            <a:prstGeom prst="rect">
              <a:avLst/>
            </a:prstGeom>
          </p:spPr>
        </p:pic>
        <p:sp>
          <p:nvSpPr>
            <p:cNvPr id="32" name="TextBox 31"/>
            <p:cNvSpPr txBox="1"/>
            <p:nvPr/>
          </p:nvSpPr>
          <p:spPr>
            <a:xfrm>
              <a:off x="9932446" y="3462035"/>
              <a:ext cx="1634836" cy="246955"/>
            </a:xfrm>
            <a:prstGeom prst="rect">
              <a:avLst/>
            </a:prstGeom>
            <a:noFill/>
          </p:spPr>
          <p:txBody>
            <a:bodyPr wrap="square" rtlCol="0">
              <a:spAutoFit/>
            </a:bodyPr>
            <a:lstStyle/>
            <a:p>
              <a:r>
                <a:rPr lang="en-US" sz="1100" b="1" dirty="0" smtClean="0">
                  <a:latin typeface="Calibri" panose="020F0502020204030204" pitchFamily="34" charset="0"/>
                  <a:cs typeface="Calibri" panose="020F0502020204030204" pitchFamily="34" charset="0"/>
                </a:rPr>
                <a:t>Hourly Average Duration</a:t>
              </a:r>
              <a:endParaRPr lang="en-GB" sz="1100" b="1"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94181046"/>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xmlns="" id="{A588A72A-976E-478A-9DD3-765AB3ED4CD0}"/>
              </a:ext>
            </a:extLst>
          </p:cNvPr>
          <p:cNvSpPr>
            <a:spLocks noGrp="1"/>
          </p:cNvSpPr>
          <p:nvPr>
            <p:ph type="title" idx="4294967295"/>
          </p:nvPr>
        </p:nvSpPr>
        <p:spPr>
          <a:xfrm>
            <a:off x="0" y="365125"/>
            <a:ext cx="10515600" cy="1325563"/>
          </a:xfrm>
        </p:spPr>
        <p:txBody>
          <a:bodyPr/>
          <a:lstStyle/>
          <a:p>
            <a:r>
              <a:rPr lang="en-US" dirty="0"/>
              <a:t>Project analysis slide 8</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6647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latin typeface="Calibri" panose="020F0502020204030204" pitchFamily="34" charset="0"/>
                <a:cs typeface="Calibri" panose="020F0502020204030204" pitchFamily="34" charset="0"/>
              </a:rPr>
              <a:t>Key Findings</a:t>
            </a:r>
            <a:r>
              <a:rPr lang="en-US" sz="2800" dirty="0">
                <a:solidFill>
                  <a:schemeClr val="tx1">
                    <a:lumMod val="75000"/>
                    <a:lumOff val="25000"/>
                  </a:schemeClr>
                </a:solidFill>
                <a:latin typeface="Calibri" panose="020F0502020204030204" pitchFamily="34" charset="0"/>
                <a:cs typeface="Calibri" panose="020F0502020204030204" pitchFamily="34" charset="0"/>
              </a:rPr>
              <a:t/>
            </a:r>
            <a:br>
              <a:rPr lang="en-US" sz="2800" dirty="0">
                <a:solidFill>
                  <a:schemeClr val="tx1">
                    <a:lumMod val="75000"/>
                    <a:lumOff val="25000"/>
                  </a:schemeClr>
                </a:solidFill>
                <a:latin typeface="Calibri" panose="020F0502020204030204" pitchFamily="34" charset="0"/>
                <a:cs typeface="Calibri" panose="020F0502020204030204" pitchFamily="34" charset="0"/>
              </a:rPr>
            </a:br>
            <a:r>
              <a:rPr lang="en-US" sz="2000" dirty="0">
                <a:solidFill>
                  <a:schemeClr val="tx1">
                    <a:lumMod val="75000"/>
                    <a:lumOff val="25000"/>
                  </a:schemeClr>
                </a:solidFill>
                <a:latin typeface="Calibri" panose="020F0502020204030204" pitchFamily="34" charset="0"/>
                <a:cs typeface="Calibri" panose="020F0502020204030204" pitchFamily="34" charset="0"/>
              </a:rPr>
              <a:t> </a:t>
            </a:r>
            <a:endParaRPr lang="en-US" sz="2800" dirty="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xmlns="" id="{3C1CAF08-13B9-48BA-A271-8CE5B568A664}"/>
              </a:ext>
            </a:extLst>
          </p:cNvPr>
          <p:cNvSpPr/>
          <p:nvPr/>
        </p:nvSpPr>
        <p:spPr>
          <a:xfrm>
            <a:off x="228600" y="855297"/>
            <a:ext cx="5486400" cy="155448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smtClean="0">
              <a:latin typeface="Calibri" panose="020F0502020204030204" pitchFamily="34" charset="0"/>
              <a:cs typeface="Calibri" panose="020F0502020204030204" pitchFamily="34" charset="0"/>
            </a:endParaRPr>
          </a:p>
          <a:p>
            <a:pPr algn="ctr"/>
            <a:endParaRPr lang="en-US" sz="1000" b="1" dirty="0">
              <a:latin typeface="Calibri" panose="020F0502020204030204" pitchFamily="34" charset="0"/>
              <a:cs typeface="Calibri" panose="020F0502020204030204" pitchFamily="34" charset="0"/>
            </a:endParaRPr>
          </a:p>
          <a:p>
            <a:pPr algn="ctr"/>
            <a:r>
              <a:rPr lang="en-US" sz="1000" b="1" dirty="0" smtClean="0">
                <a:latin typeface="Calibri" panose="020F0502020204030204" pitchFamily="34" charset="0"/>
                <a:cs typeface="Calibri" panose="020F0502020204030204" pitchFamily="34" charset="0"/>
              </a:rPr>
              <a:t>Members </a:t>
            </a:r>
            <a:r>
              <a:rPr lang="en-US" sz="1000" b="1" dirty="0">
                <a:latin typeface="Calibri" panose="020F0502020204030204" pitchFamily="34" charset="0"/>
                <a:cs typeface="Calibri" panose="020F0502020204030204" pitchFamily="34" charset="0"/>
              </a:rPr>
              <a:t>rode much more on weekdays than on weekends, the complete opposite of the casual riders that rode more on weekends than the weekdays. This implies that most members use the cycles to bike to work, while most casual rider use them for leisure on the weekends. This finding is further backed up when combined with the hourly data, with hours typically associated with commuting, 8 and 17, seeing the largest amount of members riding at a time, while afternoons to evenings have the largest casual rider (a common time to engage in leisurely activities). Furthermore, casual riders almost always rode for much longer than members, which would only be the case if they riding for the sake of relaxation, fitness, or enjoyment. These three factors combined paint a very clear picture of what each type of rider is using the service for.</a:t>
            </a:r>
          </a:p>
          <a:p>
            <a:pPr algn="ctr"/>
            <a:endParaRPr lang="en-US" sz="2000" b="1" dirty="0">
              <a:latin typeface="Calibri" panose="020F0502020204030204" pitchFamily="34" charset="0"/>
              <a:cs typeface="Calibri" panose="020F0502020204030204" pitchFamily="34" charset="0"/>
            </a:endParaRPr>
          </a:p>
        </p:txBody>
      </p:sp>
      <p:sp>
        <p:nvSpPr>
          <p:cNvPr id="26" name="Rectangle: Rounded Corners 25">
            <a:extLst>
              <a:ext uri="{FF2B5EF4-FFF2-40B4-BE49-F238E27FC236}">
                <a16:creationId xmlns:a16="http://schemas.microsoft.com/office/drawing/2014/main" xmlns="" id="{D1B1E083-D07C-4934-9782-F7CCA3539ACF}"/>
              </a:ext>
            </a:extLst>
          </p:cNvPr>
          <p:cNvSpPr/>
          <p:nvPr/>
        </p:nvSpPr>
        <p:spPr>
          <a:xfrm>
            <a:off x="6477000" y="855297"/>
            <a:ext cx="5486400" cy="155448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anose="020F0502020204030204" pitchFamily="34" charset="0"/>
                <a:cs typeface="Calibri" panose="020F0502020204030204" pitchFamily="34" charset="0"/>
              </a:rPr>
              <a:t>Seeing as the average duration of rides roughly stayed the same (only being slightly higher in pleasant months), it implies that both casual users and members use the bikes for the same purposes all year around. For example, casual riders are likely continuing their exercise or well being regiments, while members are likely commuting as always.</a:t>
            </a:r>
          </a:p>
        </p:txBody>
      </p:sp>
      <p:sp>
        <p:nvSpPr>
          <p:cNvPr id="20" name="Rectangle: Rounded Corners 1">
            <a:extLst>
              <a:ext uri="{FF2B5EF4-FFF2-40B4-BE49-F238E27FC236}">
                <a16:creationId xmlns:a16="http://schemas.microsoft.com/office/drawing/2014/main" xmlns="" id="{3C1CAF08-13B9-48BA-A271-8CE5B568A664}"/>
              </a:ext>
            </a:extLst>
          </p:cNvPr>
          <p:cNvSpPr/>
          <p:nvPr/>
        </p:nvSpPr>
        <p:spPr>
          <a:xfrm>
            <a:off x="228600" y="3016495"/>
            <a:ext cx="5486400" cy="1554480"/>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anose="020F0502020204030204" pitchFamily="34" charset="0"/>
                <a:cs typeface="Calibri" panose="020F0502020204030204" pitchFamily="34" charset="0"/>
              </a:rPr>
              <a:t>While there aren’t too many rides that take place late at night (after midnight but before dawn), they </a:t>
            </a:r>
            <a:r>
              <a:rPr lang="en-US" sz="1200" b="1" dirty="0" smtClean="0">
                <a:latin typeface="Calibri" panose="020F0502020204030204" pitchFamily="34" charset="0"/>
                <a:cs typeface="Calibri" panose="020F0502020204030204" pitchFamily="34" charset="0"/>
              </a:rPr>
              <a:t>seem </a:t>
            </a:r>
            <a:r>
              <a:rPr lang="en-US" sz="1200" b="1" dirty="0">
                <a:latin typeface="Calibri" panose="020F0502020204030204" pitchFamily="34" charset="0"/>
                <a:cs typeface="Calibri" panose="020F0502020204030204" pitchFamily="34" charset="0"/>
              </a:rPr>
              <a:t>to be some of the lengthiest trips implying they’re being taken out of necessity, even by casual riders</a:t>
            </a:r>
            <a:r>
              <a:rPr lang="en-US" sz="1200" b="1" dirty="0" smtClean="0">
                <a:latin typeface="Calibri" panose="020F0502020204030204" pitchFamily="34" charset="0"/>
                <a:cs typeface="Calibri" panose="020F0502020204030204" pitchFamily="34" charset="0"/>
              </a:rPr>
              <a:t>.</a:t>
            </a:r>
            <a:endParaRPr lang="en-US" sz="1200" b="1" dirty="0">
              <a:latin typeface="Calibri" panose="020F0502020204030204" pitchFamily="34" charset="0"/>
              <a:cs typeface="Calibri" panose="020F0502020204030204" pitchFamily="34" charset="0"/>
            </a:endParaRPr>
          </a:p>
        </p:txBody>
      </p:sp>
      <p:sp>
        <p:nvSpPr>
          <p:cNvPr id="21" name="Rectangle: Rounded Corners 25">
            <a:extLst>
              <a:ext uri="{FF2B5EF4-FFF2-40B4-BE49-F238E27FC236}">
                <a16:creationId xmlns:a16="http://schemas.microsoft.com/office/drawing/2014/main" xmlns="" id="{D1B1E083-D07C-4934-9782-F7CCA3539ACF}"/>
              </a:ext>
            </a:extLst>
          </p:cNvPr>
          <p:cNvSpPr/>
          <p:nvPr/>
        </p:nvSpPr>
        <p:spPr>
          <a:xfrm>
            <a:off x="6477000" y="3016495"/>
            <a:ext cx="5486400" cy="1554480"/>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latin typeface="Calibri" panose="020F0502020204030204" pitchFamily="34" charset="0"/>
              <a:cs typeface="Calibri" panose="020F0502020204030204" pitchFamily="34" charset="0"/>
            </a:endParaRPr>
          </a:p>
          <a:p>
            <a:pPr algn="ctr"/>
            <a:r>
              <a:rPr lang="en-US" sz="1100" b="1" dirty="0">
                <a:latin typeface="Calibri" panose="020F0502020204030204" pitchFamily="34" charset="0"/>
                <a:cs typeface="Calibri" panose="020F0502020204030204" pitchFamily="34" charset="0"/>
              </a:rPr>
              <a:t>When looking deeper into some of the most popular starting and ending stations, you can tell that member’s usage tends to be more scattered throughout the city, split almost evenly between residential and commercial </a:t>
            </a:r>
            <a:r>
              <a:rPr lang="en-US" sz="1100" b="1" dirty="0" smtClean="0">
                <a:latin typeface="Calibri" panose="020F0502020204030204" pitchFamily="34" charset="0"/>
                <a:cs typeface="Calibri" panose="020F0502020204030204" pitchFamily="34" charset="0"/>
              </a:rPr>
              <a:t>areas. </a:t>
            </a:r>
            <a:r>
              <a:rPr lang="en-US" sz="1100" b="1" dirty="0">
                <a:latin typeface="Calibri" panose="020F0502020204030204" pitchFamily="34" charset="0"/>
                <a:cs typeface="Calibri" panose="020F0502020204030204" pitchFamily="34" charset="0"/>
              </a:rPr>
              <a:t>W</a:t>
            </a:r>
            <a:r>
              <a:rPr lang="en-US" sz="1100" b="1" dirty="0" smtClean="0">
                <a:latin typeface="Calibri" panose="020F0502020204030204" pitchFamily="34" charset="0"/>
                <a:cs typeface="Calibri" panose="020F0502020204030204" pitchFamily="34" charset="0"/>
              </a:rPr>
              <a:t>hile </a:t>
            </a:r>
            <a:r>
              <a:rPr lang="en-US" sz="1100" b="1" dirty="0">
                <a:latin typeface="Calibri" panose="020F0502020204030204" pitchFamily="34" charset="0"/>
                <a:cs typeface="Calibri" panose="020F0502020204030204" pitchFamily="34" charset="0"/>
              </a:rPr>
              <a:t>casual members are similar, a sizable potion have higher usage closer to parks, on the waterfront, or in areas with entertainment, further driving home that their usage is more geared towards leisure and fitness. Some of the popular locations for casual riders are tourist attractions as many tourists also use the service, however, these places likely don’t see much local </a:t>
            </a:r>
            <a:r>
              <a:rPr lang="en-US" sz="1100" b="1" dirty="0" smtClean="0">
                <a:latin typeface="Calibri" panose="020F0502020204030204" pitchFamily="34" charset="0"/>
                <a:cs typeface="Calibri" panose="020F0502020204030204" pitchFamily="34" charset="0"/>
              </a:rPr>
              <a:t>footfall, therefore keeping members away.</a:t>
            </a:r>
            <a:endParaRPr lang="en-US" sz="1100" b="1" dirty="0">
              <a:latin typeface="Calibri" panose="020F0502020204030204" pitchFamily="34" charset="0"/>
              <a:cs typeface="Calibri" panose="020F0502020204030204" pitchFamily="34" charset="0"/>
            </a:endParaRPr>
          </a:p>
          <a:p>
            <a:pPr algn="ctr"/>
            <a:endParaRPr lang="en-US" sz="1200" b="1" dirty="0">
              <a:latin typeface="Calibri" panose="020F0502020204030204" pitchFamily="34" charset="0"/>
              <a:cs typeface="Calibri" panose="020F0502020204030204" pitchFamily="34" charset="0"/>
            </a:endParaRPr>
          </a:p>
        </p:txBody>
      </p:sp>
      <p:sp>
        <p:nvSpPr>
          <p:cNvPr id="22" name="Rectangle: Rounded Corners 1">
            <a:extLst>
              <a:ext uri="{FF2B5EF4-FFF2-40B4-BE49-F238E27FC236}">
                <a16:creationId xmlns:a16="http://schemas.microsoft.com/office/drawing/2014/main" xmlns="" id="{3C1CAF08-13B9-48BA-A271-8CE5B568A664}"/>
              </a:ext>
            </a:extLst>
          </p:cNvPr>
          <p:cNvSpPr/>
          <p:nvPr/>
        </p:nvSpPr>
        <p:spPr>
          <a:xfrm>
            <a:off x="228600" y="5177693"/>
            <a:ext cx="5486400" cy="155448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anose="020F0502020204030204" pitchFamily="34" charset="0"/>
                <a:cs typeface="Calibri" panose="020F0502020204030204" pitchFamily="34" charset="0"/>
              </a:rPr>
              <a:t>Of the many types of bikes offered by Cyclistic, the standard bike is by far the favorite for both types of customers, however, when looking at the percentage of rides that took place on each type of bike, casual riders were more likely to choose a bike other than a classic one. This means more casual riders might be interested in </a:t>
            </a:r>
            <a:r>
              <a:rPr lang="en-US" sz="1200" b="1" dirty="0" smtClean="0">
                <a:latin typeface="Calibri" panose="020F0502020204030204" pitchFamily="34" charset="0"/>
                <a:cs typeface="Calibri" panose="020F0502020204030204" pitchFamily="34" charset="0"/>
              </a:rPr>
              <a:t>using electric bikes, </a:t>
            </a:r>
            <a:r>
              <a:rPr lang="en-US" sz="1200" b="1" dirty="0">
                <a:latin typeface="Calibri" panose="020F0502020204030204" pitchFamily="34" charset="0"/>
                <a:cs typeface="Calibri" panose="020F0502020204030204" pitchFamily="34" charset="0"/>
              </a:rPr>
              <a:t>or </a:t>
            </a:r>
            <a:r>
              <a:rPr lang="en-US" sz="1200" b="1" dirty="0" smtClean="0">
                <a:latin typeface="Calibri" panose="020F0502020204030204" pitchFamily="34" charset="0"/>
                <a:cs typeface="Calibri" panose="020F0502020204030204" pitchFamily="34" charset="0"/>
              </a:rPr>
              <a:t>cycles that are </a:t>
            </a:r>
            <a:r>
              <a:rPr lang="en-US" sz="1200" b="1" dirty="0" smtClean="0">
                <a:latin typeface="Calibri" panose="020F0502020204030204" pitchFamily="34" charset="0"/>
                <a:cs typeface="Calibri" panose="020F0502020204030204" pitchFamily="34" charset="0"/>
              </a:rPr>
              <a:t>easier </a:t>
            </a:r>
            <a:r>
              <a:rPr lang="en-US" sz="1200" b="1" dirty="0">
                <a:latin typeface="Calibri" panose="020F0502020204030204" pitchFamily="34" charset="0"/>
                <a:cs typeface="Calibri" panose="020F0502020204030204" pitchFamily="34" charset="0"/>
              </a:rPr>
              <a:t>to use over longer distances, but </a:t>
            </a:r>
            <a:r>
              <a:rPr lang="en-US" sz="1200" b="1" dirty="0" smtClean="0">
                <a:latin typeface="Calibri" panose="020F0502020204030204" pitchFamily="34" charset="0"/>
                <a:cs typeface="Calibri" panose="020F0502020204030204" pitchFamily="34" charset="0"/>
              </a:rPr>
              <a:t>they deterred from becoming members due to the low availability of these bikes.</a:t>
            </a:r>
            <a:endParaRPr lang="en-US" sz="1200" b="1" dirty="0">
              <a:latin typeface="Calibri" panose="020F0502020204030204" pitchFamily="34" charset="0"/>
              <a:cs typeface="Calibri" panose="020F0502020204030204" pitchFamily="34" charset="0"/>
            </a:endParaRPr>
          </a:p>
        </p:txBody>
      </p:sp>
      <p:sp>
        <p:nvSpPr>
          <p:cNvPr id="23" name="Rectangle: Rounded Corners 25">
            <a:extLst>
              <a:ext uri="{FF2B5EF4-FFF2-40B4-BE49-F238E27FC236}">
                <a16:creationId xmlns:a16="http://schemas.microsoft.com/office/drawing/2014/main" xmlns="" id="{D1B1E083-D07C-4934-9782-F7CCA3539ACF}"/>
              </a:ext>
            </a:extLst>
          </p:cNvPr>
          <p:cNvSpPr/>
          <p:nvPr/>
        </p:nvSpPr>
        <p:spPr>
          <a:xfrm>
            <a:off x="6477000" y="5177693"/>
            <a:ext cx="5486400" cy="155448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anose="020F0502020204030204" pitchFamily="34" charset="0"/>
                <a:cs typeface="Calibri" panose="020F0502020204030204" pitchFamily="34" charset="0"/>
              </a:rPr>
              <a:t>Casual riders are more likely to misuse or not return bikes, like the statistics show, 77% of bikes not returned within a day were rented by casual riders. Likely due to the lesser consequences they would face when compared to a member.</a:t>
            </a:r>
          </a:p>
        </p:txBody>
      </p:sp>
    </p:spTree>
    <p:extLst>
      <p:ext uri="{BB962C8B-B14F-4D97-AF65-F5344CB8AC3E}">
        <p14:creationId xmlns:p14="http://schemas.microsoft.com/office/powerpoint/2010/main" val="727364193"/>
      </p:ext>
    </p:extLst>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xmlns=""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latin typeface="Calibri" panose="020F0502020204030204" pitchFamily="34" charset="0"/>
                <a:cs typeface="Calibri" panose="020F0502020204030204" pitchFamily="34" charset="0"/>
              </a:rPr>
              <a:t>Recommendations</a:t>
            </a:r>
            <a:r>
              <a:rPr lang="en-US" sz="2800" dirty="0">
                <a:solidFill>
                  <a:schemeClr val="tx1">
                    <a:lumMod val="75000"/>
                    <a:lumOff val="25000"/>
                  </a:schemeClr>
                </a:solidFill>
                <a:latin typeface="Calibri" panose="020F0502020204030204" pitchFamily="34" charset="0"/>
                <a:cs typeface="Calibri" panose="020F0502020204030204" pitchFamily="34" charset="0"/>
              </a:rPr>
              <a:t/>
            </a:r>
            <a:br>
              <a:rPr lang="en-US" sz="2800" dirty="0">
                <a:solidFill>
                  <a:schemeClr val="tx1">
                    <a:lumMod val="75000"/>
                    <a:lumOff val="25000"/>
                  </a:schemeClr>
                </a:solidFill>
                <a:latin typeface="Calibri" panose="020F0502020204030204" pitchFamily="34" charset="0"/>
                <a:cs typeface="Calibri" panose="020F0502020204030204" pitchFamily="34" charset="0"/>
              </a:rPr>
            </a:br>
            <a:endParaRPr lang="en-US" sz="2800" dirty="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rapezoid 1">
            <a:extLst>
              <a:ext uri="{FF2B5EF4-FFF2-40B4-BE49-F238E27FC236}">
                <a16:creationId xmlns:a16="http://schemas.microsoft.com/office/drawing/2014/main" xmlns="" id="{5B804E9F-B6B5-41F9-9B63-9AF435FDC2B7}"/>
              </a:ext>
              <a:ext uri="{C183D7F6-B498-43B3-948B-1728B52AA6E4}">
                <adec:decorative xmlns:adec="http://schemas.microsoft.com/office/drawing/2017/decorative" xmlns="" val="1"/>
              </a:ext>
            </a:extLst>
          </p:cNvPr>
          <p:cNvSpPr/>
          <p:nvPr/>
        </p:nvSpPr>
        <p:spPr>
          <a:xfrm rot="5400000">
            <a:off x="-1418424" y="2654830"/>
            <a:ext cx="6335102" cy="2071237"/>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3" name="Trapezoid 42">
            <a:extLst>
              <a:ext uri="{FF2B5EF4-FFF2-40B4-BE49-F238E27FC236}">
                <a16:creationId xmlns:a16="http://schemas.microsoft.com/office/drawing/2014/main" xmlns="" id="{0092C447-C8E1-4B12-B012-E6D21CBB1FBE}"/>
              </a:ext>
              <a:ext uri="{C183D7F6-B498-43B3-948B-1728B52AA6E4}">
                <adec:decorative xmlns:adec="http://schemas.microsoft.com/office/drawing/2017/decorative" xmlns="" val="1"/>
              </a:ext>
            </a:extLst>
          </p:cNvPr>
          <p:cNvSpPr/>
          <p:nvPr/>
        </p:nvSpPr>
        <p:spPr>
          <a:xfrm rot="5400000">
            <a:off x="761651" y="2668107"/>
            <a:ext cx="6335103" cy="2044685"/>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4" name="Trapezoid 43">
            <a:extLst>
              <a:ext uri="{FF2B5EF4-FFF2-40B4-BE49-F238E27FC236}">
                <a16:creationId xmlns:a16="http://schemas.microsoft.com/office/drawing/2014/main" xmlns="" id="{7E139379-1914-4446-8D6D-984A47041A54}"/>
              </a:ext>
              <a:ext uri="{C183D7F6-B498-43B3-948B-1728B52AA6E4}">
                <adec:decorative xmlns:adec="http://schemas.microsoft.com/office/drawing/2017/decorative" xmlns="" val="1"/>
              </a:ext>
            </a:extLst>
          </p:cNvPr>
          <p:cNvSpPr/>
          <p:nvPr/>
        </p:nvSpPr>
        <p:spPr>
          <a:xfrm rot="5400000">
            <a:off x="2928448" y="2668108"/>
            <a:ext cx="6335104" cy="2044685"/>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5" name="Trapezoid 44">
            <a:extLst>
              <a:ext uri="{FF2B5EF4-FFF2-40B4-BE49-F238E27FC236}">
                <a16:creationId xmlns:a16="http://schemas.microsoft.com/office/drawing/2014/main" xmlns="" id="{F79B51BB-1B30-4ED8-B26D-21EE8BC675B2}"/>
              </a:ext>
              <a:ext uri="{C183D7F6-B498-43B3-948B-1728B52AA6E4}">
                <adec:decorative xmlns:adec="http://schemas.microsoft.com/office/drawing/2017/decorative" xmlns="" val="1"/>
              </a:ext>
            </a:extLst>
          </p:cNvPr>
          <p:cNvSpPr/>
          <p:nvPr/>
        </p:nvSpPr>
        <p:spPr>
          <a:xfrm rot="5400000">
            <a:off x="5095247" y="2668107"/>
            <a:ext cx="6335103" cy="2044685"/>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Trapezoid 45">
            <a:extLst>
              <a:ext uri="{FF2B5EF4-FFF2-40B4-BE49-F238E27FC236}">
                <a16:creationId xmlns:a16="http://schemas.microsoft.com/office/drawing/2014/main" xmlns="" id="{89DA262E-0502-4E65-8ABA-E063880EAC4C}"/>
              </a:ext>
              <a:ext uri="{C183D7F6-B498-43B3-948B-1728B52AA6E4}">
                <adec:decorative xmlns:adec="http://schemas.microsoft.com/office/drawing/2017/decorative" xmlns="" val="1"/>
              </a:ext>
            </a:extLst>
          </p:cNvPr>
          <p:cNvSpPr/>
          <p:nvPr/>
        </p:nvSpPr>
        <p:spPr>
          <a:xfrm rot="5400000">
            <a:off x="7264201" y="2668106"/>
            <a:ext cx="6335103" cy="2044685"/>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xmlns="" id="{3F19BFA5-D0CA-4CF0-8499-504D956B6563}"/>
              </a:ext>
            </a:extLst>
          </p:cNvPr>
          <p:cNvSpPr/>
          <p:nvPr/>
        </p:nvSpPr>
        <p:spPr>
          <a:xfrm>
            <a:off x="1081534" y="1396202"/>
            <a:ext cx="1371600" cy="492443"/>
          </a:xfrm>
          <a:prstGeom prst="rect">
            <a:avLst/>
          </a:prstGeom>
        </p:spPr>
        <p:txBody>
          <a:bodyPr wrap="square" lIns="0" tIns="0" rIns="0" bIns="0">
            <a:spAutoFit/>
          </a:bodyPr>
          <a:lstStyle/>
          <a:p>
            <a:pPr algn="ctr"/>
            <a:r>
              <a:rPr lang="en-US" sz="1600" b="1" dirty="0" smtClean="0">
                <a:solidFill>
                  <a:schemeClr val="bg1"/>
                </a:solidFill>
                <a:latin typeface="Calibri" panose="020F0502020204030204" pitchFamily="34" charset="0"/>
                <a:cs typeface="Calibri" panose="020F0502020204030204" pitchFamily="34" charset="0"/>
              </a:rPr>
              <a:t>MARKETING STRATEGY</a:t>
            </a:r>
            <a:endParaRPr lang="en-US" sz="1600" b="1" dirty="0">
              <a:solidFill>
                <a:schemeClr val="bg1"/>
              </a:solidFill>
              <a:latin typeface="Calibri" panose="020F0502020204030204" pitchFamily="34" charset="0"/>
              <a:cs typeface="Calibri" panose="020F0502020204030204" pitchFamily="34" charset="0"/>
            </a:endParaRPr>
          </a:p>
        </p:txBody>
      </p:sp>
      <p:sp>
        <p:nvSpPr>
          <p:cNvPr id="47" name="Rectangle 46">
            <a:extLst>
              <a:ext uri="{FF2B5EF4-FFF2-40B4-BE49-F238E27FC236}">
                <a16:creationId xmlns:a16="http://schemas.microsoft.com/office/drawing/2014/main" xmlns="" id="{1751D31D-3535-411D-8BAC-95CCC90AB185}"/>
              </a:ext>
            </a:extLst>
          </p:cNvPr>
          <p:cNvSpPr/>
          <p:nvPr/>
        </p:nvSpPr>
        <p:spPr>
          <a:xfrm>
            <a:off x="3273376" y="1396201"/>
            <a:ext cx="1371600" cy="492443"/>
          </a:xfrm>
          <a:prstGeom prst="rect">
            <a:avLst/>
          </a:prstGeom>
        </p:spPr>
        <p:txBody>
          <a:bodyPr wrap="square" lIns="0" tIns="0" rIns="0" bIns="0">
            <a:spAutoFit/>
          </a:bodyPr>
          <a:lstStyle/>
          <a:p>
            <a:pPr algn="ctr"/>
            <a:r>
              <a:rPr lang="en-US" sz="1600" b="1" dirty="0">
                <a:solidFill>
                  <a:schemeClr val="bg1"/>
                </a:solidFill>
                <a:latin typeface="Calibri" panose="020F0502020204030204" pitchFamily="34" charset="0"/>
                <a:cs typeface="Calibri" panose="020F0502020204030204" pitchFamily="34" charset="0"/>
              </a:rPr>
              <a:t>TECHNICAL STRATEGY</a:t>
            </a:r>
          </a:p>
        </p:txBody>
      </p:sp>
      <p:sp>
        <p:nvSpPr>
          <p:cNvPr id="48" name="Rectangle 47">
            <a:extLst>
              <a:ext uri="{FF2B5EF4-FFF2-40B4-BE49-F238E27FC236}">
                <a16:creationId xmlns:a16="http://schemas.microsoft.com/office/drawing/2014/main" xmlns="" id="{FA4D735A-8F75-4E2A-8F1A-CC303B0718BA}"/>
              </a:ext>
            </a:extLst>
          </p:cNvPr>
          <p:cNvSpPr/>
          <p:nvPr/>
        </p:nvSpPr>
        <p:spPr>
          <a:xfrm>
            <a:off x="5432279" y="1390346"/>
            <a:ext cx="1371600" cy="492443"/>
          </a:xfrm>
          <a:prstGeom prst="rect">
            <a:avLst/>
          </a:prstGeom>
        </p:spPr>
        <p:txBody>
          <a:bodyPr wrap="square" lIns="0" tIns="0" rIns="0" bIns="0">
            <a:spAutoFit/>
          </a:bodyPr>
          <a:lstStyle/>
          <a:p>
            <a:pPr algn="ctr"/>
            <a:r>
              <a:rPr lang="en-US" sz="1600" b="1" dirty="0">
                <a:solidFill>
                  <a:schemeClr val="bg1"/>
                </a:solidFill>
                <a:latin typeface="Calibri" panose="020F0502020204030204" pitchFamily="34" charset="0"/>
                <a:cs typeface="Calibri" panose="020F0502020204030204" pitchFamily="34" charset="0"/>
              </a:rPr>
              <a:t>FINANCIAL STRATEGY</a:t>
            </a:r>
          </a:p>
        </p:txBody>
      </p:sp>
      <p:sp>
        <p:nvSpPr>
          <p:cNvPr id="49" name="Rectangle 48">
            <a:extLst>
              <a:ext uri="{FF2B5EF4-FFF2-40B4-BE49-F238E27FC236}">
                <a16:creationId xmlns:a16="http://schemas.microsoft.com/office/drawing/2014/main" xmlns="" id="{54AB9282-0505-49EB-AABF-998083225E3A}"/>
              </a:ext>
            </a:extLst>
          </p:cNvPr>
          <p:cNvSpPr/>
          <p:nvPr/>
        </p:nvSpPr>
        <p:spPr>
          <a:xfrm>
            <a:off x="7584393" y="1400237"/>
            <a:ext cx="1371600" cy="492443"/>
          </a:xfrm>
          <a:prstGeom prst="rect">
            <a:avLst/>
          </a:prstGeom>
        </p:spPr>
        <p:txBody>
          <a:bodyPr wrap="square" lIns="0" tIns="0" rIns="0" bIns="0">
            <a:spAutoFit/>
          </a:bodyPr>
          <a:lstStyle/>
          <a:p>
            <a:pPr algn="ctr"/>
            <a:r>
              <a:rPr lang="en-US" sz="1600" b="1" dirty="0">
                <a:solidFill>
                  <a:schemeClr val="bg1"/>
                </a:solidFill>
                <a:latin typeface="Calibri" panose="020F0502020204030204" pitchFamily="34" charset="0"/>
                <a:cs typeface="Calibri" panose="020F0502020204030204" pitchFamily="34" charset="0"/>
              </a:rPr>
              <a:t>L</a:t>
            </a:r>
            <a:r>
              <a:rPr lang="en-US" sz="1600" b="1" dirty="0" smtClean="0">
                <a:solidFill>
                  <a:schemeClr val="bg1"/>
                </a:solidFill>
                <a:latin typeface="Calibri" panose="020F0502020204030204" pitchFamily="34" charset="0"/>
                <a:cs typeface="Calibri" panose="020F0502020204030204" pitchFamily="34" charset="0"/>
              </a:rPr>
              <a:t>OCATION </a:t>
            </a:r>
            <a:r>
              <a:rPr lang="en-US" sz="1600" b="1" dirty="0">
                <a:solidFill>
                  <a:schemeClr val="bg1"/>
                </a:solidFill>
                <a:latin typeface="Calibri" panose="020F0502020204030204" pitchFamily="34" charset="0"/>
                <a:cs typeface="Calibri" panose="020F0502020204030204" pitchFamily="34" charset="0"/>
              </a:rPr>
              <a:t>STRATEGY</a:t>
            </a:r>
          </a:p>
        </p:txBody>
      </p:sp>
      <p:sp>
        <p:nvSpPr>
          <p:cNvPr id="50" name="Rectangle 49">
            <a:extLst>
              <a:ext uri="{FF2B5EF4-FFF2-40B4-BE49-F238E27FC236}">
                <a16:creationId xmlns:a16="http://schemas.microsoft.com/office/drawing/2014/main" xmlns="" id="{D668C4B5-BCEC-465A-ADA5-6A054B15F7A3}"/>
              </a:ext>
            </a:extLst>
          </p:cNvPr>
          <p:cNvSpPr/>
          <p:nvPr/>
        </p:nvSpPr>
        <p:spPr>
          <a:xfrm>
            <a:off x="9524281" y="1390346"/>
            <a:ext cx="1814945" cy="492443"/>
          </a:xfrm>
          <a:prstGeom prst="rect">
            <a:avLst/>
          </a:prstGeom>
        </p:spPr>
        <p:txBody>
          <a:bodyPr wrap="square" lIns="0" tIns="0" rIns="0" bIns="0">
            <a:spAutoFit/>
          </a:bodyPr>
          <a:lstStyle/>
          <a:p>
            <a:pPr algn="ctr"/>
            <a:r>
              <a:rPr lang="en-US" sz="1600" b="1" dirty="0">
                <a:solidFill>
                  <a:schemeClr val="bg1"/>
                </a:solidFill>
                <a:latin typeface="Calibri" panose="020F0502020204030204" pitchFamily="34" charset="0"/>
                <a:cs typeface="Calibri" panose="020F0502020204030204" pitchFamily="34" charset="0"/>
              </a:rPr>
              <a:t>ENVIRONMENTAL STRATEGY</a:t>
            </a:r>
          </a:p>
        </p:txBody>
      </p:sp>
      <p:sp>
        <p:nvSpPr>
          <p:cNvPr id="51" name="Rectangle 50">
            <a:extLst>
              <a:ext uri="{FF2B5EF4-FFF2-40B4-BE49-F238E27FC236}">
                <a16:creationId xmlns:a16="http://schemas.microsoft.com/office/drawing/2014/main" xmlns="" id="{8AA18108-5B8B-4147-84A7-D30A16BEC4EA}"/>
              </a:ext>
            </a:extLst>
          </p:cNvPr>
          <p:cNvSpPr/>
          <p:nvPr/>
        </p:nvSpPr>
        <p:spPr>
          <a:xfrm>
            <a:off x="789709" y="1937494"/>
            <a:ext cx="1918855" cy="4629472"/>
          </a:xfrm>
          <a:prstGeom prst="rect">
            <a:avLst/>
          </a:prstGeom>
        </p:spPr>
        <p:txBody>
          <a:bodyPr wrap="square" lIns="0" tIns="0" rIns="0" bIns="0" anchor="t">
            <a:spAutoFit/>
          </a:bodyPr>
          <a:lstStyle/>
          <a:p>
            <a:pPr algn="ctr">
              <a:lnSpc>
                <a:spcPts val="1900"/>
              </a:lnSpc>
            </a:pPr>
            <a:r>
              <a:rPr lang="en-US" sz="1000" dirty="0" smtClean="0">
                <a:solidFill>
                  <a:schemeClr val="bg1"/>
                </a:solidFill>
                <a:latin typeface="Calibri" panose="020F0502020204030204" pitchFamily="34" charset="0"/>
                <a:cs typeface="Calibri" panose="020F0502020204030204" pitchFamily="34" charset="0"/>
              </a:rPr>
              <a:t>Casual </a:t>
            </a:r>
            <a:r>
              <a:rPr lang="en-US" sz="1000" dirty="0">
                <a:solidFill>
                  <a:schemeClr val="bg1"/>
                </a:solidFill>
                <a:latin typeface="Calibri" panose="020F0502020204030204" pitchFamily="34" charset="0"/>
                <a:cs typeface="Calibri" panose="020F0502020204030204" pitchFamily="34" charset="0"/>
              </a:rPr>
              <a:t>riders are using the bikes for leisure rather than </a:t>
            </a:r>
            <a:r>
              <a:rPr lang="en-US" sz="1000" dirty="0" smtClean="0">
                <a:solidFill>
                  <a:schemeClr val="bg1"/>
                </a:solidFill>
                <a:latin typeface="Calibri" panose="020F0502020204030204" pitchFamily="34" charset="0"/>
                <a:cs typeface="Calibri" panose="020F0502020204030204" pitchFamily="34" charset="0"/>
              </a:rPr>
              <a:t>commuting. </a:t>
            </a:r>
            <a:r>
              <a:rPr lang="en-US" sz="1000" dirty="0">
                <a:solidFill>
                  <a:schemeClr val="bg1"/>
                </a:solidFill>
                <a:latin typeface="Calibri" panose="020F0502020204030204" pitchFamily="34" charset="0"/>
                <a:cs typeface="Calibri" panose="020F0502020204030204" pitchFamily="34" charset="0"/>
              </a:rPr>
              <a:t>A</a:t>
            </a:r>
            <a:r>
              <a:rPr lang="en-US" sz="1000" dirty="0" smtClean="0">
                <a:solidFill>
                  <a:schemeClr val="bg1"/>
                </a:solidFill>
                <a:latin typeface="Calibri" panose="020F0502020204030204" pitchFamily="34" charset="0"/>
                <a:cs typeface="Calibri" panose="020F0502020204030204" pitchFamily="34" charset="0"/>
              </a:rPr>
              <a:t>dvertising </a:t>
            </a:r>
            <a:r>
              <a:rPr lang="en-US" sz="1000" dirty="0">
                <a:solidFill>
                  <a:schemeClr val="bg1"/>
                </a:solidFill>
                <a:latin typeface="Calibri" panose="020F0502020204030204" pitchFamily="34" charset="0"/>
                <a:cs typeface="Calibri" panose="020F0502020204030204" pitchFamily="34" charset="0"/>
              </a:rPr>
              <a:t>can lean into this aspect by </a:t>
            </a:r>
            <a:r>
              <a:rPr lang="en-US" sz="1000" dirty="0" smtClean="0">
                <a:solidFill>
                  <a:schemeClr val="bg1"/>
                </a:solidFill>
                <a:latin typeface="Calibri" panose="020F0502020204030204" pitchFamily="34" charset="0"/>
                <a:cs typeface="Calibri" panose="020F0502020204030204" pitchFamily="34" charset="0"/>
              </a:rPr>
              <a:t>having </a:t>
            </a:r>
            <a:r>
              <a:rPr lang="en-US" sz="1000" dirty="0">
                <a:solidFill>
                  <a:schemeClr val="bg1"/>
                </a:solidFill>
                <a:latin typeface="Calibri" panose="020F0502020204030204" pitchFamily="34" charset="0"/>
                <a:cs typeface="Calibri" panose="020F0502020204030204" pitchFamily="34" charset="0"/>
              </a:rPr>
              <a:t>the membership ad campaigns centered around things like affordable fitness, and exploration. </a:t>
            </a:r>
            <a:r>
              <a:rPr lang="en-US" sz="1000" dirty="0" smtClean="0">
                <a:solidFill>
                  <a:schemeClr val="bg1"/>
                </a:solidFill>
                <a:latin typeface="Calibri" panose="020F0502020204030204" pitchFamily="34" charset="0"/>
                <a:cs typeface="Calibri" panose="020F0502020204030204" pitchFamily="34" charset="0"/>
              </a:rPr>
              <a:t>These </a:t>
            </a:r>
            <a:r>
              <a:rPr lang="en-US" sz="1000" dirty="0">
                <a:solidFill>
                  <a:schemeClr val="bg1"/>
                </a:solidFill>
                <a:latin typeface="Calibri" panose="020F0502020204030204" pitchFamily="34" charset="0"/>
                <a:cs typeface="Calibri" panose="020F0502020204030204" pitchFamily="34" charset="0"/>
              </a:rPr>
              <a:t>ads can also include </a:t>
            </a:r>
            <a:r>
              <a:rPr lang="en-US" sz="1000" dirty="0" smtClean="0">
                <a:solidFill>
                  <a:schemeClr val="bg1"/>
                </a:solidFill>
                <a:latin typeface="Calibri" panose="020F0502020204030204" pitchFamily="34" charset="0"/>
                <a:cs typeface="Calibri" panose="020F0502020204030204" pitchFamily="34" charset="0"/>
              </a:rPr>
              <a:t>a casual rider’s savings with </a:t>
            </a:r>
            <a:r>
              <a:rPr lang="en-US" sz="1000" dirty="0">
                <a:solidFill>
                  <a:schemeClr val="bg1"/>
                </a:solidFill>
                <a:latin typeface="Calibri" panose="020F0502020204030204" pitchFamily="34" charset="0"/>
                <a:cs typeface="Calibri" panose="020F0502020204030204" pitchFamily="34" charset="0"/>
              </a:rPr>
              <a:t>a membership on a single long trip compared to </a:t>
            </a:r>
            <a:r>
              <a:rPr lang="en-US" sz="1000" dirty="0" smtClean="0">
                <a:solidFill>
                  <a:schemeClr val="bg1"/>
                </a:solidFill>
                <a:latin typeface="Calibri" panose="020F0502020204030204" pitchFamily="34" charset="0"/>
                <a:cs typeface="Calibri" panose="020F0502020204030204" pitchFamily="34" charset="0"/>
              </a:rPr>
              <a:t>paying </a:t>
            </a:r>
            <a:r>
              <a:rPr lang="en-US" sz="1000" dirty="0">
                <a:solidFill>
                  <a:schemeClr val="bg1"/>
                </a:solidFill>
                <a:latin typeface="Calibri" panose="020F0502020204030204" pitchFamily="34" charset="0"/>
                <a:cs typeface="Calibri" panose="020F0502020204030204" pitchFamily="34" charset="0"/>
              </a:rPr>
              <a:t>by the minute. </a:t>
            </a:r>
            <a:endParaRPr lang="en-US" sz="1000" dirty="0" smtClean="0">
              <a:solidFill>
                <a:schemeClr val="bg1"/>
              </a:solidFill>
              <a:latin typeface="Calibri" panose="020F0502020204030204" pitchFamily="34" charset="0"/>
              <a:cs typeface="Calibri" panose="020F0502020204030204" pitchFamily="34" charset="0"/>
            </a:endParaRPr>
          </a:p>
          <a:p>
            <a:pPr algn="ctr">
              <a:lnSpc>
                <a:spcPts val="1900"/>
              </a:lnSpc>
            </a:pPr>
            <a:endParaRPr lang="en-US" sz="1000" dirty="0">
              <a:solidFill>
                <a:schemeClr val="bg1"/>
              </a:solidFill>
              <a:latin typeface="Calibri" panose="020F0502020204030204" pitchFamily="34" charset="0"/>
              <a:cs typeface="Calibri" panose="020F0502020204030204" pitchFamily="34" charset="0"/>
            </a:endParaRPr>
          </a:p>
          <a:p>
            <a:pPr algn="ctr">
              <a:lnSpc>
                <a:spcPts val="1900"/>
              </a:lnSpc>
            </a:pPr>
            <a:r>
              <a:rPr lang="en-US" sz="1000" dirty="0" smtClean="0">
                <a:solidFill>
                  <a:schemeClr val="bg1"/>
                </a:solidFill>
                <a:latin typeface="Calibri" panose="020F0502020204030204" pitchFamily="34" charset="0"/>
                <a:cs typeface="Calibri" panose="020F0502020204030204" pitchFamily="34" charset="0"/>
              </a:rPr>
              <a:t>Most </a:t>
            </a:r>
            <a:r>
              <a:rPr lang="en-US" sz="1000" dirty="0">
                <a:solidFill>
                  <a:schemeClr val="bg1"/>
                </a:solidFill>
                <a:latin typeface="Calibri" panose="020F0502020204030204" pitchFamily="34" charset="0"/>
                <a:cs typeface="Calibri" panose="020F0502020204030204" pitchFamily="34" charset="0"/>
              </a:rPr>
              <a:t>riders will become aware that it is more cost effective for them to become members as on average they </a:t>
            </a:r>
            <a:r>
              <a:rPr lang="en-US" sz="1000" dirty="0" smtClean="0">
                <a:solidFill>
                  <a:schemeClr val="bg1"/>
                </a:solidFill>
                <a:latin typeface="Calibri" panose="020F0502020204030204" pitchFamily="34" charset="0"/>
                <a:cs typeface="Calibri" panose="020F0502020204030204" pitchFamily="34" charset="0"/>
              </a:rPr>
              <a:t>have high </a:t>
            </a:r>
            <a:r>
              <a:rPr lang="en-US" sz="1000" dirty="0">
                <a:solidFill>
                  <a:schemeClr val="bg1"/>
                </a:solidFill>
                <a:latin typeface="Calibri" panose="020F0502020204030204" pitchFamily="34" charset="0"/>
                <a:cs typeface="Calibri" panose="020F0502020204030204" pitchFamily="34" charset="0"/>
              </a:rPr>
              <a:t>ride durations. However, as they have significantly less ride counts per month, this arrangement is more beneficial to Cyclistic</a:t>
            </a:r>
            <a:r>
              <a:rPr lang="en-US" sz="1000" dirty="0" smtClean="0">
                <a:solidFill>
                  <a:schemeClr val="bg1"/>
                </a:solidFill>
                <a:latin typeface="Calibri" panose="020F0502020204030204" pitchFamily="34" charset="0"/>
                <a:cs typeface="Calibri" panose="020F0502020204030204" pitchFamily="34" charset="0"/>
              </a:rPr>
              <a:t>.</a:t>
            </a:r>
            <a:endParaRPr lang="en-US" sz="1000" dirty="0">
              <a:solidFill>
                <a:schemeClr val="bg1"/>
              </a:solidFill>
              <a:latin typeface="Calibri" panose="020F0502020204030204" pitchFamily="34" charset="0"/>
              <a:cs typeface="Calibri" panose="020F0502020204030204" pitchFamily="34" charset="0"/>
            </a:endParaRPr>
          </a:p>
        </p:txBody>
      </p:sp>
      <p:sp>
        <p:nvSpPr>
          <p:cNvPr id="52" name="Rectangle 51">
            <a:extLst>
              <a:ext uri="{FF2B5EF4-FFF2-40B4-BE49-F238E27FC236}">
                <a16:creationId xmlns:a16="http://schemas.microsoft.com/office/drawing/2014/main" xmlns="" id="{A8534162-B6E2-4579-9DAD-AD8DE07459BC}"/>
              </a:ext>
            </a:extLst>
          </p:cNvPr>
          <p:cNvSpPr/>
          <p:nvPr/>
        </p:nvSpPr>
        <p:spPr>
          <a:xfrm>
            <a:off x="2981808" y="1937494"/>
            <a:ext cx="1912537" cy="4142160"/>
          </a:xfrm>
          <a:prstGeom prst="rect">
            <a:avLst/>
          </a:prstGeom>
        </p:spPr>
        <p:txBody>
          <a:bodyPr wrap="square" lIns="0" tIns="0" rIns="0" bIns="0" anchor="t">
            <a:spAutoFit/>
          </a:bodyPr>
          <a:lstStyle/>
          <a:p>
            <a:pPr algn="ctr">
              <a:lnSpc>
                <a:spcPts val="1900"/>
              </a:lnSpc>
            </a:pPr>
            <a:r>
              <a:rPr lang="en-US" sz="1100" dirty="0">
                <a:solidFill>
                  <a:schemeClr val="bg1"/>
                </a:solidFill>
                <a:latin typeface="Calibri" panose="020F0502020204030204" pitchFamily="34" charset="0"/>
                <a:cs typeface="Calibri" panose="020F0502020204030204" pitchFamily="34" charset="0"/>
              </a:rPr>
              <a:t>Adding safety features like alarms, emergency buttons, or small cameras will dissuade misuse, while incentivizing more people to choose our service for late night trips, and encourage casual riders already using this service, to avail a </a:t>
            </a:r>
            <a:r>
              <a:rPr lang="en-US" sz="1100" dirty="0" smtClean="0">
                <a:solidFill>
                  <a:schemeClr val="bg1"/>
                </a:solidFill>
                <a:latin typeface="Calibri" panose="020F0502020204030204" pitchFamily="34" charset="0"/>
                <a:cs typeface="Calibri" panose="020F0502020204030204" pitchFamily="34" charset="0"/>
              </a:rPr>
              <a:t>membership, due to perceived security features.</a:t>
            </a:r>
            <a:endParaRPr lang="en-US" sz="1100" dirty="0" smtClean="0">
              <a:solidFill>
                <a:schemeClr val="bg1"/>
              </a:solidFill>
              <a:latin typeface="Calibri" panose="020F0502020204030204" pitchFamily="34" charset="0"/>
              <a:cs typeface="Calibri" panose="020F0502020204030204" pitchFamily="34" charset="0"/>
            </a:endParaRPr>
          </a:p>
          <a:p>
            <a:pPr algn="ctr">
              <a:lnSpc>
                <a:spcPts val="1900"/>
              </a:lnSpc>
            </a:pPr>
            <a:endParaRPr lang="en-US" sz="1100" dirty="0">
              <a:solidFill>
                <a:schemeClr val="bg1"/>
              </a:solidFill>
              <a:latin typeface="Calibri" panose="020F0502020204030204" pitchFamily="34" charset="0"/>
              <a:cs typeface="Calibri" panose="020F0502020204030204" pitchFamily="34" charset="0"/>
            </a:endParaRPr>
          </a:p>
          <a:p>
            <a:pPr algn="ctr">
              <a:lnSpc>
                <a:spcPts val="1900"/>
              </a:lnSpc>
            </a:pPr>
            <a:r>
              <a:rPr lang="en-US" sz="1100" dirty="0" smtClean="0">
                <a:solidFill>
                  <a:schemeClr val="bg1"/>
                </a:solidFill>
                <a:latin typeface="Calibri" panose="020F0502020204030204" pitchFamily="34" charset="0"/>
                <a:cs typeface="Calibri" panose="020F0502020204030204" pitchFamily="34" charset="0"/>
              </a:rPr>
              <a:t> </a:t>
            </a:r>
            <a:r>
              <a:rPr lang="en-US" sz="1100" dirty="0">
                <a:solidFill>
                  <a:schemeClr val="bg1"/>
                </a:solidFill>
                <a:latin typeface="Calibri" panose="020F0502020204030204" pitchFamily="34" charset="0"/>
                <a:cs typeface="Calibri" panose="020F0502020204030204" pitchFamily="34" charset="0"/>
              </a:rPr>
              <a:t>Advertising should focus on themes like: night shifts, night outs, and security. Additionally, it can create brand loyalty amongst members </a:t>
            </a:r>
            <a:r>
              <a:rPr lang="en-US" sz="1100" dirty="0" smtClean="0">
                <a:solidFill>
                  <a:schemeClr val="bg1"/>
                </a:solidFill>
                <a:latin typeface="Calibri" panose="020F0502020204030204" pitchFamily="34" charset="0"/>
                <a:cs typeface="Calibri" panose="020F0502020204030204" pitchFamily="34" charset="0"/>
              </a:rPr>
              <a:t>who</a:t>
            </a:r>
            <a:r>
              <a:rPr lang="en-US" sz="1100" dirty="0" smtClean="0">
                <a:solidFill>
                  <a:schemeClr val="bg1"/>
                </a:solidFill>
                <a:latin typeface="Calibri" panose="020F0502020204030204" pitchFamily="34" charset="0"/>
                <a:cs typeface="Calibri" panose="020F0502020204030204" pitchFamily="34" charset="0"/>
              </a:rPr>
              <a:t> </a:t>
            </a:r>
            <a:r>
              <a:rPr lang="en-US" sz="1100" dirty="0">
                <a:solidFill>
                  <a:schemeClr val="bg1"/>
                </a:solidFill>
                <a:latin typeface="Calibri" panose="020F0502020204030204" pitchFamily="34" charset="0"/>
                <a:cs typeface="Calibri" panose="020F0502020204030204" pitchFamily="34" charset="0"/>
              </a:rPr>
              <a:t>bike at night. </a:t>
            </a:r>
          </a:p>
          <a:p>
            <a:pPr algn="just">
              <a:lnSpc>
                <a:spcPts val="1900"/>
              </a:lnSpc>
            </a:pPr>
            <a:endParaRPr lang="en-US" sz="1100" dirty="0" smtClean="0">
              <a:solidFill>
                <a:schemeClr val="bg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xmlns="" id="{E1535E1C-6EBC-45D8-BCE1-D5B947A61FB6}"/>
              </a:ext>
            </a:extLst>
          </p:cNvPr>
          <p:cNvSpPr/>
          <p:nvPr/>
        </p:nvSpPr>
        <p:spPr>
          <a:xfrm>
            <a:off x="5127915" y="1937494"/>
            <a:ext cx="1940861" cy="2680221"/>
          </a:xfrm>
          <a:prstGeom prst="rect">
            <a:avLst/>
          </a:prstGeom>
        </p:spPr>
        <p:txBody>
          <a:bodyPr wrap="square" lIns="0" tIns="0" rIns="0" bIns="0" anchor="t">
            <a:spAutoFit/>
          </a:bodyPr>
          <a:lstStyle/>
          <a:p>
            <a:pPr algn="ctr">
              <a:lnSpc>
                <a:spcPts val="1900"/>
              </a:lnSpc>
            </a:pPr>
            <a:r>
              <a:rPr lang="en-US" sz="1100" dirty="0">
                <a:solidFill>
                  <a:schemeClr val="bg1"/>
                </a:solidFill>
                <a:latin typeface="Calibri" panose="020F0502020204030204" pitchFamily="34" charset="0"/>
                <a:cs typeface="Calibri" panose="020F0502020204030204" pitchFamily="34" charset="0"/>
              </a:rPr>
              <a:t>Offers like seasonal passes or free trials, should be made, so that casual riders can </a:t>
            </a:r>
            <a:r>
              <a:rPr lang="en-US" sz="1100" dirty="0" smtClean="0">
                <a:solidFill>
                  <a:schemeClr val="bg1"/>
                </a:solidFill>
                <a:latin typeface="Calibri" panose="020F0502020204030204" pitchFamily="34" charset="0"/>
                <a:cs typeface="Calibri" panose="020F0502020204030204" pitchFamily="34" charset="0"/>
              </a:rPr>
              <a:t>experience temporary </a:t>
            </a:r>
            <a:r>
              <a:rPr lang="en-US" sz="1100" dirty="0">
                <a:solidFill>
                  <a:schemeClr val="bg1"/>
                </a:solidFill>
                <a:latin typeface="Calibri" panose="020F0502020204030204" pitchFamily="34" charset="0"/>
                <a:cs typeface="Calibri" panose="020F0502020204030204" pitchFamily="34" charset="0"/>
              </a:rPr>
              <a:t>membership </a:t>
            </a:r>
            <a:r>
              <a:rPr lang="en-US" sz="1100" dirty="0" smtClean="0">
                <a:solidFill>
                  <a:schemeClr val="bg1"/>
                </a:solidFill>
                <a:latin typeface="Calibri" panose="020F0502020204030204" pitchFamily="34" charset="0"/>
                <a:cs typeface="Calibri" panose="020F0502020204030204" pitchFamily="34" charset="0"/>
              </a:rPr>
              <a:t>in order </a:t>
            </a:r>
            <a:r>
              <a:rPr lang="en-US" sz="1100" dirty="0">
                <a:solidFill>
                  <a:schemeClr val="bg1"/>
                </a:solidFill>
                <a:latin typeface="Calibri" panose="020F0502020204030204" pitchFamily="34" charset="0"/>
                <a:cs typeface="Calibri" panose="020F0502020204030204" pitchFamily="34" charset="0"/>
              </a:rPr>
              <a:t>to incentivize them to become a full-fledged </a:t>
            </a:r>
            <a:r>
              <a:rPr lang="en-US" sz="1100" dirty="0" smtClean="0">
                <a:solidFill>
                  <a:schemeClr val="bg1"/>
                </a:solidFill>
                <a:latin typeface="Calibri" panose="020F0502020204030204" pitchFamily="34" charset="0"/>
                <a:cs typeface="Calibri" panose="020F0502020204030204" pitchFamily="34" charset="0"/>
              </a:rPr>
              <a:t>member. </a:t>
            </a:r>
          </a:p>
          <a:p>
            <a:pPr algn="ctr">
              <a:lnSpc>
                <a:spcPts val="1900"/>
              </a:lnSpc>
            </a:pPr>
            <a:endParaRPr lang="en-US" sz="1100" dirty="0" smtClean="0">
              <a:solidFill>
                <a:schemeClr val="bg1"/>
              </a:solidFill>
              <a:latin typeface="Calibri" panose="020F0502020204030204" pitchFamily="34" charset="0"/>
              <a:cs typeface="Calibri" panose="020F0502020204030204" pitchFamily="34" charset="0"/>
            </a:endParaRPr>
          </a:p>
          <a:p>
            <a:pPr algn="ctr">
              <a:lnSpc>
                <a:spcPts val="1900"/>
              </a:lnSpc>
            </a:pPr>
            <a:r>
              <a:rPr lang="en-US" sz="1100" dirty="0" smtClean="0">
                <a:solidFill>
                  <a:schemeClr val="bg1"/>
                </a:solidFill>
                <a:latin typeface="Calibri" panose="020F0502020204030204" pitchFamily="34" charset="0"/>
                <a:cs typeface="Calibri" panose="020F0502020204030204" pitchFamily="34" charset="0"/>
              </a:rPr>
              <a:t>The </a:t>
            </a:r>
            <a:r>
              <a:rPr lang="en-US" sz="1100" dirty="0">
                <a:solidFill>
                  <a:schemeClr val="bg1"/>
                </a:solidFill>
                <a:latin typeface="Calibri" panose="020F0502020204030204" pitchFamily="34" charset="0"/>
                <a:cs typeface="Calibri" panose="020F0502020204030204" pitchFamily="34" charset="0"/>
              </a:rPr>
              <a:t>best time to make this offer would be in March as usage increases </a:t>
            </a:r>
            <a:r>
              <a:rPr lang="en-US" sz="1100" dirty="0" smtClean="0">
                <a:solidFill>
                  <a:schemeClr val="bg1"/>
                </a:solidFill>
                <a:latin typeface="Calibri" panose="020F0502020204030204" pitchFamily="34" charset="0"/>
                <a:cs typeface="Calibri" panose="020F0502020204030204" pitchFamily="34" charset="0"/>
              </a:rPr>
              <a:t>in the Spring and Summer.</a:t>
            </a:r>
            <a:endParaRPr lang="en-US" sz="1100" dirty="0">
              <a:solidFill>
                <a:schemeClr val="bg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xmlns="" id="{28FF18A5-7B4E-4493-B38D-E732E033F82F}"/>
              </a:ext>
            </a:extLst>
          </p:cNvPr>
          <p:cNvSpPr/>
          <p:nvPr/>
        </p:nvSpPr>
        <p:spPr>
          <a:xfrm>
            <a:off x="7297005" y="1937494"/>
            <a:ext cx="1933461" cy="4629472"/>
          </a:xfrm>
          <a:prstGeom prst="rect">
            <a:avLst/>
          </a:prstGeom>
        </p:spPr>
        <p:txBody>
          <a:bodyPr wrap="square" lIns="0" tIns="0" rIns="0" bIns="0" anchor="t">
            <a:spAutoFit/>
          </a:bodyPr>
          <a:lstStyle/>
          <a:p>
            <a:pPr algn="ctr">
              <a:lnSpc>
                <a:spcPts val="1900"/>
              </a:lnSpc>
            </a:pPr>
            <a:r>
              <a:rPr lang="en-US" sz="1100" dirty="0">
                <a:solidFill>
                  <a:schemeClr val="bg1"/>
                </a:solidFill>
                <a:latin typeface="Calibri" panose="020F0502020204030204" pitchFamily="34" charset="0"/>
                <a:cs typeface="Calibri" panose="020F0502020204030204" pitchFamily="34" charset="0"/>
              </a:rPr>
              <a:t>The location of the ads should primarily be in the most popular start and end stations of casual riders with the exception of tourist areas during tourists seasons, for instance, on Grand Avenue in the Summer</a:t>
            </a:r>
            <a:r>
              <a:rPr lang="en-US" sz="1100" dirty="0" smtClean="0">
                <a:solidFill>
                  <a:schemeClr val="bg1"/>
                </a:solidFill>
                <a:latin typeface="Calibri" panose="020F0502020204030204" pitchFamily="34" charset="0"/>
                <a:cs typeface="Calibri" panose="020F0502020204030204" pitchFamily="34" charset="0"/>
              </a:rPr>
              <a:t>.</a:t>
            </a:r>
          </a:p>
          <a:p>
            <a:pPr algn="ctr">
              <a:lnSpc>
                <a:spcPts val="1900"/>
              </a:lnSpc>
            </a:pPr>
            <a:endParaRPr lang="en-US" sz="1100" dirty="0" smtClean="0">
              <a:solidFill>
                <a:schemeClr val="bg1"/>
              </a:solidFill>
              <a:latin typeface="Calibri" panose="020F0502020204030204" pitchFamily="34" charset="0"/>
              <a:cs typeface="Calibri" panose="020F0502020204030204" pitchFamily="34" charset="0"/>
            </a:endParaRPr>
          </a:p>
          <a:p>
            <a:pPr algn="ctr">
              <a:lnSpc>
                <a:spcPts val="1900"/>
              </a:lnSpc>
            </a:pPr>
            <a:r>
              <a:rPr lang="en-US" sz="1100" dirty="0">
                <a:solidFill>
                  <a:schemeClr val="bg1"/>
                </a:solidFill>
                <a:latin typeface="Calibri" panose="020F0502020204030204" pitchFamily="34" charset="0"/>
                <a:cs typeface="Calibri" panose="020F0502020204030204" pitchFamily="34" charset="0"/>
              </a:rPr>
              <a:t>More electric and assistive bikes in stations like “Streeter </a:t>
            </a:r>
            <a:r>
              <a:rPr lang="en-US" sz="1100" dirty="0" err="1">
                <a:solidFill>
                  <a:schemeClr val="bg1"/>
                </a:solidFill>
                <a:latin typeface="Calibri" panose="020F0502020204030204" pitchFamily="34" charset="0"/>
                <a:cs typeface="Calibri" panose="020F0502020204030204" pitchFamily="34" charset="0"/>
              </a:rPr>
              <a:t>Dr</a:t>
            </a:r>
            <a:r>
              <a:rPr lang="en-US" sz="1100" dirty="0">
                <a:solidFill>
                  <a:schemeClr val="bg1"/>
                </a:solidFill>
                <a:latin typeface="Calibri" panose="020F0502020204030204" pitchFamily="34" charset="0"/>
                <a:cs typeface="Calibri" panose="020F0502020204030204" pitchFamily="34" charset="0"/>
              </a:rPr>
              <a:t> &amp; Grand Ave” and “Canal St &amp; Adams St”, which are popular with casual riders. This will make the bikes more accessible to the casual riders which should increase their desire to become members.</a:t>
            </a:r>
          </a:p>
          <a:p>
            <a:pPr algn="ctr">
              <a:lnSpc>
                <a:spcPts val="1900"/>
              </a:lnSpc>
            </a:pPr>
            <a:endParaRPr lang="en-US" sz="1100" dirty="0" smtClean="0">
              <a:solidFill>
                <a:schemeClr val="bg1"/>
              </a:solidFill>
              <a:latin typeface="Calibri" panose="020F0502020204030204" pitchFamily="34" charset="0"/>
              <a:cs typeface="Calibri" panose="020F0502020204030204" pitchFamily="34" charset="0"/>
            </a:endParaRPr>
          </a:p>
          <a:p>
            <a:pPr algn="ctr">
              <a:lnSpc>
                <a:spcPts val="1900"/>
              </a:lnSpc>
            </a:pPr>
            <a:r>
              <a:rPr lang="en-US" sz="1100" dirty="0" smtClean="0">
                <a:solidFill>
                  <a:schemeClr val="bg1"/>
                </a:solidFill>
                <a:latin typeface="Calibri" panose="020F0502020204030204" pitchFamily="34" charset="0"/>
                <a:cs typeface="Calibri" panose="020F0502020204030204" pitchFamily="34" charset="0"/>
              </a:rPr>
              <a:t> </a:t>
            </a:r>
            <a:endParaRPr lang="en-US" sz="1100" dirty="0">
              <a:solidFill>
                <a:schemeClr val="bg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xmlns="" id="{5BCD242F-9A97-473E-8E17-3F6C3C75CE68}"/>
              </a:ext>
            </a:extLst>
          </p:cNvPr>
          <p:cNvSpPr/>
          <p:nvPr/>
        </p:nvSpPr>
        <p:spPr>
          <a:xfrm>
            <a:off x="9450430" y="1927238"/>
            <a:ext cx="1962649" cy="4629472"/>
          </a:xfrm>
          <a:prstGeom prst="rect">
            <a:avLst/>
          </a:prstGeom>
        </p:spPr>
        <p:txBody>
          <a:bodyPr wrap="square" lIns="0" tIns="0" rIns="0" bIns="0" anchor="t">
            <a:spAutoFit/>
          </a:bodyPr>
          <a:lstStyle/>
          <a:p>
            <a:pPr algn="ctr">
              <a:lnSpc>
                <a:spcPts val="1900"/>
              </a:lnSpc>
            </a:pPr>
            <a:r>
              <a:rPr lang="en-US" sz="1000" dirty="0">
                <a:solidFill>
                  <a:schemeClr val="bg1"/>
                </a:solidFill>
                <a:latin typeface="Calibri" panose="020F0502020204030204" pitchFamily="34" charset="0"/>
                <a:cs typeface="Calibri" panose="020F0502020204030204" pitchFamily="34" charset="0"/>
              </a:rPr>
              <a:t>Although only a small proportion of riders used Cyclistic bikes during the winter, the underlying themes from the data suggest a great opportunity. The data implies, that both groups active during the winter were performing the same activities they had throughout the rest of the year (e.g. commuting or </a:t>
            </a:r>
            <a:r>
              <a:rPr lang="en-US" sz="1000" dirty="0" smtClean="0">
                <a:solidFill>
                  <a:schemeClr val="bg1"/>
                </a:solidFill>
                <a:latin typeface="Calibri" panose="020F0502020204030204" pitchFamily="34" charset="0"/>
                <a:cs typeface="Calibri" panose="020F0502020204030204" pitchFamily="34" charset="0"/>
              </a:rPr>
              <a:t>a fitness </a:t>
            </a:r>
            <a:r>
              <a:rPr lang="en-US" sz="1000" dirty="0">
                <a:solidFill>
                  <a:schemeClr val="bg1"/>
                </a:solidFill>
                <a:latin typeface="Calibri" panose="020F0502020204030204" pitchFamily="34" charset="0"/>
                <a:cs typeface="Calibri" panose="020F0502020204030204" pitchFamily="34" charset="0"/>
              </a:rPr>
              <a:t>plan), hence equipping the bikes to deal with the cooler temperatures would enable more to do the same, and should give confidence in an annual membership to casual riders. </a:t>
            </a:r>
            <a:endParaRPr lang="en-US" sz="1000" dirty="0" smtClean="0">
              <a:solidFill>
                <a:schemeClr val="bg1"/>
              </a:solidFill>
              <a:latin typeface="Calibri" panose="020F0502020204030204" pitchFamily="34" charset="0"/>
              <a:cs typeface="Calibri" panose="020F0502020204030204" pitchFamily="34" charset="0"/>
            </a:endParaRPr>
          </a:p>
          <a:p>
            <a:pPr algn="ctr">
              <a:lnSpc>
                <a:spcPts val="1900"/>
              </a:lnSpc>
            </a:pPr>
            <a:endParaRPr lang="en-US" sz="1000" dirty="0">
              <a:solidFill>
                <a:schemeClr val="bg1"/>
              </a:solidFill>
              <a:latin typeface="Calibri" panose="020F0502020204030204" pitchFamily="34" charset="0"/>
              <a:cs typeface="Calibri" panose="020F0502020204030204" pitchFamily="34" charset="0"/>
            </a:endParaRPr>
          </a:p>
          <a:p>
            <a:pPr algn="ctr">
              <a:lnSpc>
                <a:spcPts val="1900"/>
              </a:lnSpc>
            </a:pPr>
            <a:r>
              <a:rPr lang="en-US" sz="1000" dirty="0" smtClean="0">
                <a:solidFill>
                  <a:schemeClr val="bg1"/>
                </a:solidFill>
                <a:latin typeface="Calibri" panose="020F0502020204030204" pitchFamily="34" charset="0"/>
                <a:cs typeface="Calibri" panose="020F0502020204030204" pitchFamily="34" charset="0"/>
              </a:rPr>
              <a:t>Some </a:t>
            </a:r>
            <a:r>
              <a:rPr lang="en-US" sz="1000" dirty="0">
                <a:solidFill>
                  <a:schemeClr val="bg1"/>
                </a:solidFill>
                <a:latin typeface="Calibri" panose="020F0502020204030204" pitchFamily="34" charset="0"/>
                <a:cs typeface="Calibri" panose="020F0502020204030204" pitchFamily="34" charset="0"/>
              </a:rPr>
              <a:t>of the implementations could be things like: lower tire temperature, warmed bikes, plastic handles and etc</a:t>
            </a:r>
            <a:r>
              <a:rPr lang="en-US" sz="1000" dirty="0" smtClean="0">
                <a:solidFill>
                  <a:schemeClr val="bg1"/>
                </a:solidFill>
                <a:latin typeface="Calibri" panose="020F0502020204030204" pitchFamily="34" charset="0"/>
                <a:cs typeface="Calibri" panose="020F0502020204030204" pitchFamily="34" charset="0"/>
              </a:rPr>
              <a:t>. </a:t>
            </a:r>
            <a:endParaRPr lang="en-US" sz="1000" dirty="0">
              <a:solidFill>
                <a:schemeClr val="bg1"/>
              </a:solidFill>
              <a:latin typeface="Calibri" panose="020F0502020204030204" pitchFamily="34" charset="0"/>
              <a:cs typeface="Calibri" panose="020F0502020204030204" pitchFamily="34" charset="0"/>
            </a:endParaRPr>
          </a:p>
        </p:txBody>
      </p:sp>
      <p:sp>
        <p:nvSpPr>
          <p:cNvPr id="56" name="Freeform 4197" descr="Icon of shopping cart.">
            <a:extLst>
              <a:ext uri="{FF2B5EF4-FFF2-40B4-BE49-F238E27FC236}">
                <a16:creationId xmlns:a16="http://schemas.microsoft.com/office/drawing/2014/main" xmlns="" id="{DEC447B3-FDD1-438D-A671-84CC56DF3DFC}"/>
              </a:ext>
            </a:extLst>
          </p:cNvPr>
          <p:cNvSpPr>
            <a:spLocks noEditPoints="1"/>
          </p:cNvSpPr>
          <p:nvPr/>
        </p:nvSpPr>
        <p:spPr bwMode="auto">
          <a:xfrm>
            <a:off x="1577167" y="973355"/>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57" name="Freeform 4344" descr="Icon of wrench. ">
            <a:extLst>
              <a:ext uri="{FF2B5EF4-FFF2-40B4-BE49-F238E27FC236}">
                <a16:creationId xmlns:a16="http://schemas.microsoft.com/office/drawing/2014/main" xmlns="" id="{C131659B-1A41-4821-9349-1E69BBBB560E}"/>
              </a:ext>
            </a:extLst>
          </p:cNvPr>
          <p:cNvSpPr>
            <a:spLocks/>
          </p:cNvSpPr>
          <p:nvPr/>
        </p:nvSpPr>
        <p:spPr bwMode="auto">
          <a:xfrm>
            <a:off x="3772178" y="973355"/>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nvGrpSpPr>
          <p:cNvPr id="58" name="Group 57" descr="Icon of money. ">
            <a:extLst>
              <a:ext uri="{FF2B5EF4-FFF2-40B4-BE49-F238E27FC236}">
                <a16:creationId xmlns:a16="http://schemas.microsoft.com/office/drawing/2014/main" xmlns="" id="{8FB81822-E09C-4A9F-BCD2-4BB20E38DA03}"/>
              </a:ext>
            </a:extLst>
          </p:cNvPr>
          <p:cNvGrpSpPr/>
          <p:nvPr/>
        </p:nvGrpSpPr>
        <p:grpSpPr>
          <a:xfrm>
            <a:off x="5927913" y="966097"/>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xmlns=""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60" name="Freeform 498">
              <a:extLst>
                <a:ext uri="{FF2B5EF4-FFF2-40B4-BE49-F238E27FC236}">
                  <a16:creationId xmlns:a16="http://schemas.microsoft.com/office/drawing/2014/main" xmlns=""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61" name="Freeform 499">
              <a:extLst>
                <a:ext uri="{FF2B5EF4-FFF2-40B4-BE49-F238E27FC236}">
                  <a16:creationId xmlns:a16="http://schemas.microsoft.com/office/drawing/2014/main" xmlns=""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62" name="Freeform 500">
              <a:extLst>
                <a:ext uri="{FF2B5EF4-FFF2-40B4-BE49-F238E27FC236}">
                  <a16:creationId xmlns:a16="http://schemas.microsoft.com/office/drawing/2014/main" xmlns=""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63" name="Freeform 501">
              <a:extLst>
                <a:ext uri="{FF2B5EF4-FFF2-40B4-BE49-F238E27FC236}">
                  <a16:creationId xmlns:a16="http://schemas.microsoft.com/office/drawing/2014/main" xmlns=""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64" name="Freeform 502">
              <a:extLst>
                <a:ext uri="{FF2B5EF4-FFF2-40B4-BE49-F238E27FC236}">
                  <a16:creationId xmlns:a16="http://schemas.microsoft.com/office/drawing/2014/main" xmlns=""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65" name="Freeform 503">
              <a:extLst>
                <a:ext uri="{FF2B5EF4-FFF2-40B4-BE49-F238E27FC236}">
                  <a16:creationId xmlns:a16="http://schemas.microsoft.com/office/drawing/2014/main" xmlns=""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66" name="Freeform 504">
              <a:extLst>
                <a:ext uri="{FF2B5EF4-FFF2-40B4-BE49-F238E27FC236}">
                  <a16:creationId xmlns:a16="http://schemas.microsoft.com/office/drawing/2014/main" xmlns=""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grpSp>
        <p:nvGrpSpPr>
          <p:cNvPr id="67" name="Group 66" descr="Icon of abacus. ">
            <a:extLst>
              <a:ext uri="{FF2B5EF4-FFF2-40B4-BE49-F238E27FC236}">
                <a16:creationId xmlns:a16="http://schemas.microsoft.com/office/drawing/2014/main" xmlns="" id="{201B668C-AA5F-454E-8E64-CEA32A839FB8}"/>
              </a:ext>
            </a:extLst>
          </p:cNvPr>
          <p:cNvGrpSpPr/>
          <p:nvPr/>
        </p:nvGrpSpPr>
        <p:grpSpPr>
          <a:xfrm>
            <a:off x="8071574" y="956054"/>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xmlns=""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69" name="Freeform 325">
              <a:extLst>
                <a:ext uri="{FF2B5EF4-FFF2-40B4-BE49-F238E27FC236}">
                  <a16:creationId xmlns:a16="http://schemas.microsoft.com/office/drawing/2014/main" xmlns=""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70" name="Freeform 326">
              <a:extLst>
                <a:ext uri="{FF2B5EF4-FFF2-40B4-BE49-F238E27FC236}">
                  <a16:creationId xmlns:a16="http://schemas.microsoft.com/office/drawing/2014/main" xmlns=""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71" name="Freeform 327">
              <a:extLst>
                <a:ext uri="{FF2B5EF4-FFF2-40B4-BE49-F238E27FC236}">
                  <a16:creationId xmlns:a16="http://schemas.microsoft.com/office/drawing/2014/main" xmlns=""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72" name="Freeform 2319" descr="Icon of leaf. ">
            <a:extLst>
              <a:ext uri="{FF2B5EF4-FFF2-40B4-BE49-F238E27FC236}">
                <a16:creationId xmlns:a16="http://schemas.microsoft.com/office/drawing/2014/main" xmlns="" id="{4C935A16-4F4C-4B17-B911-F1D554A088A8}"/>
              </a:ext>
            </a:extLst>
          </p:cNvPr>
          <p:cNvSpPr>
            <a:spLocks noEditPoints="1"/>
          </p:cNvSpPr>
          <p:nvPr/>
        </p:nvSpPr>
        <p:spPr bwMode="auto">
          <a:xfrm>
            <a:off x="10282564" y="978241"/>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256913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additive="base">
                                        <p:cTn id="13" dur="500" fill="hold"/>
                                        <p:tgtEl>
                                          <p:spTgt spid="43"/>
                                        </p:tgtEl>
                                        <p:attrNameLst>
                                          <p:attrName>ppt_x</p:attrName>
                                        </p:attrNameLst>
                                      </p:cBhvr>
                                      <p:tavLst>
                                        <p:tav tm="0">
                                          <p:val>
                                            <p:strVal val="#ppt_x"/>
                                          </p:val>
                                        </p:tav>
                                        <p:tav tm="100000">
                                          <p:val>
                                            <p:strVal val="#ppt_x"/>
                                          </p:val>
                                        </p:tav>
                                      </p:tavLst>
                                    </p:anim>
                                    <p:anim calcmode="lin" valueType="num">
                                      <p:cBhvr additive="base">
                                        <p:cTn id="14"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500" fill="hold"/>
                                        <p:tgtEl>
                                          <p:spTgt spid="44"/>
                                        </p:tgtEl>
                                        <p:attrNameLst>
                                          <p:attrName>ppt_x</p:attrName>
                                        </p:attrNameLst>
                                      </p:cBhvr>
                                      <p:tavLst>
                                        <p:tav tm="0">
                                          <p:val>
                                            <p:strVal val="#ppt_x"/>
                                          </p:val>
                                        </p:tav>
                                        <p:tav tm="100000">
                                          <p:val>
                                            <p:strVal val="#ppt_x"/>
                                          </p:val>
                                        </p:tav>
                                      </p:tavLst>
                                    </p:anim>
                                    <p:anim calcmode="lin" valueType="num">
                                      <p:cBhvr additive="base">
                                        <p:cTn id="2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anim calcmode="lin" valueType="num">
                                      <p:cBhvr additive="base">
                                        <p:cTn id="25" dur="500" fill="hold"/>
                                        <p:tgtEl>
                                          <p:spTgt spid="45"/>
                                        </p:tgtEl>
                                        <p:attrNameLst>
                                          <p:attrName>ppt_x</p:attrName>
                                        </p:attrNameLst>
                                      </p:cBhvr>
                                      <p:tavLst>
                                        <p:tav tm="0">
                                          <p:val>
                                            <p:strVal val="#ppt_x"/>
                                          </p:val>
                                        </p:tav>
                                        <p:tav tm="100000">
                                          <p:val>
                                            <p:strVal val="#ppt_x"/>
                                          </p:val>
                                        </p:tav>
                                      </p:tavLst>
                                    </p:anim>
                                    <p:anim calcmode="lin" valueType="num">
                                      <p:cBhvr additive="base">
                                        <p:cTn id="26"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anim calcmode="lin" valueType="num">
                                      <p:cBhvr additive="base">
                                        <p:cTn id="31" dur="500" fill="hold"/>
                                        <p:tgtEl>
                                          <p:spTgt spid="46"/>
                                        </p:tgtEl>
                                        <p:attrNameLst>
                                          <p:attrName>ppt_x</p:attrName>
                                        </p:attrNameLst>
                                      </p:cBhvr>
                                      <p:tavLst>
                                        <p:tav tm="0">
                                          <p:val>
                                            <p:strVal val="#ppt_x"/>
                                          </p:val>
                                        </p:tav>
                                        <p:tav tm="100000">
                                          <p:val>
                                            <p:strVal val="#ppt_x"/>
                                          </p:val>
                                        </p:tav>
                                      </p:tavLst>
                                    </p:anim>
                                    <p:anim calcmode="lin" valueType="num">
                                      <p:cBhvr additive="base">
                                        <p:cTn id="3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3" grpId="0" animBg="1"/>
      <p:bldP spid="44" grpId="0" animBg="1"/>
      <p:bldP spid="45" grpId="0" animBg="1"/>
      <p:bldP spid="4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xmlns="" id="{62A21665-C64F-4BDA-B2DE-442D70605718}"/>
              </a:ext>
              <a:ext uri="{C183D7F6-B498-43B3-948B-1728B52AA6E4}">
                <adec:decorative xmlns:adec="http://schemas.microsoft.com/office/drawing/2017/decorative" xmlns=""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xmlns=""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xmlns=""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xmlns=""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2.xml><?xml version="1.0" encoding="utf-8"?>
<ds:datastoreItem xmlns:ds="http://schemas.openxmlformats.org/officeDocument/2006/customXml" ds:itemID="{EF609EDA-869E-4BE5-AE5D-B898C584B6FF}">
  <ds:schemaRefs>
    <ds:schemaRef ds:uri="http://www.w3.org/XML/1998/namespace"/>
    <ds:schemaRef ds:uri="http://schemas.microsoft.com/office/2006/metadata/properties"/>
    <ds:schemaRef ds:uri="http://purl.org/dc/elements/1.1/"/>
    <ds:schemaRef ds:uri="http://schemas.microsoft.com/office/2006/documentManagement/types"/>
    <ds:schemaRef ds:uri="71af3243-3dd4-4a8d-8c0d-dd76da1f02a5"/>
    <ds:schemaRef ds:uri="http://purl.org/dc/terms/"/>
    <ds:schemaRef ds:uri="http://schemas.microsoft.com/office/infopath/2007/PartnerControls"/>
    <ds:schemaRef ds:uri="http://schemas.openxmlformats.org/package/2006/metadata/core-properties"/>
    <ds:schemaRef ds:uri="16c05727-aa75-4e4a-9b5f-8a80a1165891"/>
    <ds:schemaRef ds:uri="http://purl.org/dc/dcmitype/"/>
  </ds:schemaRefs>
</ds:datastoreItem>
</file>

<file path=customXml/itemProps3.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29912</TotalTime>
  <Words>2196</Words>
  <Application>Microsoft Office PowerPoint</Application>
  <PresentationFormat>Widescreen</PresentationFormat>
  <Paragraphs>129</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Century Gothic</vt:lpstr>
      <vt:lpstr>Segoe UI Light</vt:lpstr>
      <vt:lpstr>Wingdings</vt:lpstr>
      <vt:lpstr>Office Theme</vt:lpstr>
      <vt:lpstr>Difference between casual and annual Cyclistic bike riders  Aniq Elahi</vt:lpstr>
      <vt:lpstr>Project analysis slide 2</vt:lpstr>
      <vt:lpstr>Project analysis slide 10</vt:lpstr>
      <vt:lpstr>Project analysis slide 4</vt:lpstr>
      <vt:lpstr>Project analysis slide 11</vt:lpstr>
      <vt:lpstr>Project analysis slide 7</vt:lpstr>
      <vt:lpstr>Project analysis slide 6</vt:lpstr>
      <vt:lpstr>Popular Stations</vt:lpstr>
      <vt:lpstr>Project analysis slide 5</vt:lpstr>
      <vt:lpstr>Project analysis slide 8</vt:lpstr>
      <vt:lpstr>Project analysis slide 3</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Difference between casual and annual riders Aniq Elahi</dc:title>
  <dc:creator>aniq elahi</dc:creator>
  <cp:lastModifiedBy>aniq elahi</cp:lastModifiedBy>
  <cp:revision>132</cp:revision>
  <dcterms:created xsi:type="dcterms:W3CDTF">2021-12-29T00:45:43Z</dcterms:created>
  <dcterms:modified xsi:type="dcterms:W3CDTF">2022-09-21T17:04:46Z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